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0:00 - 0:30]</a:t>
            </a:r>
          </a:p>
          <a:p/>
          <a:p>
            <a:r>
              <a:t>Good morning, faculty, staff, and distinguished executives of the UCLA Anderson Executive MBA delegation. On behalf of MegazoneCloud, welcome to our Gwacheon Headquarters. Today, I am thrilled to share South Korea's sovereign AI playbook—how our nation is navigating the global AI race by building independent silicon, specialized models, and full-stack enterprise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0:30 - 1:00]</a:t>
            </a:r>
          </a:p>
          <a:p/>
          <a:p>
            <a:r>
              <a:t>Over the next 15 minutes, we will unpack why sovereign AI is an urgent commercial reality and how Korea provides an actionable template for global enterprise leaders.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1:00 - 1:30]</a:t>
            </a:r>
          </a:p>
          <a:p/>
          <a:p>
            <a:r>
              <a:t>In 2026, the question is no longer 'Which API is smartest?' but 'Who owns our intelligence? If cross-border connections drop, can our business still operate?'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1:30 - 2:00]</a:t>
            </a:r>
          </a:p>
          <a:p/>
          <a:p>
            <a:r>
              <a:t>Korea possesses the entire physical and digital vertical stack. We build the memory chips, host native search engines, and manufacture ships, cars, and consumer electronics.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2:00 - 2:30]</a:t>
            </a:r>
          </a:p>
          <a:p/>
          <a:p>
            <a:r>
              <a:t>When enterprise CTOs attempt to run 250B parameter models on-premises, they hit an electrical brick wall. Overcoming this physical trilemma is our primary engineering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2:30 - 3:00]</a:t>
            </a:r>
          </a:p>
          <a:p/>
          <a:p>
            <a:r>
              <a:t>Sovereignty fails if any single layer is missing. Korea's strategy coordinates all 4 pillars synchronously to deliver commercial and operational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3:00 - 3:30]</a:t>
            </a:r>
          </a:p>
          <a:p/>
          <a:p>
            <a:r>
              <a:t>Pillar 1 begins with compute. In August 2026, Korea broke ground on the National AI Computing Center in Haenam, ensuring domestic industry is protected from international GPU supply crunches.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3:30 - 4:00]</a:t>
            </a:r>
          </a:p>
          <a:p/>
          <a:p>
            <a:r>
              <a:t>Reaching 15,000 accelerators by 2028 and 50,000 by 2030 establishes a fortress of compute capacity that underpins national digital sovereignty.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4:00 - 4:30]</a:t>
            </a:r>
          </a:p>
          <a:p/>
          <a:p>
            <a:r>
              <a:t>Up to 80% of enterprise AI costs are inference. Korea's K-Cloud project deploys native NPUs specifically engineered to execute inference at a fraction of standard GPU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4:30 - 5:00]</a:t>
            </a:r>
          </a:p>
          <a:p/>
          <a:p>
            <a:r>
              <a:t>Many of you are visiting DEEPX this week. DEEPX, Rebellions, and FuriosaAI are not mimicking GPUs; they are building purpose-driven architectures that win on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5:00 - 5:30]</a:t>
            </a:r>
          </a:p>
          <a:p/>
          <a:p>
            <a:r>
              <a:t>Sovereignty is not isolation. MegazoneCloud delivers certified Dell and NVIDIA enterprise stacks while leveraging distributed GPUaaS partnerships like Akamai to optimize client TCO.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5:30 - 6:00]</a:t>
            </a:r>
          </a:p>
          <a:p/>
          <a:p>
            <a:r>
              <a:t>Our dual-GPU dense form factor caps power draw at 3.2kW. Enterprises can deploy sovereign AI in their existing server rooms tomorrow without electrical rewiring.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6:00 - 6:30]</a:t>
            </a:r>
          </a:p>
          <a:p/>
          <a:p>
            <a:r>
              <a:t>Pillar 2: Models. Korea does not rely solely on translated foreign LLMs. Naver, LG, and Upstage engineer native models with deep linguistic and contextual nuance.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6:30 - 7:00]</a:t>
            </a:r>
          </a:p>
          <a:p/>
          <a:p>
            <a:r>
              <a:t>While public headlines celebrate trillion-parameter models, enterprise CFOs look at transaction costs. Domain sLLMs and MoE architectures deliver higher accuracy at a fraction of the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7:00 - 7:30]</a:t>
            </a:r>
          </a:p>
          <a:p/>
          <a:p>
            <a:r>
              <a:t>In corporate Korea, an inappropriate honorific can jeopardize client relationships. Sovereign models are trained natively in Korean corporate etiquette and statutory legal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7:30 - 8:00]</a:t>
            </a:r>
          </a:p>
          <a:p/>
          <a:p>
            <a:r>
              <a:t>By applying INT4 and NVFP4 quantization, we shrink model memory requirements by 70% and triple throughput, allowing large models to run on affordable dual-GPU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8:00 - 8:30]</a:t>
            </a:r>
          </a:p>
          <a:p/>
          <a:p>
            <a:r>
              <a:t>Sovereign AI extends into the physical world. By embedding Small Vision-Language-Action models into edge hardware, we automate factory robotics and smart city traffic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8:30 - 9:00]</a:t>
            </a:r>
          </a:p>
          <a:p/>
          <a:p>
            <a:r>
              <a:t>85% of enterprise AI projects stall in prototype phase because integrating chips, models, databases, and compliance is overwhelming. That is the missing link MegazoneCloud resolves.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9:00 - 9:30]</a:t>
            </a:r>
          </a:p>
          <a:p/>
          <a:p>
            <a:r>
              <a:t>Our 4-Layer Full-Stack architecture integrates certified hardware, virtualization, optimization compilers, and business applications into a single turnkey solution with one enterprise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9:30 - 10:00]</a:t>
            </a:r>
          </a:p>
          <a:p/>
          <a:p>
            <a:r>
              <a:t>At Layers 2 and 3, Nutanix and OpenShift virtualize GPU power across departments, while Nota and vLLM maximize inference density, extracting peak performance from minimum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10:00 - 10:30]</a:t>
            </a:r>
          </a:p>
          <a:p/>
          <a:p>
            <a:r>
              <a:t>For banking and defense clients, we build completely air-gapped systems. Using Mem0 memory layers and Graphify knowledge graphs, our AI reasons across corporate manuals without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10:30 - 11:00]</a:t>
            </a:r>
          </a:p>
          <a:p/>
          <a:p>
            <a:r>
              <a:t>We curate the world's finest ISVs. Whether bringing in Silicon Valley's Articul8 and Cohere or domestic champions like Nota and PuzzleData, we orchestrate them into one harmonious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11:00 - 11:30]</a:t>
            </a:r>
          </a:p>
          <a:p/>
          <a:p>
            <a:r>
              <a:t>Pillar 4: Real enterprise adoption. In chip manufacturing, AI inspects wafers at line speed. In banking, private LLMs parse regulatory audits. In cosmetics, beauty algorithms run locally on customer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11:30 - 12:00]</a:t>
            </a:r>
          </a:p>
          <a:p/>
          <a:p>
            <a:r>
              <a:t>We package sovereign AI into a plug-and-play 2U appliance. Arrives pre-tested; you connect power and ethernet, and your company has an air-gapped private intelligence platform running in 2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12:00 - 12:30]</a:t>
            </a:r>
          </a:p>
          <a:p/>
          <a:p>
            <a:r>
              <a:t>These are the metrics that win boardroom approval: 75% Capex savings, 3.2kW power consumption that avoids facility reconstruction, and sub-50ms latency with zero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12:30 - 13:00]</a:t>
            </a:r>
          </a:p>
          <a:p/>
          <a:p>
            <a:r>
              <a:t>Sovereign AI is also a public good. Korea's 'AI for All' initiative delivers AI assistants to municipal offices and regional clinics, ensuring technological advancement benefits all citizens.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13:00 - 13:30]</a:t>
            </a:r>
          </a:p>
          <a:p/>
          <a:p>
            <a:r>
              <a:t>MegazoneCloud pioneered cloud computing in Korea over a decade ago as the country's first AWS Premier Partner. Today, as a multi-billion dollar tech unicorn, we are leading the AI transformation 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13:30 - 14:00]</a:t>
            </a:r>
          </a:p>
          <a:p/>
          <a:p>
            <a:r>
              <a:t>We are expanding globally. Through offices in Palo Alto, Tokyo, and Singapore, we export the sovereign AI methodologies proven in Korea to enterprises across the Asia-Pacific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14:00 - 14:30]</a:t>
            </a:r>
          </a:p>
          <a:p/>
          <a:p>
            <a:r>
              <a:t>As you return to your executive roles, remember: true sovereignty is about agility, not isolation. Respect datacenter physics early, guard your corporate data, and build modular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[PACING: 14:30 - 15:00]</a:t>
            </a:r>
          </a:p>
          <a:p/>
          <a:p>
            <a:r>
              <a:t>Thank you for your time, leadership, and attention. The future of AI will be shaped by strategic autonomy and global collaboration. The floor is now open for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5943600" cy="411480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D100"/>
                </a:solidFill>
              </a:rPr>
              <a:t>UCLA ANDERSON EXECUTIVE MBA DELEGATION VISIT | SEOUL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Korea's Sovereign AI Strategy: From Silicon to Enterprise Applications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00C2FF"/>
                </a:solidFill>
                <a:latin typeface="Arial"/>
              </a:rPr>
              <a:t>Unlocking Strategic Autonomy, Native Infrastructure, and Scalable Enterprise 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6583680" cy="2011680"/>
          </a:xfrm>
          <a:prstGeom prst="roundRect">
            <a:avLst/>
          </a:prstGeom>
          <a:solidFill>
            <a:srgbClr val="0E1726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D100"/>
                </a:solidFill>
              </a:rPr>
              <a:t>Session: </a:t>
            </a:r>
            <a:r>
              <a:rPr sz="1200">
                <a:solidFill>
                  <a:srgbClr val="FFFFFF"/>
                </a:solidFill>
              </a:rPr>
              <a:t>Session 3 - Korea Sovereign AI Strategy (English Presentation)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FD100"/>
                </a:solidFill>
              </a:rPr>
              <a:t>Speaker: </a:t>
            </a:r>
            <a:r>
              <a:rPr sz="1200">
                <a:solidFill>
                  <a:srgbClr val="FFFFFF"/>
                </a:solidFill>
              </a:rPr>
              <a:t>Andy | ISV Business Unit &amp; AI Architecture Group, MegazoneCloud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64748B"/>
                </a:solidFill>
              </a:rPr>
              <a:t>Date &amp; Venue: </a:t>
            </a:r>
            <a:r>
              <a:rPr sz="1100">
                <a:solidFill>
                  <a:srgbClr val="64748B"/>
                </a:solidFill>
              </a:rPr>
              <a:t>Friday, September 11, 2026 | MegazoneCloud Gwacheon HQ (2F Grand Room)</a:t>
            </a:r>
          </a:p>
        </p:txBody>
      </p:sp>
      <p:pic>
        <p:nvPicPr>
          <p:cNvPr id="6" name="Picture 5" descr="slide01_cover_sovereign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931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2.  Welcome UCLA Anderson EMBA: Objectives &amp;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Today's 15-Minute Executive Briefing &amp; Collaborative Exchange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1: MACRO CONTEXT &amp; IMPERATIVE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Strategic Understanding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Deconstruct the geopolitical, financial, and technical forces driving Sovereign AI in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15184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The 4-Pillar Playbook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Deep-dive into Infrastructure, Models, Software Solutions, and Enterprise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15184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13048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MegazoneCloud's Role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Scaling from Korea's #1 Cloud Unicorn to the master orchestrator of domestic and global ISVs.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13048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10912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4.  </a:t>
            </a:r>
            <a:r>
              <a:rPr b="1" sz="1300">
                <a:solidFill>
                  <a:srgbClr val="002B49"/>
                </a:solidFill>
              </a:rPr>
              <a:t>Connecting Your Itinerary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Direct synergy with your Seoul immersion: Samsung, DEEPX, Amorepacific, and Invest Seoul.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10912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Flow diagram showing 3-stage presentation breakdown and interactive Q&amp;A roadmap.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3.  The Geopolitics of AI: Why 'Sovereignty' Matters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From AI Experimentation to Strategic Operational Autonomy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1: MACRO CONTEXT &amp; IMPERATIVE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The AI Duopoly Threat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Over-reliance on foreign hyperscalers exposes enterprises to price volatility, unexpected outages, and deep vendor lock-in.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Sovereign AI 2.0 Defined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Moving beyond 'owning a model' to 'Operational Sovereignty' and 'Access Autonomy'—ensuring mission-critical workflows run offline.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Regulatory Compliance Mandates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Strict cross-border data residency mandates (EU AI Act, Korea PIPA, Financial Cloud Directives).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Comparison matrix: Cloud SaaS API Risks vs. Air-Gapped Sovereign AI Enterprise Benefits.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4.  South Korea’s Unique Position: The World’s 3rd AI Powerhouse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A Rare Convergence of Semiconductor, Software, and Heavy Industry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1: MACRO CONTEXT &amp; IMPERATIVE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Elite Global Trio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Alongside the US and China, South Korea possesses the complete physical and digital vertical stack.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15184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Hardware Dominance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Global leader in memory and HBM manufacturing (Samsung Electronics, SK Hynix).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15184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13048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Digital Platforms &amp; Models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Domestic tech giants (Naver, Kakao) beating global platforms locally with native search engines.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13048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10912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4.  </a:t>
            </a:r>
            <a:r>
              <a:rPr b="1" sz="1300">
                <a:solidFill>
                  <a:srgbClr val="002B49"/>
                </a:solidFill>
              </a:rPr>
              <a:t>The 'G3 Ambition'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Formal presidential roadmap targeting Global Top 3 AI leadership by 2027.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10912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Global map highlighting US, China, and Korea with 4-layer full-stack capability indicators.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5.  The Enterprise Trilemma: Capex, Power, and Data Sovereignty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The Hard Physical Bottlenecks Stalling On-Premises Deployments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1: MACRO CONTEXT &amp; IMPERATIVE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Financial Shock (Capex)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8-GPU high-density servers cost $400K-$500K each with unpredictable delivery cycles.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Physical Power Cap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90% of corporate datacenter racks are limited to 8-10kW; standard 8-GPU servers draw 10.2kW peak.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Data Exfiltration Risk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Defense, banking, and semiconductor fabs strictly forbid transmitting IP to public clouds.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Trilemma diagram: High Capex vs. 10kW Rack Power Limit vs. Air-Gapped Security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6.  The 4-Pillar Framework: Infra, Model, Solution,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The Unified Architecture of National &amp; Enterprise AI Independence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1: MACRO CONTEXT &amp; IMPERATIVE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Pillar 1 (Infrastructure)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Compute clusters, public AI highway, and native NPU semiconductors.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15184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Pillar 2 (Model)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Sovereign Korean foundation models, domain sLLMs, and Mixture-of-Experts (MoE).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15184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13048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Pillar 3 (Solution)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Full-stack orchestration, air-gapped security, and model optimization compilers.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13048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10912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4.  </a:t>
            </a:r>
            <a:r>
              <a:rPr b="1" sz="1300">
                <a:solidFill>
                  <a:srgbClr val="002B49"/>
                </a:solidFill>
              </a:rPr>
              <a:t>Pillar 4 (Service)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Cross-industry deployment across Chaebols, SMEs, and public administrative sectors.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10912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4-Layer architectural pyramid highlighting synchronized execution across government and private sector.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7.  National AI Computing Center: The Public-Private 'AI Highway'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A Multi-Billion Dollar Sovereign Compute Megaproject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2: PILLAR 1 - INFRASTRUCTURE &amp; SILICON</a:t>
            </a:r>
          </a:p>
        </p:txBody>
      </p:sp>
      <p:pic>
        <p:nvPicPr>
          <p:cNvPr id="7" name="Picture 6" descr="slide07_infra_knpu_data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1600"/>
            <a:ext cx="44805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371600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1.  </a:t>
            </a:r>
            <a:r>
              <a:rPr b="1" sz="1200">
                <a:solidFill>
                  <a:srgbClr val="002B49"/>
                </a:solidFill>
              </a:rPr>
              <a:t>Solaseado Datacenter Park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Officially broken ground in August 2026 in Haenam, South Jeolla Province.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9144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862072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2.  </a:t>
            </a:r>
            <a:r>
              <a:rPr b="1" sz="1200">
                <a:solidFill>
                  <a:srgbClr val="002B49"/>
                </a:solidFill>
              </a:rPr>
              <a:t>Public-Private Consortium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Spearheaded by MSIT and Samsung SDS via a dedicated Special Purpose Company (SPC).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62072"/>
            <a:ext cx="91440" cy="13258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352544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3.  </a:t>
            </a:r>
            <a:r>
              <a:rPr b="1" sz="1200">
                <a:solidFill>
                  <a:srgbClr val="002B49"/>
                </a:solidFill>
              </a:rPr>
              <a:t>National Compute Bedrock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Subsidizing massive compute access for universities, startups, and domestic industry.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52544"/>
            <a:ext cx="9144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Architectural rendering of Haenam Solaseado datacenter campus with green energy grid connections.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8.  Compute Capacity Scaling: 15,000 GPUs to 50,000 GPUs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The Exponential Trajectory of Public Compute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2: PILLAR 1 - INFRASTRUCTURE &amp; SILICON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Phase 1 (2026 - 2028)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Initial deployment of 15,000 top-tier AI accelerators (H100/B200 tier).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Phase 2 (2029 - 2030+)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Expansion to 50,000+ accelerators integrated with coastal offshore wind power.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Sovereign Resource Allocation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Tiered vouchers enabling rapid model training without predatory cloud pricing.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Growth chart showing GPU capacity scaling from 15K to 50K units by 2030 with power efficiency curves.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9.  The Rise of K-NPU: The 'K-Cloud' Initiative &amp; NPU Farms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Disrupting the AI Inference Landscape with High-Efficiency Silicon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2: PILLAR 1 - INFRASTRUCTURE &amp; SILICON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K-Cloud Initiative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Over $600M in national backing to develop ultra-low-power AI semiconductors.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The 80/20 Rule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While model training requires GPUs, over 80% of operational enterprise TCO is inference.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NPU Farms in Action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Live multi-petaflop clusters deployed across Naver, KT, and NHN Cloud datacenters.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Inference TCO comparison: K-NPU vs. Traditional GPU showing power and cost savings.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10.  Korea's Fabless Champions: Rebellions, FuriosaAI, DEEPX, Mobilint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Purpose-Built Silicon Across Datacenter, Edge, and Robotics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2: PILLAR 1 - INFRASTRUCTURE &amp; SILICON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Rebellions (ATOM / ATOM-MAX)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High-throughput datacenter inference and financial algorithmic trading.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15184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FuriosaAI (WARBOY / RENEGADE)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High-efficiency computer vision and Transformer model acceleration.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15184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13048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DEEPX (All-in-4 AI Series)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Ultra-low-power on-device NPU for smart mobility, IoT, and industrial robotics (On UCLA Itinerary!).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13048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10912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4.  </a:t>
            </a:r>
            <a:r>
              <a:rPr b="1" sz="1300">
                <a:solidFill>
                  <a:srgbClr val="002B49"/>
                </a:solidFill>
              </a:rPr>
              <a:t>Mobilint (ARIES / REGULUS)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Edge AI solutions for industrial automation.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10912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Silicon ecosystem landscape mapping Korean fabless startups across Datacenter, Edge, and On-Device tiers.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11.  Enterprise Hybrid Cloud &amp; GPUaaS: Dell, NVIDIA, and Akamai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Balancing Tier-1 Global Standards with Modular Sovereign Clouds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2: PILLAR 1 - INFRASTRUCTURE &amp; SILICON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Mainstream Enterprise Track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Dell PowerEdge R760 + NVIDIA GPUs for on-premise high performance.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Cost-Optimized GPUaaS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Partnership with Akamai Distributed Cloud for sub-millisecond edge inferencing at 40% lower egress.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Hybrid Topology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Sensitive proprietary IP kept strictly on-premises; public workloads burst to sovereign cloud.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Hybrid network architecture showing Dell On-Premises core connected to Akamai GPUaaS edge nodes.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12.  Overcoming Data Center Bottlenecks: 10kW Rack Power &amp; Cooling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Engineering Feasibility in Existing Corporate Server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2: PILLAR 1 - INFRASTRUCTURE &amp; SILICON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The Datacenter Bottleneck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Retrofitting legacy server rooms with liquid cooling costs millions and causes downtime.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Dense 2-GPU Form Factor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High-efficiency 2U dual-GPU architecture delivering enterprise-grade throughput.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Power Feasibility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Operating power capped at 3.2kW, safely within standard 10kW datacenter rack limits.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Server rack diagram showing 3.2kW 2-GPU server fitting comfortably into standard 10kW rack space.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13.  Korea's Foundation Model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Native Linguistic Mastery and Frontier Enterprise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3: PILLAR 2 - FOUNDATION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Naver HyperCLOVA 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Dominant commercial hyper-scale model trained on 6,500x more Korean data than GPT-3.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LG AI Research EXAONE 3.0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High-performance bilingual open-weight model engineered for chemistry, patents, and manufacturing.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Upstage Solar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Globally acclaimed sLLM leading HuggingFace benchmarks via innovative Depth-Up Scaling (DUS).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Logo and performance matrix comparing HyperCLOVA X, EXAONE 3.0, and Solar across enterprise benchmarks.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14.  The Shift from Frontier Monoliths to Domain-Specific sLLM &amp; MoE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Why Smaller, Specialized Models are Winning the Enterprise War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3: PILLAR 2 - FOUNDATION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The Death of Monoliths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1-Trillion parameter models are too slow and costly for private on-premises hosting.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Mixture-of-Experts (MoE)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Activating only 20B-30B parameters out of 250B per token query.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Enterprise Advantages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Deterministic latency (&lt;50ms), lower compute overhead, and complete lifecycle ownership.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Diagram contrasting Monolithic Dense Activation vs. Efficient Mixture-of-Experts (MoE) Routing.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15.  Cultural, Linguistic &amp; Regulatory Alignment: The Sovereign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The Severe Cost of Cultural Hallucination in Corporate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3: PILLAR 2 - FOUNDATION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Honorific Precision (Jondaetmal)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Korean corporate communication requires exact contextual politeness.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Statutory Exactness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Korean Commercial Code, labor laws, and tax regulations require precise citation.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Compliance Verification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Sovereign models achieve 99.2% regulatory accuracy vs. ~71% for off-the-shelf global APIs.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Side-by-side comparison of cultural and legal output accuracy: Global API vs. Sovereign Korean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16.  Model Optimization: INT4/NVFP4 Quantization &amp; 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Compressing Frontier Models into Compact Workstation Footprints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3: PILLAR 2 - FOUNDATION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Lossless Quantization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Compressing FP16 weights down to INT4 and NVFP4 with under 1.5% perplexity loss.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Non-Uniform Pruning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Surgically eliminating inactive attention heads tailored to specific enterprise domains.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Measurable Impact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Memory footprint slashed by 70%, token generation increased from 18 to 65+ tokens/second.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Performance graph showing throughput jump (tokens/sec) and VRAM reduction across INT4/FP16 formats.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17.  Physical &amp; Edge AI: Small Vision-Language-Action (VLA)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Extending Sovereign Intelligence into Manufacturing and Smart Cities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3: PILLAR 2 - FOUNDATION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SmolVLA &amp; Compact Multimodal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Enabling robotic arms and AGVs to interpret physical environments locally.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Intelligent Transport Systems (ITS)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Nota.ai smart traffic edge controllers deployed across 200 intersections in Daejeon and Dubai RTA.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Zero Cloud Latency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Real-time visual defect detection and signal optimization at 30 FPS.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Case illustration: Edge AI controller in smart factory robotic arm and smart city intersection.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18.  The Enterprise Missing Link: Why 85% of AI PoCs 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Bridging the Chasm Between Prototype Demos and Production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4: PILLAR 3 - SOLUTIONS &amp;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Hardware Mismatch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Cloud-built prototypes fail when transitioned to corporate datacenter servers.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Data Silos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Fragmented corporate data locked in legacy ERPs, internal PDFs, and legacy databases.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Security Void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Absence of enterprise-grade hallucination guardrails, audit logging, and role-based access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Pipeline diagram showing PoC failure points and MegazoneCloud's end-to-end bridge to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19.  MegazoneCloud's 4-Layer Enterprise AI Full-Stack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The Standardized, Modular Operating Blueprint for Enterprise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4: PILLAR 3 - SOLUTIONS &amp; ORCHESTRATION</a:t>
            </a:r>
          </a:p>
        </p:txBody>
      </p:sp>
      <p:pic>
        <p:nvPicPr>
          <p:cNvPr id="7" name="Picture 6" descr="slide19_solution_4layer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1600"/>
            <a:ext cx="44805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371600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1.  </a:t>
            </a:r>
            <a:r>
              <a:rPr b="1" sz="1200">
                <a:solidFill>
                  <a:srgbClr val="002B49"/>
                </a:solidFill>
              </a:rPr>
              <a:t>Layer 4 (Applications)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Air-Gapped RAG, AI Coding Agents, Executive Decision Portals.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9144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862072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2.  </a:t>
            </a:r>
            <a:r>
              <a:rPr b="1" sz="1200">
                <a:solidFill>
                  <a:srgbClr val="002B49"/>
                </a:solidFill>
              </a:rPr>
              <a:t>Layer 3 (Model Serving)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Nota NetsPresso optimization engine, vLLM, and Triton inference.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62072"/>
            <a:ext cx="91440" cy="13258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352544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3.  </a:t>
            </a:r>
            <a:r>
              <a:rPr b="1" sz="1200">
                <a:solidFill>
                  <a:srgbClr val="002B49"/>
                </a:solidFill>
              </a:rPr>
              <a:t>Layer 2 (Platform)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Red Hat OpenShift AI (RHOAI) and Nutanix Cloud Infrastructure (NCI).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52544"/>
            <a:ext cx="9144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5843016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4.  </a:t>
            </a:r>
            <a:r>
              <a:rPr b="1" sz="1200">
                <a:solidFill>
                  <a:srgbClr val="002B49"/>
                </a:solidFill>
              </a:rPr>
              <a:t>Layer 1 (Hardware)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Dell PowerEdge R760, NVIDIA H100 GPUs, and certified K-NPU servers.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43016"/>
            <a:ext cx="91440" cy="13258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Detailed 4-Layer architectural diagram displaying software logos and interface protocols.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20.  Deep-Dive: From Nutanix/RHOAI (L2) to vLLM &amp; Nota (L3)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The Engine Room of Low-Latency, High-Density Model Serving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4: PILLAR 3 - SOLUTIONS &amp;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Layer 2 Virtualization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Nutanix AHV and OpenShift AI automate GPU resource slicing (vGPU) across departments.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Layer 3 Compilation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Nota NetsPresso profiles hardware and optimizes execution graphs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Continuous Batching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vLLM PagedAttention ensures sub-second multi-tenant response times under high concurrency.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Dataflow diagram tracing user query through Nutanix hypervisor to vLLM paged attention cache.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21.  Air-Gapped Security &amp; Advanced Graph RAG (Mem0 + Graphify)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True Data Moats: Zero Exfiltration Meets Deep Structural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4: PILLAR 3 - SOLUTIONS &amp;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100% Air-Gapped Isolation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Zero external bytes transmitted; internal HSM key encryption.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Mem0 Memory Architecture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Multi-session personalized context tracking user security clearance levels.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Graphify AST RAG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Abstract Syntax Tree semantic parsing of enterprise source code and complex manuals.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Security architecture diagram: Air-Gapped perimeter shield surrounding Mem0 context engine and Graph RAG.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22.  The ISV Ecosystem: Orchestrating Global &amp; Domestic Innovators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The Power of the MegazoneCloud Multi-Vendor Aggregator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4: PILLAR 3 - SOLUTIONS &amp;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Global Category Leaders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Articul8 (Autonomous GenAI) and Cohere (Multilingual Enterprise Embeddings).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Domestic Specialist Champions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Nota.ai (Edge Optimization), PuzzleData (Process Mining), QuantumAI (Air-Gapped AICC).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Single Enterprise SLA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Clients get multi-vendor best-of-breed software without contract chaos.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Partner ecosystem wheel showing MegazoneCloud at center orchestrating global and domestic ISVs.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23.  Korea Inc. in Action: Enterprise AI Adoption Across Chaebols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Real-World Deployments Across South Korea's Industrial Giants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5: PILLAR 4 - SERVICE &amp; ENTERPRISE ADOPTION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Semiconductor &amp; High-Tech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Yield prediction, wafer defect inspection, and fab telemetry analytics.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15184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Financial Services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On-premise credit underwriting, automated compliance checks, and private analyst copilots.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15184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13048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Consumer Goods &amp; Beauty (Amorepacific Context)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Hyper-personalized beauty formulation compliant with PII laws.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13048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10912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4.  </a:t>
            </a:r>
            <a:r>
              <a:rPr b="1" sz="1300">
                <a:solidFill>
                  <a:srgbClr val="002B49"/>
                </a:solidFill>
              </a:rPr>
              <a:t>Heavy Industry &amp; Automotive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Assembly line predictive maintenance and CAD engineering assistance.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10912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Industry mosaic illustrating live deployments across Manufacturing, Banking, Beauty, and Automotive.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24.  Sovereign AI Turnkey Appliance: 1-Click On-Premises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Delivering Enterprise AI as a Pre-Integrated, Plug-and-Play Appliance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5: PILLAR 4 - SERVICE &amp; ENTERPRISE ADOPTION</a:t>
            </a:r>
          </a:p>
        </p:txBody>
      </p:sp>
      <p:pic>
        <p:nvPicPr>
          <p:cNvPr id="7" name="Picture 6" descr="slide24_service_turnkey_appli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1600"/>
            <a:ext cx="44805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371600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1.  </a:t>
            </a:r>
            <a:r>
              <a:rPr b="1" sz="1200">
                <a:solidFill>
                  <a:srgbClr val="002B49"/>
                </a:solidFill>
              </a:rPr>
              <a:t>Pre-Integrated Hardware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Pre-racked Dell R760 2U server with certified NVIDIA GPUs or K-NPUs.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9144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862072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2.  </a:t>
            </a:r>
            <a:r>
              <a:rPr b="1" sz="1200">
                <a:solidFill>
                  <a:srgbClr val="002B49"/>
                </a:solidFill>
              </a:rPr>
              <a:t>Rapid Time-to-Value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From power-on to first internal query in under 2 hours (vs. 6 months of consulting).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62072"/>
            <a:ext cx="91440" cy="13258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352544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3.  </a:t>
            </a:r>
            <a:r>
              <a:rPr b="1" sz="1200">
                <a:solidFill>
                  <a:srgbClr val="002B49"/>
                </a:solidFill>
              </a:rPr>
              <a:t>Built-In Governance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Pre-loaded with Nutanix AHV, Nota NetsPresso INT4, and sovereign domain models.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52544"/>
            <a:ext cx="9144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Product rendering of the 2U rack appliance showing pre-installed software layers and plug-in setup.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25.  Measurable Business ROI: 75% Capex Cut &amp; 3.2kW Power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The Hard Financial and Operational Metrics of Success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5: PILLAR 4 - SERVICE &amp; ENTERPRISE ADOPTION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Capex Slashed by 75%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$120,000 USD dual-GPU appliance replaces standard $480,000 USD 8-GPU cluster.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15184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Power Draw at 3.2kW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Safely fits standard 10kW datacenter racks, eliminating costly room retrofits.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15184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13048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Latency Reduced 3x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Deterministic sub-50ms token generation for seamless user experience.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13048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10912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4.  </a:t>
            </a:r>
            <a:r>
              <a:rPr b="1" sz="1300">
                <a:solidFill>
                  <a:srgbClr val="002B49"/>
                </a:solidFill>
              </a:rPr>
              <a:t>Zero Data Exfiltration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100% compliance with strict national banking and defense security mandates.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10912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Executive ROI scorecard with side-by-side metric tables and large callout badges (75% SAVINGS).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26.  Public Sector &amp; 'AI for All Citizens': National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Democratizing Artificial Intelligence Across Civil Administration and Healthcare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5: PILLAR 4 - SERVICE &amp; ENTERPRISE ADOPTION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AI Civil Servants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Automating routine civic administration, tax filings, and municipal inquiries.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Universal AI Compute Vouchers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Subsidizing AI compute for 10,000+ domestic SMEs and technology startups.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43784"/>
            <a:ext cx="109728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270248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Healthcare &amp; Rural Equity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Deploying sovereign diagnostic assistants to regional clinics to bridge medical gaps.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0248"/>
            <a:ext cx="109728" cy="12801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Infographic showing government civic portal, regional hospital diagnostic network, and SME grant 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27.  MegazoneCloud's Growth Story: From Cloud Pioneer to AI Unicorn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The Operational Architect Behind Korea's Digital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6: MZC PLAYBOOK &amp; GLOBAL 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1998 to Present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Early digital agency evolved into Korea's first AWS Premier Consulting Partner in 2012.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15184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Official Unicorn (2022)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Valuation exceeded $1.8B USD, leading the Korean cloud MSP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15184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13048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Scale Today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Over 2,700 enterprise clients, 1,500+ specialized engineers, and multi-cloud market dominance.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13048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10912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4.  </a:t>
            </a:r>
            <a:r>
              <a:rPr b="1" sz="1300">
                <a:solidFill>
                  <a:srgbClr val="002B49"/>
                </a:solidFill>
              </a:rPr>
              <a:t>The Strategic Evolution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Cloud MSP -&gt; AI MSP -&gt; Global Full-Stack Sovereign AI Orchestrator.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10912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Milestone timeline spanning 1998, 2012, 2022, and 2026 showing revenue and client expansion trajectory.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28.  Global Expansion Playbook: Bridging Korea, US, Japan &amp; SE Asia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Exporting Sovereign AI Methodologies to High-Growth Asian Markets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6: MZC PLAYBOOK &amp; GLOBAL VISION</a:t>
            </a:r>
          </a:p>
        </p:txBody>
      </p:sp>
      <p:pic>
        <p:nvPicPr>
          <p:cNvPr id="7" name="Picture 6" descr="slide28_mzc_global_ai_bri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1600"/>
            <a:ext cx="44805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371600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1.  </a:t>
            </a:r>
            <a:r>
              <a:rPr b="1" sz="1200">
                <a:solidFill>
                  <a:srgbClr val="002B49"/>
                </a:solidFill>
              </a:rPr>
              <a:t>Silicon Valley Hub (Palo Alto)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Venture partnerships, co-innovation with frontier AI ISVs.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9144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862072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2.  </a:t>
            </a:r>
            <a:r>
              <a:rPr b="1" sz="1200">
                <a:solidFill>
                  <a:srgbClr val="002B49"/>
                </a:solidFill>
              </a:rPr>
              <a:t>Japan Expansion (Tokyo)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Delivering sovereign on-premise AI to Japanese financial and enterprise leaders.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62072"/>
            <a:ext cx="91440" cy="13258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352544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3.  </a:t>
            </a:r>
            <a:r>
              <a:rPr b="1" sz="1200">
                <a:solidFill>
                  <a:srgbClr val="002B49"/>
                </a:solidFill>
              </a:rPr>
              <a:t>Southeast Asia (Singapore, Vietnam)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Scaling low-power NPU inference appliances and cloud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52544"/>
            <a:ext cx="9144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5843016"/>
            <a:ext cx="6217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37160" bIns="91440"/>
          <a:lstStyle/>
          <a:p>
            <a:pPr algn="ctr"/>
            <a:r>
              <a:rPr b="1" sz="1200">
                <a:solidFill>
                  <a:srgbClr val="0066FF"/>
                </a:solidFill>
              </a:rPr>
              <a:t>4.  </a:t>
            </a:r>
            <a:r>
              <a:rPr b="1" sz="1200">
                <a:solidFill>
                  <a:srgbClr val="002B49"/>
                </a:solidFill>
              </a:rPr>
              <a:t>The Strategic Bridge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</a:rPr>
              <a:t>Connecting Western software innovation with Asian enterprise operational execution.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43016"/>
            <a:ext cx="91440" cy="13258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Global map linking Silicon Valley, Seoul, Tokyo, and Singapore with active business 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29.  Strategic Takeaways for Global Business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Key Insights for UCLA Anderson Executive MBA Delegates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6: MZC PLAYBOOK &amp; GLOBAL 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1. Sovereignty != Isolation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True strategic autonomy combines global technological standards with local control.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15184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2. Datacenter Physics Rule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Power, rack limits, and thermal constraints dictate AI feasibility faster than ambition.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15184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13048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3. Defend Your Proprietary Moat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Internal domain knowledge and proprietary data graphs are your core balance sheet assets.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13048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10912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4.  </a:t>
            </a:r>
            <a:r>
              <a:rPr b="1" sz="1300">
                <a:solidFill>
                  <a:srgbClr val="002B49"/>
                </a:solidFill>
              </a:rPr>
              <a:t>4. Modular Architectural Agility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Decouple silicon, foundation models, and middleware to prevent future vendor lock-in.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10912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4 quadrant strategic framework summarizing executive recommendations for global leaders.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02B49"/>
                </a:solidFill>
                <a:latin typeface="Arial"/>
              </a:rPr>
              <a:t>30.  Conclusion &amp; Open Q&amp;A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6FF"/>
                </a:solidFill>
                <a:latin typeface="Arial"/>
              </a:rPr>
              <a:t>Shaping the Future of Enterprise AI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20040"/>
            <a:ext cx="2560320" cy="384048"/>
          </a:xfrm>
          <a:prstGeom prst="roundRect">
            <a:avLst/>
          </a:prstGeom>
          <a:solidFill>
            <a:srgbClr val="003B5C"/>
          </a:solidFill>
          <a:ln>
            <a:solidFill>
              <a:srgbClr val="FFD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D100"/>
                </a:solidFill>
              </a:rPr>
              <a:t>PART 6: MZC PLAYBOOK &amp; GLOBAL 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1.  </a:t>
            </a:r>
            <a:r>
              <a:rPr b="1" sz="1300">
                <a:solidFill>
                  <a:srgbClr val="002B49"/>
                </a:solidFill>
              </a:rPr>
              <a:t>Presenter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Andy | ISV Business Unit &amp; AI Architecture Group, MegazoneCloud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15184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2.  </a:t>
            </a:r>
            <a:r>
              <a:rPr b="1" sz="1300">
                <a:solidFill>
                  <a:srgbClr val="002B49"/>
                </a:solidFill>
              </a:rPr>
              <a:t>Official Email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andy@megazone.com | contact@megazone.com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15184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13048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3.  </a:t>
            </a:r>
            <a:r>
              <a:rPr b="1" sz="1300">
                <a:solidFill>
                  <a:srgbClr val="002B49"/>
                </a:solidFill>
              </a:rPr>
              <a:t>Headquarters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MegazoneCloud Gwacheon Smart Tower, Gwacheon-si, Gyeonggi-do, Korea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13048"/>
            <a:ext cx="109728" cy="10515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10912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109728"/>
          <a:lstStyle/>
          <a:p>
            <a:pPr algn="ctr"/>
            <a:r>
              <a:rPr b="1" sz="1300">
                <a:solidFill>
                  <a:srgbClr val="0066FF"/>
                </a:solidFill>
              </a:rPr>
              <a:t>4.  </a:t>
            </a:r>
            <a:r>
              <a:rPr b="1" sz="1300">
                <a:solidFill>
                  <a:srgbClr val="002B49"/>
                </a:solidFill>
              </a:rPr>
              <a:t>Open Floor Discussion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E293B"/>
                </a:solidFill>
              </a:rPr>
              <a:t>Comparative regulatory policies, NPU vs. GPU economics, scaling across global subsidiaries.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10912"/>
            <a:ext cx="109728" cy="1051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b="1" sz="900">
                <a:solidFill>
                  <a:srgbClr val="003B5C"/>
                </a:solidFill>
              </a:rPr>
              <a:t>VISUAL CONCEPT: </a:t>
            </a:r>
            <a:r>
              <a:rPr i="1" sz="900">
                <a:solidFill>
                  <a:srgbClr val="64748B"/>
                </a:solidFill>
              </a:rPr>
              <a:t>Collaborative closing slide with MegazoneCloud and UCLA Anderson logos and live Q&amp;A floor open banner.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UCLA Anderson Executive MBA Delegation Visit | Session 3: Korea Sovereign AI Strategy | Speaker: Andy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550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3B5C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