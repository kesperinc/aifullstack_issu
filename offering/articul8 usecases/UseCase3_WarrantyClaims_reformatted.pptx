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3" r:id="rId4"/>
    <p:sldId id="264" r:id="rId5"/>
    <p:sldId id="260" r:id="rId6"/>
    <p:sldId id="265" r:id="rId13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73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32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43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산업별 활용 사례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보증 및 클레임 처리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Warranty &amp; Claims Processing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74320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제조업 (Manufacturing)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13403F5-6964-B94B-82FC-5330E68744B3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OVERVIEW · 한눈에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727C6-FBB2-CC4B-95BB-8A037846716C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자율 보증 및 클레임 처리: 전체 흐름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38AF16-82FD-A346-A3BF-66F04162AD8E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0CCB5E-EC2C-BA49-A8A7-D89EFD0D6B03}"/>
              </a:ext>
            </a:extLst>
          </p:cNvPr>
          <p:cNvSpPr/>
          <p:nvPr/>
        </p:nvSpPr>
        <p:spPr>
          <a:xfrm>
            <a:off x="508000" y="1270000"/>
            <a:ext cx="31496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5BCDFC-52FE-F54F-901F-B551294DF671}"/>
              </a:ext>
            </a:extLst>
          </p:cNvPr>
          <p:cNvSpPr/>
          <p:nvPr/>
        </p:nvSpPr>
        <p:spPr>
          <a:xfrm>
            <a:off x="4013200" y="1270000"/>
            <a:ext cx="39370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C47B5-24B5-F143-A27E-02208FBA54F5}"/>
              </a:ext>
            </a:extLst>
          </p:cNvPr>
          <p:cNvSpPr/>
          <p:nvPr/>
        </p:nvSpPr>
        <p:spPr>
          <a:xfrm>
            <a:off x="508000" y="1270000"/>
            <a:ext cx="3149600" cy="4572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보증 클레임의 과제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514325-B234-2945-991C-89FB286E3B3C}"/>
              </a:ext>
            </a:extLst>
          </p:cNvPr>
          <p:cNvSpPr/>
          <p:nvPr/>
        </p:nvSpPr>
        <p:spPr>
          <a:xfrm>
            <a:off x="4013200" y="1270000"/>
            <a:ext cx="3937000" cy="457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Articul8 · AgentMesh</a:t>
            </a:r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AEA9D31E-6955-6346-BC63-E099A3951B6A}"/>
              </a:ext>
            </a:extLst>
          </p:cNvPr>
          <p:cNvSpPr/>
          <p:nvPr/>
        </p:nvSpPr>
        <p:spPr>
          <a:xfrm>
            <a:off x="36830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D4DDA0F0-70C9-7D4F-9934-96FAF609FF30}"/>
              </a:ext>
            </a:extLst>
          </p:cNvPr>
          <p:cNvSpPr/>
          <p:nvPr/>
        </p:nvSpPr>
        <p:spPr>
          <a:xfrm>
            <a:off x="79756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DAC0C2-EF9E-394D-8F6F-F7EAA4846CD3}"/>
              </a:ext>
            </a:extLst>
          </p:cNvPr>
          <p:cNvSpPr txBox="1"/>
          <p:nvPr/>
        </p:nvSpPr>
        <p:spPr>
          <a:xfrm>
            <a:off x="609600" y="1854200"/>
            <a:ext cx="2946400" cy="304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PDF·수기 양식·부품번호·결함 사진 등
     다양한 데이터 해석 필요
•  수동 검토로 보상 주기 지연
•  반복 결함 패턴 파악이 어려움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7B09E2-F4DC-3748-B030-54646FA4C960}"/>
              </a:ext>
            </a:extLst>
          </p:cNvPr>
          <p:cNvSpPr/>
          <p:nvPr/>
        </p:nvSpPr>
        <p:spPr>
          <a:xfrm>
            <a:off x="4114800" y="18542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0423E0D-57A0-D242-B263-980E28087706}"/>
              </a:ext>
            </a:extLst>
          </p:cNvPr>
          <p:cNvSpPr/>
          <p:nvPr/>
        </p:nvSpPr>
        <p:spPr>
          <a:xfrm>
            <a:off x="4241800" y="21463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F578B4-AD60-0649-BBBE-7C929DFE0286}"/>
              </a:ext>
            </a:extLst>
          </p:cNvPr>
          <p:cNvSpPr txBox="1"/>
          <p:nvPr/>
        </p:nvSpPr>
        <p:spPr>
          <a:xfrm>
            <a:off x="4673600" y="19685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문서 처리 에이전트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F21492-F8EE-0344-84CD-C10A76D2EF3F}"/>
              </a:ext>
            </a:extLst>
          </p:cNvPr>
          <p:cNvSpPr txBox="1"/>
          <p:nvPr/>
        </p:nvSpPr>
        <p:spPr>
          <a:xfrm>
            <a:off x="4673600" y="22479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PDF·수기 양식·결함 사진 등 다양한 문서 해석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AAA913-08FD-9F48-93D1-FB04B93A6883}"/>
              </a:ext>
            </a:extLst>
          </p:cNvPr>
          <p:cNvSpPr/>
          <p:nvPr/>
        </p:nvSpPr>
        <p:spPr>
          <a:xfrm>
            <a:off x="4114800" y="28448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E01B4C9-0B5A-5047-B047-F246F1C3A4CD}"/>
              </a:ext>
            </a:extLst>
          </p:cNvPr>
          <p:cNvSpPr/>
          <p:nvPr/>
        </p:nvSpPr>
        <p:spPr>
          <a:xfrm>
            <a:off x="4241800" y="31369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9695A-AA57-F848-8FC4-91D41A77C28F}"/>
              </a:ext>
            </a:extLst>
          </p:cNvPr>
          <p:cNvSpPr txBox="1"/>
          <p:nvPr/>
        </p:nvSpPr>
        <p:spPr>
          <a:xfrm>
            <a:off x="4673600" y="29591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육안 검사 에이전트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27A78-F4FB-6246-AF0E-ECE2A3CF1E70}"/>
              </a:ext>
            </a:extLst>
          </p:cNvPr>
          <p:cNvSpPr txBox="1"/>
          <p:nvPr/>
        </p:nvSpPr>
        <p:spPr>
          <a:xfrm>
            <a:off x="4673600" y="32385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결함 사진 판독 · 반복 결함 패턴 식별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3E190F-E1FE-DE41-855E-73921208A5B4}"/>
              </a:ext>
            </a:extLst>
          </p:cNvPr>
          <p:cNvSpPr/>
          <p:nvPr/>
        </p:nvSpPr>
        <p:spPr>
          <a:xfrm>
            <a:off x="4114800" y="38354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0A012D0-5AAB-A141-8CF8-16A1CDBCA3A9}"/>
              </a:ext>
            </a:extLst>
          </p:cNvPr>
          <p:cNvSpPr/>
          <p:nvPr/>
        </p:nvSpPr>
        <p:spPr>
          <a:xfrm>
            <a:off x="4241800" y="41275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0BC454-5D10-D14C-981D-82B7E30509BD}"/>
              </a:ext>
            </a:extLst>
          </p:cNvPr>
          <p:cNvSpPr txBox="1"/>
          <p:nvPr/>
        </p:nvSpPr>
        <p:spPr>
          <a:xfrm>
            <a:off x="4673600" y="39497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정책 판정 에이전트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1F9E0B-E16E-3245-99F5-ED85A7644EC7}"/>
              </a:ext>
            </a:extLst>
          </p:cNvPr>
          <p:cNvSpPr txBox="1"/>
          <p:nvPr/>
        </p:nvSpPr>
        <p:spPr>
          <a:xfrm>
            <a:off x="4673600" y="42291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자격 분석 · 정책 대조 · 판정 실행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19EBB7-ADC8-0B40-A5BB-DB996B24A76A}"/>
              </a:ext>
            </a:extLst>
          </p:cNvPr>
          <p:cNvSpPr txBox="1"/>
          <p:nvPr/>
        </p:nvSpPr>
        <p:spPr>
          <a:xfrm>
            <a:off x="508000" y="50546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16324F"/>
                </a:solidFill>
                <a:latin typeface="맑은 고딕"/>
                <a:ea typeface="맑은 고딕"/>
              </a:rPr>
              <a:t>Articul8 차별점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0E7228F7-7B64-C941-9011-B055216B6272}"/>
              </a:ext>
            </a:extLst>
          </p:cNvPr>
          <p:cNvSpPr/>
          <p:nvPr/>
        </p:nvSpPr>
        <p:spPr>
          <a:xfrm>
            <a:off x="5080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자율 오케스트레이션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70C42031-B678-2442-BD5C-BE8D40E4E742}"/>
              </a:ext>
            </a:extLst>
          </p:cNvPr>
          <p:cNvSpPr/>
          <p:nvPr/>
        </p:nvSpPr>
        <p:spPr>
          <a:xfrm>
            <a:off x="33528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OEM 부품·오류코드 해석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79BAA779-6646-954A-A66D-2E52323E41C5}"/>
              </a:ext>
            </a:extLst>
          </p:cNvPr>
          <p:cNvSpPr/>
          <p:nvPr/>
        </p:nvSpPr>
        <p:spPr>
          <a:xfrm>
            <a:off x="61976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감사 가능한 판정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5B104DA1-5C58-524A-83CC-E884B6197714}"/>
              </a:ext>
            </a:extLst>
          </p:cNvPr>
          <p:cNvSpPr/>
          <p:nvPr/>
        </p:nvSpPr>
        <p:spPr>
          <a:xfrm>
            <a:off x="90424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유연한 배포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CCAB46-6440-1C4E-8E1E-5A6B4EDB2273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3 — 자율 보증 및 클레임 처리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775C15-71EC-ACB6-EC27-7126964D5142}"/>
              </a:ext>
            </a:extLst>
          </p:cNvPr>
          <p:cNvSpPr/>
          <p:nvPr/>
        </p:nvSpPr>
        <p:spPr>
          <a:xfrm>
            <a:off x="8331200" y="1271846"/>
            <a:ext cx="3365500" cy="3706553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C42C13-DAE2-F3E8-670A-261FF710D695}"/>
              </a:ext>
            </a:extLst>
          </p:cNvPr>
          <p:cNvSpPr/>
          <p:nvPr/>
        </p:nvSpPr>
        <p:spPr>
          <a:xfrm>
            <a:off x="8331200" y="1271847"/>
            <a:ext cx="3365500" cy="431800"/>
          </a:xfrm>
          <a:prstGeom prst="rect">
            <a:avLst/>
          </a:prstGeom>
          <a:solidFill>
            <a:srgbClr val="2E9E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핵심 성과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8174B-0037-3263-B01B-F47E15B205D2}"/>
              </a:ext>
            </a:extLst>
          </p:cNvPr>
          <p:cNvSpPr txBox="1"/>
          <p:nvPr/>
        </p:nvSpPr>
        <p:spPr>
          <a:xfrm>
            <a:off x="8456428" y="2121592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 dirty="0">
                <a:solidFill>
                  <a:srgbClr val="2E9E5B"/>
                </a:solidFill>
                <a:latin typeface="맑은 고딕"/>
                <a:ea typeface="맑은 고딕"/>
              </a:rPr>
              <a:t>60–80%</a:t>
            </a:r>
            <a:endParaRPr lang="ko-KR" altLang="en-US" sz="2400" b="1" dirty="0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987A5-BDE4-7C88-043E-1CC16A067B6F}"/>
              </a:ext>
            </a:extLst>
          </p:cNvPr>
          <p:cNvSpPr txBox="1"/>
          <p:nvPr/>
        </p:nvSpPr>
        <p:spPr>
          <a:xfrm>
            <a:off x="9974816" y="2172392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청구 워크플로우 자동화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1341B-6208-6897-1D90-80F844B18190}"/>
              </a:ext>
            </a:extLst>
          </p:cNvPr>
          <p:cNvSpPr txBox="1"/>
          <p:nvPr/>
        </p:nvSpPr>
        <p:spPr>
          <a:xfrm>
            <a:off x="8456428" y="3082636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>
                <a:solidFill>
                  <a:srgbClr val="2E9E5B"/>
                </a:solidFill>
                <a:latin typeface="맑은 고딕"/>
                <a:ea typeface="맑은 고딕"/>
              </a:rPr>
              <a:t>8–12%</a:t>
            </a:r>
            <a:endParaRPr lang="ko-KR" altLang="en-US" sz="2400" b="1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9C64D-9CDC-D0CE-2777-C937696AE98E}"/>
              </a:ext>
            </a:extLst>
          </p:cNvPr>
          <p:cNvSpPr txBox="1"/>
          <p:nvPr/>
        </p:nvSpPr>
        <p:spPr>
          <a:xfrm>
            <a:off x="9974816" y="3133436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부정·무효 청구 비용 절감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DBC24-9C59-6AB7-64EB-95BAF28EC98F}"/>
              </a:ext>
            </a:extLst>
          </p:cNvPr>
          <p:cNvSpPr txBox="1"/>
          <p:nvPr/>
        </p:nvSpPr>
        <p:spPr>
          <a:xfrm>
            <a:off x="8456428" y="4168371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2400" b="1" dirty="0">
                <a:solidFill>
                  <a:srgbClr val="2E9E5B"/>
                </a:solidFill>
                <a:latin typeface="맑은 고딕"/>
                <a:ea typeface="맑은 고딕"/>
              </a:rPr>
              <a:t>주 → 시간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84D86-3DF5-7B16-D1BE-E727283D551C}"/>
              </a:ext>
            </a:extLst>
          </p:cNvPr>
          <p:cNvSpPr txBox="1"/>
          <p:nvPr/>
        </p:nvSpPr>
        <p:spPr>
          <a:xfrm>
            <a:off x="9974816" y="4219171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처리 시간 수 주에서 수 시간으로 단축</a:t>
            </a:r>
          </a:p>
        </p:txBody>
      </p:sp>
    </p:spTree>
    <p:extLst>
      <p:ext uri="{BB962C8B-B14F-4D97-AF65-F5344CB8AC3E}">
        <p14:creationId xmlns:p14="http://schemas.microsoft.com/office/powerpoint/2010/main" val="284568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565A6-7C04-D94E-B53B-85C5D720F0DD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Articul8 솔루션 요약: 에이전트 · 포지셔닝 · 성과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926657-4550-A444-92A4-6DD56FEC7340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1D138-851D-5D49-A2A1-51E6BCA8FD21}"/>
              </a:ext>
            </a:extLst>
          </p:cNvPr>
          <p:cNvSpPr txBox="1"/>
          <p:nvPr/>
        </p:nvSpPr>
        <p:spPr>
          <a:xfrm>
            <a:off x="508000" y="12446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핵심 에이전트 파이프라인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D81286-6DE4-3046-8ECA-0A33F76E4916}"/>
              </a:ext>
            </a:extLst>
          </p:cNvPr>
          <p:cNvSpPr/>
          <p:nvPr/>
        </p:nvSpPr>
        <p:spPr>
          <a:xfrm>
            <a:off x="5080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ED26F5-5366-724A-9182-E5B3F061C69A}"/>
              </a:ext>
            </a:extLst>
          </p:cNvPr>
          <p:cNvSpPr/>
          <p:nvPr/>
        </p:nvSpPr>
        <p:spPr>
          <a:xfrm>
            <a:off x="5080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94C52D-BEE1-5B44-8D7E-1B46E31AAAD2}"/>
              </a:ext>
            </a:extLst>
          </p:cNvPr>
          <p:cNvSpPr/>
          <p:nvPr/>
        </p:nvSpPr>
        <p:spPr>
          <a:xfrm>
            <a:off x="6858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4D0AB-3454-B04A-9BEB-AFF331840824}"/>
              </a:ext>
            </a:extLst>
          </p:cNvPr>
          <p:cNvSpPr txBox="1"/>
          <p:nvPr/>
        </p:nvSpPr>
        <p:spPr>
          <a:xfrm>
            <a:off x="11430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문서 처리 에이전트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66BDB-A279-AF48-A1B9-7D4D32BC8D38}"/>
              </a:ext>
            </a:extLst>
          </p:cNvPr>
          <p:cNvSpPr txBox="1"/>
          <p:nvPr/>
        </p:nvSpPr>
        <p:spPr>
          <a:xfrm>
            <a:off x="11430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Document Processing Agent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26644-2EB5-1145-A0AD-DA81185CAC58}"/>
              </a:ext>
            </a:extLst>
          </p:cNvPr>
          <p:cNvSpPr txBox="1"/>
          <p:nvPr/>
        </p:nvSpPr>
        <p:spPr>
          <a:xfrm>
            <a:off x="7112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PDF·수기 양식 등 다양한 클레임 문서를 자동으로 해석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8BDCF0-8366-8E47-AB46-7AE6B7537B17}"/>
              </a:ext>
            </a:extLst>
          </p:cNvPr>
          <p:cNvSpPr/>
          <p:nvPr/>
        </p:nvSpPr>
        <p:spPr>
          <a:xfrm>
            <a:off x="43942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E26EEF-18DC-3C4A-BAA9-3BB4F7FF7CBB}"/>
              </a:ext>
            </a:extLst>
          </p:cNvPr>
          <p:cNvSpPr/>
          <p:nvPr/>
        </p:nvSpPr>
        <p:spPr>
          <a:xfrm>
            <a:off x="43942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7E8AE27-7B5B-EC4C-9A5E-4EE7046A35AC}"/>
              </a:ext>
            </a:extLst>
          </p:cNvPr>
          <p:cNvSpPr/>
          <p:nvPr/>
        </p:nvSpPr>
        <p:spPr>
          <a:xfrm>
            <a:off x="45720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A37FD-AA91-9748-9884-36A6B517A41F}"/>
              </a:ext>
            </a:extLst>
          </p:cNvPr>
          <p:cNvSpPr txBox="1"/>
          <p:nvPr/>
        </p:nvSpPr>
        <p:spPr>
          <a:xfrm>
            <a:off x="50292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육안 검사 에이전트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B96F5-B392-7345-97E4-E447E770FF6D}"/>
              </a:ext>
            </a:extLst>
          </p:cNvPr>
          <p:cNvSpPr txBox="1"/>
          <p:nvPr/>
        </p:nvSpPr>
        <p:spPr>
          <a:xfrm>
            <a:off x="50292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Visual Inspection Agent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91A5D-8ADC-1A45-B37D-2D673FF6569A}"/>
              </a:ext>
            </a:extLst>
          </p:cNvPr>
          <p:cNvSpPr txBox="1"/>
          <p:nvPr/>
        </p:nvSpPr>
        <p:spPr>
          <a:xfrm>
            <a:off x="45974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결함 사진을 판독해 반복 결함 패턴을 식별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B68D14-7992-6E43-9656-B863A48C88CB}"/>
              </a:ext>
            </a:extLst>
          </p:cNvPr>
          <p:cNvSpPr/>
          <p:nvPr/>
        </p:nvSpPr>
        <p:spPr>
          <a:xfrm>
            <a:off x="82804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904039-4B31-D549-9345-C9F92E309883}"/>
              </a:ext>
            </a:extLst>
          </p:cNvPr>
          <p:cNvSpPr/>
          <p:nvPr/>
        </p:nvSpPr>
        <p:spPr>
          <a:xfrm>
            <a:off x="82804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51FBB03-71D4-3B4D-BDF4-DC4AEEF5927D}"/>
              </a:ext>
            </a:extLst>
          </p:cNvPr>
          <p:cNvSpPr/>
          <p:nvPr/>
        </p:nvSpPr>
        <p:spPr>
          <a:xfrm>
            <a:off x="84582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F8D71-EF1E-E843-A4EF-28A568371717}"/>
              </a:ext>
            </a:extLst>
          </p:cNvPr>
          <p:cNvSpPr txBox="1"/>
          <p:nvPr/>
        </p:nvSpPr>
        <p:spPr>
          <a:xfrm>
            <a:off x="89154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정책 판정 에이전트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D4587B-7045-0848-A894-9C8FE8071BA8}"/>
              </a:ext>
            </a:extLst>
          </p:cNvPr>
          <p:cNvSpPr txBox="1"/>
          <p:nvPr/>
        </p:nvSpPr>
        <p:spPr>
          <a:xfrm>
            <a:off x="89154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Policy Adjudication Agent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BA5D4-6542-7C4F-B3C3-5E494633AB0E}"/>
              </a:ext>
            </a:extLst>
          </p:cNvPr>
          <p:cNvSpPr txBox="1"/>
          <p:nvPr/>
        </p:nvSpPr>
        <p:spPr>
          <a:xfrm>
            <a:off x="84836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보증 정책과 대조해 자격을 판정하고 처리 경로 결정</a:t>
            </a: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B7B5D4A8-791D-CC49-B5FB-7B7F13BE1FBA}"/>
              </a:ext>
            </a:extLst>
          </p:cNvPr>
          <p:cNvSpPr/>
          <p:nvPr/>
        </p:nvSpPr>
        <p:spPr>
          <a:xfrm>
            <a:off x="39624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2390B8C5-7293-B645-B3CD-531CE6E73892}"/>
              </a:ext>
            </a:extLst>
          </p:cNvPr>
          <p:cNvSpPr/>
          <p:nvPr/>
        </p:nvSpPr>
        <p:spPr>
          <a:xfrm>
            <a:off x="78486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32696C-89E1-3943-B45B-BB53FEC47216}"/>
              </a:ext>
            </a:extLst>
          </p:cNvPr>
          <p:cNvSpPr/>
          <p:nvPr/>
        </p:nvSpPr>
        <p:spPr>
          <a:xfrm>
            <a:off x="508000" y="2997200"/>
            <a:ext cx="11176000" cy="330200"/>
          </a:xfrm>
          <a:prstGeom prst="rect">
            <a:avLst/>
          </a:prstGeom>
          <a:solidFill>
            <a:srgbClr val="EEF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200">
                <a:solidFill>
                  <a:srgbClr val="16324F"/>
                </a:solidFill>
                <a:latin typeface="맑은 고딕"/>
                <a:ea typeface="맑은 고딕"/>
              </a:rPr>
              <a:t>청구 처리 미션 대시보드  —  미션 단위 추적 · 다중 문서 통합 판독 · 감사 가능한 판정 근거 제공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8E6047-236C-0849-99C4-4D1B0B397FE2}"/>
              </a:ext>
            </a:extLst>
          </p:cNvPr>
          <p:cNvSpPr/>
          <p:nvPr/>
        </p:nvSpPr>
        <p:spPr>
          <a:xfrm>
            <a:off x="508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D5C0A3-B348-A948-9D23-7332344B7F76}"/>
              </a:ext>
            </a:extLst>
          </p:cNvPr>
          <p:cNvSpPr/>
          <p:nvPr/>
        </p:nvSpPr>
        <p:spPr>
          <a:xfrm>
            <a:off x="508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독보적 포지셔닝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E94C1F-2475-BA4E-BC7C-CA3028479198}"/>
              </a:ext>
            </a:extLst>
          </p:cNvPr>
          <p:cNvSpPr txBox="1"/>
          <p:nvPr/>
        </p:nvSpPr>
        <p:spPr>
          <a:xfrm>
            <a:off x="685800" y="4064000"/>
            <a:ext cx="5130800" cy="218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OEM 부품번호·오류코드·기술 용어 정확 해석
•  감사 가능한 의사결정 추적으로 투명성 확보
•  도메인별 에이전트의 자율 오케스트레이션으로 접수부터 수리까지 처리
•  클라우드·온프레미스·에어갭 등 유연한 배포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84AD9C-4B11-934A-828E-553E9FEF0A34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3 — 자율 보증 및 클레임 처리</a:t>
            </a:r>
          </a:p>
        </p:txBody>
      </p:sp>
      <p:sp>
        <p:nvSpPr>
          <p:cNvPr id="39" name="Rectangle RightPanel BG">
            <a:extLst>
              <a:ext uri="{FF2B5EF4-FFF2-40B4-BE49-F238E27FC236}">
                <a16:creationId xmlns:a16="http://schemas.microsoft.com/office/drawing/2014/main" id="{A97A084E-703B-764C-8E68-C3EE1F8C5ED1}"/>
              </a:ext>
            </a:extLst>
          </p:cNvPr>
          <p:cNvSpPr/>
          <p:nvPr/>
        </p:nvSpPr>
        <p:spPr>
          <a:xfrm>
            <a:off x="6223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Rectangle RightPanel Header">
            <a:extLst>
              <a:ext uri="{FF2B5EF4-FFF2-40B4-BE49-F238E27FC236}">
                <a16:creationId xmlns:a16="http://schemas.microsoft.com/office/drawing/2014/main" id="{A097E8A4-CAA5-3B4F-969A-A7DD33F01FDC}"/>
              </a:ext>
            </a:extLst>
          </p:cNvPr>
          <p:cNvSpPr/>
          <p:nvPr/>
        </p:nvSpPr>
        <p:spPr>
          <a:xfrm>
            <a:off x="6223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기대 도입 효과</a:t>
            </a:r>
          </a:p>
        </p:txBody>
      </p:sp>
      <p:sp>
        <p:nvSpPr>
          <p:cNvPr id="41" name="TextBox RightPanel Body">
            <a:extLst>
              <a:ext uri="{FF2B5EF4-FFF2-40B4-BE49-F238E27FC236}">
                <a16:creationId xmlns:a16="http://schemas.microsoft.com/office/drawing/2014/main" id="{0813CE03-395A-F94F-BD47-0F3106FCA296}"/>
              </a:ext>
            </a:extLst>
          </p:cNvPr>
          <p:cNvSpPr txBox="1"/>
          <p:nvPr/>
        </p:nvSpPr>
        <p:spPr>
          <a:xfrm>
            <a:off x="6400800" y="4064000"/>
            <a:ext cx="5130800" cy="218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처리 속도 — 청구 처리 시간을 수 주에서 수 시간으로 단축
•  비용 효율 — 부정·무효 청구 식별로 8–12% 비용 절감
•  워크플로우 자동화 — 접수부터 수리까지 60–80% 자동 처리</a:t>
            </a:r>
          </a:p>
        </p:txBody>
      </p:sp>
    </p:spTree>
    <p:extLst>
      <p:ext uri="{BB962C8B-B14F-4D97-AF65-F5344CB8AC3E}">
        <p14:creationId xmlns:p14="http://schemas.microsoft.com/office/powerpoint/2010/main" val="308339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4EC1E-4C33-FD49-B024-5AEC883E3CA4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A8 솔루션 · 에이전트 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ACCC9-57C9-184D-ABC5-9FACF114F585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세 가지 핵심 에이전트 상세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03A311-B387-5940-B499-DCB29B702CC3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F28D8D-12F9-574B-8637-DF33D61C9D31}"/>
              </a:ext>
            </a:extLst>
          </p:cNvPr>
          <p:cNvSpPr/>
          <p:nvPr/>
        </p:nvSpPr>
        <p:spPr>
          <a:xfrm>
            <a:off x="50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9B84D6-C3B1-BB43-A8DE-F614D34BFD37}"/>
              </a:ext>
            </a:extLst>
          </p:cNvPr>
          <p:cNvSpPr/>
          <p:nvPr/>
        </p:nvSpPr>
        <p:spPr>
          <a:xfrm>
            <a:off x="50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F2B82E6-7FE5-6640-A31D-2965661A64BC}"/>
              </a:ext>
            </a:extLst>
          </p:cNvPr>
          <p:cNvSpPr/>
          <p:nvPr/>
        </p:nvSpPr>
        <p:spPr>
          <a:xfrm>
            <a:off x="68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DEDAE-7F71-3249-A77F-102A5545CDBC}"/>
              </a:ext>
            </a:extLst>
          </p:cNvPr>
          <p:cNvSpPr txBox="1"/>
          <p:nvPr/>
        </p:nvSpPr>
        <p:spPr>
          <a:xfrm>
            <a:off x="116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문서 처리 에이전트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B74A9F-FAF6-AD4A-8960-87809465B7BF}"/>
              </a:ext>
            </a:extLst>
          </p:cNvPr>
          <p:cNvSpPr txBox="1"/>
          <p:nvPr/>
        </p:nvSpPr>
        <p:spPr>
          <a:xfrm>
            <a:off x="116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Document Processing Agent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3EFAC-7ECC-F44D-B09A-D1CBB2A62670}"/>
              </a:ext>
            </a:extLst>
          </p:cNvPr>
          <p:cNvSpPr txBox="1"/>
          <p:nvPr/>
        </p:nvSpPr>
        <p:spPr>
          <a:xfrm>
            <a:off x="71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4962D-AC33-074B-861B-75E20F90E81E}"/>
              </a:ext>
            </a:extLst>
          </p:cNvPr>
          <p:cNvSpPr txBox="1"/>
          <p:nvPr/>
        </p:nvSpPr>
        <p:spPr>
          <a:xfrm>
            <a:off x="71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PDF·수기 양식 등 다양한 클레임 문서를 해석해 구조화된 데이터로 변환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43F42-7096-B040-92BE-6F3927A07E95}"/>
              </a:ext>
            </a:extLst>
          </p:cNvPr>
          <p:cNvSpPr txBox="1"/>
          <p:nvPr/>
        </p:nvSpPr>
        <p:spPr>
          <a:xfrm>
            <a:off x="71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FA338-FF5B-3C4A-8250-B6E32AD94287}"/>
              </a:ext>
            </a:extLst>
          </p:cNvPr>
          <p:cNvSpPr txBox="1"/>
          <p:nvPr/>
        </p:nvSpPr>
        <p:spPr>
          <a:xfrm>
            <a:off x="71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PDF·스캔 문서·수기 양식 자동 인식
•  OEM 부품번호·오류코드·기술 용어 추출
•  이기종 문서 포맷을 분석 가능한 데이터로 통합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12133-DAAC-1B4C-87FA-98A96E254DDE}"/>
              </a:ext>
            </a:extLst>
          </p:cNvPr>
          <p:cNvSpPr txBox="1"/>
          <p:nvPr/>
        </p:nvSpPr>
        <p:spPr>
          <a:xfrm>
            <a:off x="71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AB47E-9757-3E4F-BC90-E331E2300098}"/>
              </a:ext>
            </a:extLst>
          </p:cNvPr>
          <p:cNvSpPr txBox="1"/>
          <p:nvPr/>
        </p:nvSpPr>
        <p:spPr>
          <a:xfrm>
            <a:off x="71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구조화된 클레임 데이터를 검사·판정 에이전트로 전달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393FCF-858E-AD4B-9F94-C7BDDF2AFA8C}"/>
              </a:ext>
            </a:extLst>
          </p:cNvPr>
          <p:cNvSpPr/>
          <p:nvPr/>
        </p:nvSpPr>
        <p:spPr>
          <a:xfrm>
            <a:off x="431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B8F692-BC64-FC48-89F9-866871FE9613}"/>
              </a:ext>
            </a:extLst>
          </p:cNvPr>
          <p:cNvSpPr/>
          <p:nvPr/>
        </p:nvSpPr>
        <p:spPr>
          <a:xfrm>
            <a:off x="431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0BC93EA-69F1-444C-8053-577FABC94352}"/>
              </a:ext>
            </a:extLst>
          </p:cNvPr>
          <p:cNvSpPr/>
          <p:nvPr/>
        </p:nvSpPr>
        <p:spPr>
          <a:xfrm>
            <a:off x="449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416BD6-1C42-ED47-8A3F-DF1B3FF9B61F}"/>
              </a:ext>
            </a:extLst>
          </p:cNvPr>
          <p:cNvSpPr txBox="1"/>
          <p:nvPr/>
        </p:nvSpPr>
        <p:spPr>
          <a:xfrm>
            <a:off x="497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육안 검사 에이전트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367AE8-27B1-5042-B3DC-D07BC9B65AB2}"/>
              </a:ext>
            </a:extLst>
          </p:cNvPr>
          <p:cNvSpPr txBox="1"/>
          <p:nvPr/>
        </p:nvSpPr>
        <p:spPr>
          <a:xfrm>
            <a:off x="497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Visual Inspection Agent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4BB3E-19A9-8C48-8458-8E59F16AE739}"/>
              </a:ext>
            </a:extLst>
          </p:cNvPr>
          <p:cNvSpPr txBox="1"/>
          <p:nvPr/>
        </p:nvSpPr>
        <p:spPr>
          <a:xfrm>
            <a:off x="452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5AF20D-0B9D-F74A-9764-48D14D70460C}"/>
              </a:ext>
            </a:extLst>
          </p:cNvPr>
          <p:cNvSpPr txBox="1"/>
          <p:nvPr/>
        </p:nvSpPr>
        <p:spPr>
          <a:xfrm>
            <a:off x="452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결함 사진과 현장 증거를 분석해 결함 여부와 반복 패턴을 식별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DC5FC-A174-3244-97AF-20FD49CAF355}"/>
              </a:ext>
            </a:extLst>
          </p:cNvPr>
          <p:cNvSpPr txBox="1"/>
          <p:nvPr/>
        </p:nvSpPr>
        <p:spPr>
          <a:xfrm>
            <a:off x="452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43624-3CD4-564B-B14C-62E05F89AB9E}"/>
              </a:ext>
            </a:extLst>
          </p:cNvPr>
          <p:cNvSpPr txBox="1"/>
          <p:nvPr/>
        </p:nvSpPr>
        <p:spPr>
          <a:xfrm>
            <a:off x="452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결함 사진 자동 판독
•  반복 결함 패턴 탐지
•  부품 손상 정도 및 원인 추정
•  문서 데이터와 시각 증거 연계 검증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569C0C-E8DD-5E4D-ACD0-487DA33BE911}"/>
              </a:ext>
            </a:extLst>
          </p:cNvPr>
          <p:cNvSpPr txBox="1"/>
          <p:nvPr/>
        </p:nvSpPr>
        <p:spPr>
          <a:xfrm>
            <a:off x="452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56CF18-1527-1848-85D2-EA8AB12562CD}"/>
              </a:ext>
            </a:extLst>
          </p:cNvPr>
          <p:cNvSpPr txBox="1"/>
          <p:nvPr/>
        </p:nvSpPr>
        <p:spPr>
          <a:xfrm>
            <a:off x="452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결함 진단 결과와 근거 이미지 기록</a:t>
            </a:r>
            <a:endParaRPr lang="ko-KR" altLang="en-US" sz="1200">
              <a:solidFill>
                <a:srgbClr val="1F2A37"/>
              </a:solidFill>
              <a:latin typeface="맑은 고딕"/>
              <a:ea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0CF6F3-1BA7-B440-998D-BFFA068F184A}"/>
              </a:ext>
            </a:extLst>
          </p:cNvPr>
          <p:cNvSpPr/>
          <p:nvPr/>
        </p:nvSpPr>
        <p:spPr>
          <a:xfrm>
            <a:off x="812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3AC2C20-9C4D-404D-B110-2CEA6FE2187F}"/>
              </a:ext>
            </a:extLst>
          </p:cNvPr>
          <p:cNvSpPr/>
          <p:nvPr/>
        </p:nvSpPr>
        <p:spPr>
          <a:xfrm>
            <a:off x="812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4F99B9B-AE94-7240-87AC-70B2955FFE08}"/>
              </a:ext>
            </a:extLst>
          </p:cNvPr>
          <p:cNvSpPr/>
          <p:nvPr/>
        </p:nvSpPr>
        <p:spPr>
          <a:xfrm>
            <a:off x="830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5ED692-A754-344F-91D9-6B6BE2997A55}"/>
              </a:ext>
            </a:extLst>
          </p:cNvPr>
          <p:cNvSpPr txBox="1"/>
          <p:nvPr/>
        </p:nvSpPr>
        <p:spPr>
          <a:xfrm>
            <a:off x="878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정책 판정 에이전트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A5259D-CDB8-F14C-8927-244605B9F0A3}"/>
              </a:ext>
            </a:extLst>
          </p:cNvPr>
          <p:cNvSpPr txBox="1"/>
          <p:nvPr/>
        </p:nvSpPr>
        <p:spPr>
          <a:xfrm>
            <a:off x="878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Policy Adjudication Agent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E63359-C938-A848-9C03-ABE0ABE86FE7}"/>
              </a:ext>
            </a:extLst>
          </p:cNvPr>
          <p:cNvSpPr txBox="1"/>
          <p:nvPr/>
        </p:nvSpPr>
        <p:spPr>
          <a:xfrm>
            <a:off x="833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EC1FFF-B113-FF4F-A29E-5AF4AA464E64}"/>
              </a:ext>
            </a:extLst>
          </p:cNvPr>
          <p:cNvSpPr txBox="1"/>
          <p:nvPr/>
        </p:nvSpPr>
        <p:spPr>
          <a:xfrm>
            <a:off x="833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보증 정책과 대조해 청구 자격을 판정하고 처리 경로를 결정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50716D-20E5-6444-8B06-A4BF74D88952}"/>
              </a:ext>
            </a:extLst>
          </p:cNvPr>
          <p:cNvSpPr txBox="1"/>
          <p:nvPr/>
        </p:nvSpPr>
        <p:spPr>
          <a:xfrm>
            <a:off x="833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E2AA44-253D-904F-B7F2-751C791BB5B8}"/>
              </a:ext>
            </a:extLst>
          </p:cNvPr>
          <p:cNvSpPr txBox="1"/>
          <p:nvPr/>
        </p:nvSpPr>
        <p:spPr>
          <a:xfrm>
            <a:off x="833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자격 분석 및 정책 대조
•  부정·무효 청구 식별
•  감사 가능한 판정 근거 기록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1C31B2-C1A2-974D-A1D2-6CD601DE5972}"/>
              </a:ext>
            </a:extLst>
          </p:cNvPr>
          <p:cNvSpPr txBox="1"/>
          <p:nvPr/>
        </p:nvSpPr>
        <p:spPr>
          <a:xfrm>
            <a:off x="833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EC22AD-26AB-684D-98FD-6E65CAF37817}"/>
              </a:ext>
            </a:extLst>
          </p:cNvPr>
          <p:cNvSpPr txBox="1"/>
          <p:nvPr/>
        </p:nvSpPr>
        <p:spPr>
          <a:xfrm>
            <a:off x="833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승인·반려 판정과 감사 추적 가능한 의사결정 로그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5437C-0CD5-5B44-9576-B0D21A22C7EE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3 — 자율 보증 및 클레임 처리</a:t>
            </a:r>
          </a:p>
        </p:txBody>
      </p:sp>
    </p:spTree>
    <p:extLst>
      <p:ext uri="{BB962C8B-B14F-4D97-AF65-F5344CB8AC3E}">
        <p14:creationId xmlns:p14="http://schemas.microsoft.com/office/powerpoint/2010/main" val="183966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 솔루션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미션 처리 화면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72684" y="1481328"/>
            <a:ext cx="6240780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52400" dist="38100" dir="5400000" algn="bl" rotWithShape="0">
              <a:srgbClr val="1B2456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8640" y="165506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152704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미션 단위 추적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보증 청구 건을 하나의 미션으로 관리하며 하위 작업 진행 상황을 실시간 추적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22960" y="299008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문서 통합 판독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이미지, 수기 양식을 한 화면에서 통합 검증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58114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445312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 가능한 판정 근거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80060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판정에 대한 근거와 출처를 투명하게 기록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ARTICUL8  |  Use Case 3 — 자율 보증 및 클레임 처리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17" name="Picture 16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836" y="2208137"/>
            <a:ext cx="6094476" cy="3264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 솔루션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처리 결과 화면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72684" y="1481328"/>
            <a:ext cx="6240780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52400" dist="38100" dir="5400000" algn="bl" rotWithShape="0">
              <a:srgbClr val="1B2456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8640" y="165506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152704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접근성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환경에서도 청구 상태와 처리 결과를 즉시 확인 가능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22960" y="299008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신속한 승인 흐름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결과와 권장 조치를 현장에서 바로 확인하고 실행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58114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445312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일관된 사용자 경험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80060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데스크톱과 동일한 데이터 모델을 기반으로 한 통합 경험 제공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ARTICUL8  |  Use Case 3 — 자율 보증 및 클레임 처리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pic>
        <p:nvPicPr>
          <p:cNvPr id="17" name="Picture 1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548" y="1554480"/>
            <a:ext cx="35350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보증 클레임 처리를 수 주에서 수 시간으로 단축합니다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43EDC7-6B64-3341-B9AD-8A561A6FDEE5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68655e05-f342-45ec-8ec7-f5cedb54c2a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638</Words>
  <Application>Microsoft Macintosh PowerPoint</Application>
  <PresentationFormat>와이드스크린</PresentationFormat>
  <Paragraphs>99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신준용</cp:lastModifiedBy>
  <cp:revision>3</cp:revision>
  <dcterms:created xsi:type="dcterms:W3CDTF">2026-07-22T15:42:35Z</dcterms:created>
  <dcterms:modified xsi:type="dcterms:W3CDTF">2026-07-23T00:33:03Z</dcterms:modified>
</cp:coreProperties>
</file>