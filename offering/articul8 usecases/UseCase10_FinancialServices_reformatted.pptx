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2" r:id="rId3"/>
    <p:sldId id="263" r:id="rId4"/>
    <p:sldId id="264" r:id="rId5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73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232" y="1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8434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D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 T I C U L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8745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산업별 활용 사례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78892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0D74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금융 서비스 Articul8 활용 사례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40233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EB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Articul8 Use Cases in Financial Services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2743200" cy="0"/>
          </a:xfrm>
          <a:prstGeom prst="line">
            <a:avLst/>
          </a:prstGeom>
          <a:noFill/>
          <a:ln w="12700">
            <a:solidFill>
              <a:srgbClr val="3A447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22960" y="5120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EB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금융 서비스 (Financial Services)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813403F5-6964-B94B-82FC-5330E68744B3}"/>
              </a:ext>
            </a:extLst>
          </p:cNvPr>
          <p:cNvSpPr txBox="1"/>
          <p:nvPr/>
        </p:nvSpPr>
        <p:spPr>
          <a:xfrm>
            <a:off x="508000" y="279400"/>
            <a:ext cx="11176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1300" b="1">
                <a:solidFill>
                  <a:srgbClr val="E8622C"/>
                </a:solidFill>
                <a:latin typeface="맑은 고딕"/>
                <a:ea typeface="맑은 고딕"/>
              </a:rPr>
              <a:t>OVERVIEW · 한눈에 보기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2727C6-FBB2-CC4B-95BB-8A037846716C}"/>
              </a:ext>
            </a:extLst>
          </p:cNvPr>
          <p:cNvSpPr txBox="1"/>
          <p:nvPr/>
        </p:nvSpPr>
        <p:spPr>
          <a:xfrm>
            <a:off x="508000" y="533400"/>
            <a:ext cx="111760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2400" b="1">
                <a:solidFill>
                  <a:srgbClr val="1F2A37"/>
                </a:solidFill>
                <a:latin typeface="맑은 고딕"/>
                <a:ea typeface="맑은 고딕"/>
              </a:rPr>
              <a:t>금융 서비스 활용 사례: 전체 흐름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F38AF16-82FD-A346-A3BF-66F04162AD8E}"/>
              </a:ext>
            </a:extLst>
          </p:cNvPr>
          <p:cNvSpPr/>
          <p:nvPr/>
        </p:nvSpPr>
        <p:spPr>
          <a:xfrm>
            <a:off x="508000" y="1066800"/>
            <a:ext cx="914400" cy="50800"/>
          </a:xfrm>
          <a:prstGeom prst="rect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F0CCB5E-EC2C-BA49-A8A7-D89EFD0D6B03}"/>
              </a:ext>
            </a:extLst>
          </p:cNvPr>
          <p:cNvSpPr/>
          <p:nvPr/>
        </p:nvSpPr>
        <p:spPr>
          <a:xfrm>
            <a:off x="508000" y="1270000"/>
            <a:ext cx="3149600" cy="37084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35BCDFC-52FE-F54F-901F-B551294DF671}"/>
              </a:ext>
            </a:extLst>
          </p:cNvPr>
          <p:cNvSpPr/>
          <p:nvPr/>
        </p:nvSpPr>
        <p:spPr>
          <a:xfrm>
            <a:off x="4013200" y="1270000"/>
            <a:ext cx="3937000" cy="37084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16C47B5-24B5-F143-A27E-02208FBA54F5}"/>
              </a:ext>
            </a:extLst>
          </p:cNvPr>
          <p:cNvSpPr/>
          <p:nvPr/>
        </p:nvSpPr>
        <p:spPr>
          <a:xfrm>
            <a:off x="508000" y="1270000"/>
            <a:ext cx="3149600" cy="457200"/>
          </a:xfrm>
          <a:prstGeom prst="rect">
            <a:avLst/>
          </a:prstGeom>
          <a:solidFill>
            <a:srgbClr val="C039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500" b="1">
                <a:solidFill>
                  <a:srgbClr val="FFFFFF"/>
                </a:solidFill>
                <a:latin typeface="맑은 고딕"/>
                <a:ea typeface="맑은 고딕"/>
              </a:rPr>
              <a:t>금융 서비스 리서치의 과제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3514325-B234-2945-991C-89FB286E3B3C}"/>
              </a:ext>
            </a:extLst>
          </p:cNvPr>
          <p:cNvSpPr/>
          <p:nvPr/>
        </p:nvSpPr>
        <p:spPr>
          <a:xfrm>
            <a:off x="4013200" y="1270000"/>
            <a:ext cx="3937000" cy="457200"/>
          </a:xfrm>
          <a:prstGeom prst="rect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" altLang="ko-KR" sz="1500" b="1">
                <a:solidFill>
                  <a:srgbClr val="FFFFFF"/>
                </a:solidFill>
                <a:latin typeface="맑은 고딕"/>
                <a:ea typeface="맑은 고딕"/>
              </a:rPr>
              <a:t>Articul8 · AgentMesh</a:t>
            </a:r>
            <a:endParaRPr lang="ko-KR" altLang="en-US" sz="15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4" name="오른쪽 화살표[R] 23">
            <a:extLst>
              <a:ext uri="{FF2B5EF4-FFF2-40B4-BE49-F238E27FC236}">
                <a16:creationId xmlns:a16="http://schemas.microsoft.com/office/drawing/2014/main" id="{AEA9D31E-6955-6346-BC63-E099A3951B6A}"/>
              </a:ext>
            </a:extLst>
          </p:cNvPr>
          <p:cNvSpPr/>
          <p:nvPr/>
        </p:nvSpPr>
        <p:spPr>
          <a:xfrm>
            <a:off x="3683000" y="2844800"/>
            <a:ext cx="304800" cy="508000"/>
          </a:xfrm>
          <a:prstGeom prst="rightArrow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오른쪽 화살표[R] 24">
            <a:extLst>
              <a:ext uri="{FF2B5EF4-FFF2-40B4-BE49-F238E27FC236}">
                <a16:creationId xmlns:a16="http://schemas.microsoft.com/office/drawing/2014/main" id="{D4DDA0F0-70C9-7D4F-9934-96FAF609FF30}"/>
              </a:ext>
            </a:extLst>
          </p:cNvPr>
          <p:cNvSpPr/>
          <p:nvPr/>
        </p:nvSpPr>
        <p:spPr>
          <a:xfrm>
            <a:off x="7975600" y="2844800"/>
            <a:ext cx="304800" cy="508000"/>
          </a:xfrm>
          <a:prstGeom prst="rightArrow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9DAC0C2-EF9E-394D-8F6F-F7EAA4846CD3}"/>
              </a:ext>
            </a:extLst>
          </p:cNvPr>
          <p:cNvSpPr txBox="1"/>
          <p:nvPr/>
        </p:nvSpPr>
        <p:spPr>
          <a:xfrm>
            <a:off x="609600" y="1854200"/>
            <a:ext cx="2946400" cy="304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-US" altLang="ko-KR" sz="1300">
                <a:solidFill>
                  <a:srgbClr val="1F2A37"/>
                </a:solidFill>
                <a:latin typeface="맑은 고딕"/>
                <a:ea typeface="맑은 고딕"/>
              </a:rPr>
              <a:t>•  도메인별 정확도부터 프로덕션 확장성까지
     POC-투-프로덕션 전환의 어려움
•  방대한 재무 데이터가 공시자료·실적발표·
     애널리스트 보고서 등에 분산
•  거시경제 실사에 6명 이상 팀이
     몇 주씩 소요
•  사모 신용·M&amp;A 실사는 위험분석·수익률
     추정 등 복잡한 검토 필요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07B09E2-F4DC-3748-B030-54646FA4C960}"/>
              </a:ext>
            </a:extLst>
          </p:cNvPr>
          <p:cNvSpPr/>
          <p:nvPr/>
        </p:nvSpPr>
        <p:spPr>
          <a:xfrm>
            <a:off x="4114800" y="1854200"/>
            <a:ext cx="3733800" cy="9144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E0423E0D-57A0-D242-B263-980E28087706}"/>
              </a:ext>
            </a:extLst>
          </p:cNvPr>
          <p:cNvSpPr/>
          <p:nvPr/>
        </p:nvSpPr>
        <p:spPr>
          <a:xfrm>
            <a:off x="4241800" y="2146300"/>
            <a:ext cx="330200" cy="330200"/>
          </a:xfrm>
          <a:prstGeom prst="ellipse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  <a:endParaRPr lang="ko-KR" altLang="en-US" sz="13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7F578B4-AD60-0649-BBBE-7C929DFE0286}"/>
              </a:ext>
            </a:extLst>
          </p:cNvPr>
          <p:cNvSpPr txBox="1"/>
          <p:nvPr/>
        </p:nvSpPr>
        <p:spPr>
          <a:xfrm>
            <a:off x="4673600" y="1968500"/>
            <a:ext cx="30988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00" b="1">
                <a:solidFill>
                  <a:srgbClr val="1F2A37"/>
                </a:solidFill>
                <a:latin typeface="맑은 고딕"/>
                <a:ea typeface="맑은 고딕"/>
              </a:rPr>
              <a:t>재무분석 Assistant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0F21492-F8EE-0344-84CD-C10A76D2EF3F}"/>
              </a:ext>
            </a:extLst>
          </p:cNvPr>
          <p:cNvSpPr txBox="1"/>
          <p:nvPr/>
        </p:nvSpPr>
        <p:spPr>
          <a:xfrm>
            <a:off x="4673600" y="2247900"/>
            <a:ext cx="30988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150">
                <a:solidFill>
                  <a:srgbClr val="5A6472"/>
                </a:solidFill>
                <a:latin typeface="맑은 고딕"/>
                <a:ea typeface="맑은 고딕"/>
              </a:rPr>
              <a:t>상장주식·산업 재무 데이터를 자동 분석해 투자 메모 생성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FAAA913-08FD-9F48-93D1-FB04B93A6883}"/>
              </a:ext>
            </a:extLst>
          </p:cNvPr>
          <p:cNvSpPr/>
          <p:nvPr/>
        </p:nvSpPr>
        <p:spPr>
          <a:xfrm>
            <a:off x="4114800" y="2844800"/>
            <a:ext cx="3733800" cy="9144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5E01B4C9-0B5A-5047-B047-F246F1C3A4CD}"/>
              </a:ext>
            </a:extLst>
          </p:cNvPr>
          <p:cNvSpPr/>
          <p:nvPr/>
        </p:nvSpPr>
        <p:spPr>
          <a:xfrm>
            <a:off x="4241800" y="3136900"/>
            <a:ext cx="330200" cy="330200"/>
          </a:xfrm>
          <a:prstGeom prst="ellipse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  <a:endParaRPr lang="ko-KR" altLang="en-US" sz="13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F9695A-AA57-F848-8FC4-91D41A77C28F}"/>
              </a:ext>
            </a:extLst>
          </p:cNvPr>
          <p:cNvSpPr txBox="1"/>
          <p:nvPr/>
        </p:nvSpPr>
        <p:spPr>
          <a:xfrm>
            <a:off x="4673600" y="2959100"/>
            <a:ext cx="30988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00" b="1">
                <a:solidFill>
                  <a:srgbClr val="1F2A37"/>
                </a:solidFill>
                <a:latin typeface="맑은 고딕"/>
                <a:ea typeface="맑은 고딕"/>
              </a:rPr>
              <a:t>자산운용 투자연구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2B27A78-F4FB-6246-AF0E-ECE2A3CF1E70}"/>
              </a:ext>
            </a:extLst>
          </p:cNvPr>
          <p:cNvSpPr txBox="1"/>
          <p:nvPr/>
        </p:nvSpPr>
        <p:spPr>
          <a:xfrm>
            <a:off x="4673600" y="3238500"/>
            <a:ext cx="30988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150">
                <a:solidFill>
                  <a:srgbClr val="5A6472"/>
                </a:solidFill>
                <a:latin typeface="맑은 고딕"/>
                <a:ea typeface="맑은 고딕"/>
              </a:rPr>
              <a:t>거시경제 분석의 95%를 자동화해 자산배분 의사결정 가속화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23E190F-E1FE-DE41-855E-73921208A5B4}"/>
              </a:ext>
            </a:extLst>
          </p:cNvPr>
          <p:cNvSpPr/>
          <p:nvPr/>
        </p:nvSpPr>
        <p:spPr>
          <a:xfrm>
            <a:off x="4114800" y="3835400"/>
            <a:ext cx="3733800" cy="9144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B0A012D0-5AAB-A141-8CF8-16A1CDBCA3A9}"/>
              </a:ext>
            </a:extLst>
          </p:cNvPr>
          <p:cNvSpPr/>
          <p:nvPr/>
        </p:nvSpPr>
        <p:spPr>
          <a:xfrm>
            <a:off x="4241800" y="4127500"/>
            <a:ext cx="330200" cy="330200"/>
          </a:xfrm>
          <a:prstGeom prst="ellipse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  <a:endParaRPr lang="ko-KR" altLang="en-US" sz="13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B0BC454-5D10-D14C-981D-82B7E30509BD}"/>
              </a:ext>
            </a:extLst>
          </p:cNvPr>
          <p:cNvSpPr txBox="1"/>
          <p:nvPr/>
        </p:nvSpPr>
        <p:spPr>
          <a:xfrm>
            <a:off x="4673600" y="3949700"/>
            <a:ext cx="30988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00" b="1">
                <a:solidFill>
                  <a:srgbClr val="1F2A37"/>
                </a:solidFill>
                <a:latin typeface="맑은 고딕"/>
                <a:ea typeface="맑은 고딕"/>
              </a:rPr>
              <a:t>개인 신용대출 분석 및 의사결정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D1F9E0B-E16E-3245-99F5-ED85A7644EC7}"/>
              </a:ext>
            </a:extLst>
          </p:cNvPr>
          <p:cNvSpPr txBox="1"/>
          <p:nvPr/>
        </p:nvSpPr>
        <p:spPr>
          <a:xfrm>
            <a:off x="4673600" y="4229100"/>
            <a:ext cx="30988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150">
                <a:solidFill>
                  <a:srgbClr val="5A6472"/>
                </a:solidFill>
                <a:latin typeface="맑은 고딕"/>
                <a:ea typeface="맑은 고딕"/>
              </a:rPr>
              <a:t>사모 신용·M&amp;A 실사 데이터를 분석해 의사결정 지원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C19EBB7-ADC8-0B40-A5BB-DB996B24A76A}"/>
              </a:ext>
            </a:extLst>
          </p:cNvPr>
          <p:cNvSpPr txBox="1"/>
          <p:nvPr/>
        </p:nvSpPr>
        <p:spPr>
          <a:xfrm>
            <a:off x="508000" y="5054600"/>
            <a:ext cx="3048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1300" b="1">
                <a:solidFill>
                  <a:srgbClr val="16324F"/>
                </a:solidFill>
                <a:latin typeface="맑은 고딕"/>
                <a:ea typeface="맑은 고딕"/>
              </a:rPr>
              <a:t>Articul8 차별점</a:t>
            </a:r>
          </a:p>
        </p:txBody>
      </p:sp>
      <p:sp>
        <p:nvSpPr>
          <p:cNvPr id="46" name="모서리가 둥근 직사각형 45">
            <a:extLst>
              <a:ext uri="{FF2B5EF4-FFF2-40B4-BE49-F238E27FC236}">
                <a16:creationId xmlns:a16="http://schemas.microsoft.com/office/drawing/2014/main" id="{0E7228F7-7B64-C941-9011-B055216B6272}"/>
              </a:ext>
            </a:extLst>
          </p:cNvPr>
          <p:cNvSpPr/>
          <p:nvPr/>
        </p:nvSpPr>
        <p:spPr>
          <a:xfrm>
            <a:off x="508000" y="5359400"/>
            <a:ext cx="2641600" cy="609600"/>
          </a:xfrm>
          <a:prstGeom prst="roundRect">
            <a:avLst/>
          </a:prstGeom>
          <a:solidFill>
            <a:srgbClr val="E9EFF5"/>
          </a:solidFill>
          <a:ln w="9525" cap="flat" cmpd="sng" algn="ctr">
            <a:solidFill>
              <a:srgbClr val="16324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300" b="1">
                <a:solidFill>
                  <a:srgbClr val="16324F"/>
                </a:solidFill>
                <a:latin typeface="맑은 고딕"/>
                <a:ea typeface="맑은 고딕"/>
              </a:rPr>
              <a:t>100만+ 문서 자연어 검색</a:t>
            </a:r>
          </a:p>
        </p:txBody>
      </p:sp>
      <p:sp>
        <p:nvSpPr>
          <p:cNvPr id="47" name="모서리가 둥근 직사각형 46">
            <a:extLst>
              <a:ext uri="{FF2B5EF4-FFF2-40B4-BE49-F238E27FC236}">
                <a16:creationId xmlns:a16="http://schemas.microsoft.com/office/drawing/2014/main" id="{70C42031-B678-2442-BD5C-BE8D40E4E742}"/>
              </a:ext>
            </a:extLst>
          </p:cNvPr>
          <p:cNvSpPr/>
          <p:nvPr/>
        </p:nvSpPr>
        <p:spPr>
          <a:xfrm>
            <a:off x="3352800" y="5359400"/>
            <a:ext cx="2641600" cy="609600"/>
          </a:xfrm>
          <a:prstGeom prst="roundRect">
            <a:avLst/>
          </a:prstGeom>
          <a:solidFill>
            <a:srgbClr val="E9EFF5"/>
          </a:solidFill>
          <a:ln w="9525" cap="flat" cmpd="sng" algn="ctr">
            <a:solidFill>
              <a:srgbClr val="16324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300" b="1">
                <a:solidFill>
                  <a:srgbClr val="16324F"/>
                </a:solidFill>
                <a:latin typeface="맑은 고딕"/>
                <a:ea typeface="맑은 고딕"/>
              </a:rPr>
              <a:t>95% 자동화된 분석</a:t>
            </a:r>
          </a:p>
        </p:txBody>
      </p:sp>
      <p:sp>
        <p:nvSpPr>
          <p:cNvPr id="48" name="모서리가 둥근 직사각형 47">
            <a:extLst>
              <a:ext uri="{FF2B5EF4-FFF2-40B4-BE49-F238E27FC236}">
                <a16:creationId xmlns:a16="http://schemas.microsoft.com/office/drawing/2014/main" id="{79BAA779-6646-954A-A66D-2E52323E41C5}"/>
              </a:ext>
            </a:extLst>
          </p:cNvPr>
          <p:cNvSpPr/>
          <p:nvPr/>
        </p:nvSpPr>
        <p:spPr>
          <a:xfrm>
            <a:off x="6197600" y="5359400"/>
            <a:ext cx="2641600" cy="609600"/>
          </a:xfrm>
          <a:prstGeom prst="roundRect">
            <a:avLst/>
          </a:prstGeom>
          <a:solidFill>
            <a:srgbClr val="E9EFF5"/>
          </a:solidFill>
          <a:ln w="9525" cap="flat" cmpd="sng" algn="ctr">
            <a:solidFill>
              <a:srgbClr val="16324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300" b="1">
                <a:solidFill>
                  <a:srgbClr val="16324F"/>
                </a:solidFill>
                <a:latin typeface="맑은 고딕"/>
                <a:ea typeface="맑은 고딕"/>
              </a:rPr>
              <a:t>감사 가능한 추적성</a:t>
            </a:r>
          </a:p>
        </p:txBody>
      </p:sp>
      <p:sp>
        <p:nvSpPr>
          <p:cNvPr id="49" name="모서리가 둥근 직사각형 48">
            <a:extLst>
              <a:ext uri="{FF2B5EF4-FFF2-40B4-BE49-F238E27FC236}">
                <a16:creationId xmlns:a16="http://schemas.microsoft.com/office/drawing/2014/main" id="{5B104DA1-5C58-524A-83CC-E884B6197714}"/>
              </a:ext>
            </a:extLst>
          </p:cNvPr>
          <p:cNvSpPr/>
          <p:nvPr/>
        </p:nvSpPr>
        <p:spPr>
          <a:xfrm>
            <a:off x="9042400" y="5359400"/>
            <a:ext cx="2641600" cy="609600"/>
          </a:xfrm>
          <a:prstGeom prst="roundRect">
            <a:avLst/>
          </a:prstGeom>
          <a:solidFill>
            <a:srgbClr val="E9EFF5"/>
          </a:solidFill>
          <a:ln w="9525" cap="flat" cmpd="sng" algn="ctr">
            <a:solidFill>
              <a:srgbClr val="16324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300" b="1">
                <a:solidFill>
                  <a:srgbClr val="16324F"/>
                </a:solidFill>
                <a:latin typeface="맑은 고딕"/>
                <a:ea typeface="맑은 고딕"/>
              </a:rPr>
              <a:t>유연한 배포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9CCAB46-6440-1C4E-8E1E-5A6B4EDB2273}"/>
              </a:ext>
            </a:extLst>
          </p:cNvPr>
          <p:cNvSpPr txBox="1"/>
          <p:nvPr/>
        </p:nvSpPr>
        <p:spPr>
          <a:xfrm>
            <a:off x="546100" y="64770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1000">
                <a:solidFill>
                  <a:srgbClr val="5A6472"/>
                </a:solidFill>
                <a:latin typeface="맑은 고딕"/>
                <a:ea typeface="맑은 고딕"/>
              </a:rPr>
              <a:t>ARTICUL8   |   Use Case 10 — 금융 서비스 활용 사례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4775C15-71EC-ACB6-EC27-7126964D5142}"/>
              </a:ext>
            </a:extLst>
          </p:cNvPr>
          <p:cNvSpPr/>
          <p:nvPr/>
        </p:nvSpPr>
        <p:spPr>
          <a:xfrm>
            <a:off x="8331200" y="1271846"/>
            <a:ext cx="3365500" cy="3706553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EC42C13-DAE2-F3E8-670A-261FF710D695}"/>
              </a:ext>
            </a:extLst>
          </p:cNvPr>
          <p:cNvSpPr/>
          <p:nvPr/>
        </p:nvSpPr>
        <p:spPr>
          <a:xfrm>
            <a:off x="8331200" y="1271847"/>
            <a:ext cx="3365500" cy="431800"/>
          </a:xfrm>
          <a:prstGeom prst="rect">
            <a:avLst/>
          </a:prstGeom>
          <a:solidFill>
            <a:srgbClr val="2E9E5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FFFFFF"/>
                </a:solidFill>
                <a:latin typeface="맑은 고딕"/>
                <a:ea typeface="맑은 고딕"/>
              </a:rPr>
              <a:t>핵심 성과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68174B-0037-3263-B01B-F47E15B205D2}"/>
              </a:ext>
            </a:extLst>
          </p:cNvPr>
          <p:cNvSpPr txBox="1"/>
          <p:nvPr/>
        </p:nvSpPr>
        <p:spPr>
          <a:xfrm>
            <a:off x="8456428" y="2121592"/>
            <a:ext cx="1408814" cy="4826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-US" altLang="ko-KR" sz="2400" b="1" dirty="0">
                <a:solidFill>
                  <a:srgbClr val="2E9E5B"/>
                </a:solidFill>
                <a:latin typeface="맑은 고딕"/>
                <a:ea typeface="맑은 고딕"/>
              </a:rPr>
              <a:t>100만+</a:t>
            </a:r>
            <a:endParaRPr lang="ko-KR" altLang="en-US" sz="2400" b="1" dirty="0">
              <a:solidFill>
                <a:srgbClr val="2E9E5B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5987A5-BDE4-7C88-043E-1CC16A067B6F}"/>
              </a:ext>
            </a:extLst>
          </p:cNvPr>
          <p:cNvSpPr txBox="1"/>
          <p:nvPr/>
        </p:nvSpPr>
        <p:spPr>
          <a:xfrm>
            <a:off x="9974816" y="2172392"/>
            <a:ext cx="1643616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300" b="1">
                <a:solidFill>
                  <a:srgbClr val="1F2A37"/>
                </a:solidFill>
                <a:latin typeface="맑은 고딕"/>
                <a:ea typeface="맑은 고딕"/>
              </a:rPr>
              <a:t>정확하게 검색·분석되는 재무 문서 건수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E1341B-6208-6897-1D90-80F844B18190}"/>
              </a:ext>
            </a:extLst>
          </p:cNvPr>
          <p:cNvSpPr txBox="1"/>
          <p:nvPr/>
        </p:nvSpPr>
        <p:spPr>
          <a:xfrm>
            <a:off x="8456428" y="3082636"/>
            <a:ext cx="1408814" cy="4826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-US" altLang="ko-KR" sz="2400" b="1">
                <a:solidFill>
                  <a:srgbClr val="2E9E5B"/>
                </a:solidFill>
                <a:latin typeface="맑은 고딕"/>
                <a:ea typeface="맑은 고딕"/>
              </a:rPr>
              <a:t>95%</a:t>
            </a:r>
            <a:endParaRPr lang="ko-KR" altLang="en-US" sz="2400" b="1">
              <a:solidFill>
                <a:srgbClr val="2E9E5B"/>
              </a:solidFill>
              <a:latin typeface="맑은 고딕"/>
              <a:ea typeface="맑은 고딕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C9C64D-9CDC-D0CE-2777-C937696AE98E}"/>
              </a:ext>
            </a:extLst>
          </p:cNvPr>
          <p:cNvSpPr txBox="1"/>
          <p:nvPr/>
        </p:nvSpPr>
        <p:spPr>
          <a:xfrm>
            <a:off x="9974816" y="3133436"/>
            <a:ext cx="1643616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300" b="1">
                <a:solidFill>
                  <a:srgbClr val="1F2A37"/>
                </a:solidFill>
                <a:latin typeface="맑은 고딕"/>
                <a:ea typeface="맑은 고딕"/>
              </a:rPr>
              <a:t>자동 완성되는 거시경제 분석 보고서 비율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3DBC24-9C59-6AB7-64EB-95BAF28EC98F}"/>
              </a:ext>
            </a:extLst>
          </p:cNvPr>
          <p:cNvSpPr txBox="1"/>
          <p:nvPr/>
        </p:nvSpPr>
        <p:spPr>
          <a:xfrm>
            <a:off x="8456428" y="4168371"/>
            <a:ext cx="1408814" cy="4826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2400" b="1" dirty="0">
                <a:solidFill>
                  <a:srgbClr val="2E9E5B"/>
                </a:solidFill>
                <a:latin typeface="맑은 고딕"/>
                <a:ea typeface="맑은 고딕"/>
              </a:rPr>
              <a:t>몇 주→분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084D86-3DF5-7B16-D1BE-E727283D551C}"/>
              </a:ext>
            </a:extLst>
          </p:cNvPr>
          <p:cNvSpPr txBox="1"/>
          <p:nvPr/>
        </p:nvSpPr>
        <p:spPr>
          <a:xfrm>
            <a:off x="9974816" y="4219171"/>
            <a:ext cx="1643616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300" b="1">
                <a:solidFill>
                  <a:srgbClr val="1F2A37"/>
                </a:solidFill>
                <a:latin typeface="맑은 고딕"/>
                <a:ea typeface="맑은 고딕"/>
              </a:rPr>
              <a:t>자산배분 실사 소요 기간 단축</a:t>
            </a:r>
          </a:p>
        </p:txBody>
      </p:sp>
    </p:spTree>
    <p:extLst>
      <p:ext uri="{BB962C8B-B14F-4D97-AF65-F5344CB8AC3E}">
        <p14:creationId xmlns:p14="http://schemas.microsoft.com/office/powerpoint/2010/main" val="2845687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7565A6-7C04-D94E-B53B-85C5D720F0DD}"/>
              </a:ext>
            </a:extLst>
          </p:cNvPr>
          <p:cNvSpPr txBox="1"/>
          <p:nvPr/>
        </p:nvSpPr>
        <p:spPr>
          <a:xfrm>
            <a:off x="508000" y="533400"/>
            <a:ext cx="111760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2400" b="1">
                <a:solidFill>
                  <a:srgbClr val="1F2A37"/>
                </a:solidFill>
                <a:latin typeface="맑은 고딕"/>
                <a:ea typeface="맑은 고딕"/>
              </a:rPr>
              <a:t>Articul8 솔루션 요약: 에이전트 · 포지셔닝 · 성과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4926657-4550-A444-92A4-6DD56FEC7340}"/>
              </a:ext>
            </a:extLst>
          </p:cNvPr>
          <p:cNvSpPr/>
          <p:nvPr/>
        </p:nvSpPr>
        <p:spPr>
          <a:xfrm>
            <a:off x="508000" y="1066800"/>
            <a:ext cx="914400" cy="50800"/>
          </a:xfrm>
          <a:prstGeom prst="rect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D1D138-851D-5D49-A2A1-51E6BCA8FD21}"/>
              </a:ext>
            </a:extLst>
          </p:cNvPr>
          <p:cNvSpPr txBox="1"/>
          <p:nvPr/>
        </p:nvSpPr>
        <p:spPr>
          <a:xfrm>
            <a:off x="508000" y="1244600"/>
            <a:ext cx="11176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300" b="1">
                <a:solidFill>
                  <a:srgbClr val="16324F"/>
                </a:solidFill>
                <a:latin typeface="맑은 고딕"/>
                <a:ea typeface="맑은 고딕"/>
              </a:rPr>
              <a:t>핵심 에이전트 파이프라인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8D81286-6DE4-3046-8ECA-0A33F76E4916}"/>
              </a:ext>
            </a:extLst>
          </p:cNvPr>
          <p:cNvSpPr/>
          <p:nvPr/>
        </p:nvSpPr>
        <p:spPr>
          <a:xfrm>
            <a:off x="508000" y="1549400"/>
            <a:ext cx="3403600" cy="1371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7ED26F5-5366-724A-9182-E5B3F061C69A}"/>
              </a:ext>
            </a:extLst>
          </p:cNvPr>
          <p:cNvSpPr/>
          <p:nvPr/>
        </p:nvSpPr>
        <p:spPr>
          <a:xfrm>
            <a:off x="508000" y="1549400"/>
            <a:ext cx="3403600" cy="50800"/>
          </a:xfrm>
          <a:prstGeom prst="rect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094C52D-BEE1-5B44-8D7E-1B46E31AAAD2}"/>
              </a:ext>
            </a:extLst>
          </p:cNvPr>
          <p:cNvSpPr/>
          <p:nvPr/>
        </p:nvSpPr>
        <p:spPr>
          <a:xfrm>
            <a:off x="685800" y="1752600"/>
            <a:ext cx="355600" cy="355600"/>
          </a:xfrm>
          <a:prstGeom prst="ellipse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  <a:endParaRPr lang="ko-KR" altLang="en-US" sz="14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84D0AB-3454-B04A-9BEB-AFF331840824}"/>
              </a:ext>
            </a:extLst>
          </p:cNvPr>
          <p:cNvSpPr txBox="1"/>
          <p:nvPr/>
        </p:nvSpPr>
        <p:spPr>
          <a:xfrm>
            <a:off x="1143000" y="1727200"/>
            <a:ext cx="26670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50" b="1">
                <a:solidFill>
                  <a:srgbClr val="1F2A37"/>
                </a:solidFill>
                <a:latin typeface="맑은 고딕"/>
                <a:ea typeface="맑은 고딕"/>
              </a:rPr>
              <a:t>재무분석 Assistant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466BDB-A279-AF48-A1B9-7D4D32BC8D38}"/>
              </a:ext>
            </a:extLst>
          </p:cNvPr>
          <p:cNvSpPr txBox="1"/>
          <p:nvPr/>
        </p:nvSpPr>
        <p:spPr>
          <a:xfrm>
            <a:off x="1143000" y="2006600"/>
            <a:ext cx="26670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" altLang="ko-KR" sz="1000">
                <a:solidFill>
                  <a:srgbClr val="5A6472"/>
                </a:solidFill>
                <a:latin typeface="맑은 고딕"/>
                <a:ea typeface="맑은 고딕"/>
              </a:rPr>
              <a:t>Financial Research Assistant</a:t>
            </a:r>
            <a:endParaRPr lang="ko-KR" altLang="en-US" sz="1000">
              <a:solidFill>
                <a:srgbClr val="5A6472"/>
              </a:solidFill>
              <a:latin typeface="맑은 고딕"/>
              <a:ea typeface="맑은 고딕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626644-2EB5-1145-A0AD-DA81185CAC58}"/>
              </a:ext>
            </a:extLst>
          </p:cNvPr>
          <p:cNvSpPr txBox="1"/>
          <p:nvPr/>
        </p:nvSpPr>
        <p:spPr>
          <a:xfrm>
            <a:off x="711200" y="2311400"/>
            <a:ext cx="3022600" cy="533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기업 공시·실적발표·애널리스트 보고서를 분석해 자동화된 투자 메모 생성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C8BDCF0-8366-8E47-AB46-7AE6B7537B17}"/>
              </a:ext>
            </a:extLst>
          </p:cNvPr>
          <p:cNvSpPr/>
          <p:nvPr/>
        </p:nvSpPr>
        <p:spPr>
          <a:xfrm>
            <a:off x="4394200" y="1549400"/>
            <a:ext cx="3403600" cy="1371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3E26EEF-18DC-3C4A-BAA9-3BB4F7FF7CBB}"/>
              </a:ext>
            </a:extLst>
          </p:cNvPr>
          <p:cNvSpPr/>
          <p:nvPr/>
        </p:nvSpPr>
        <p:spPr>
          <a:xfrm>
            <a:off x="4394200" y="1549400"/>
            <a:ext cx="3403600" cy="50800"/>
          </a:xfrm>
          <a:prstGeom prst="rect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D7E8AE27-7B5B-EC4C-9A5E-4EE7046A35AC}"/>
              </a:ext>
            </a:extLst>
          </p:cNvPr>
          <p:cNvSpPr/>
          <p:nvPr/>
        </p:nvSpPr>
        <p:spPr>
          <a:xfrm>
            <a:off x="4572000" y="1752600"/>
            <a:ext cx="355600" cy="355600"/>
          </a:xfrm>
          <a:prstGeom prst="ellipse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  <a:endParaRPr lang="ko-KR" altLang="en-US" sz="14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AA37FD-AA91-9748-9884-36A6B517A41F}"/>
              </a:ext>
            </a:extLst>
          </p:cNvPr>
          <p:cNvSpPr txBox="1"/>
          <p:nvPr/>
        </p:nvSpPr>
        <p:spPr>
          <a:xfrm>
            <a:off x="5029200" y="1727200"/>
            <a:ext cx="26670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50" b="1">
                <a:solidFill>
                  <a:srgbClr val="1F2A37"/>
                </a:solidFill>
                <a:latin typeface="맑은 고딕"/>
                <a:ea typeface="맑은 고딕"/>
              </a:rPr>
              <a:t>자산운용 투자연구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0B96F5-B392-7345-97E4-E447E770FF6D}"/>
              </a:ext>
            </a:extLst>
          </p:cNvPr>
          <p:cNvSpPr txBox="1"/>
          <p:nvPr/>
        </p:nvSpPr>
        <p:spPr>
          <a:xfrm>
            <a:off x="5029200" y="2006600"/>
            <a:ext cx="26670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" altLang="ko-KR" sz="1000">
                <a:solidFill>
                  <a:srgbClr val="5A6472"/>
                </a:solidFill>
                <a:latin typeface="맑은 고딕"/>
                <a:ea typeface="맑은 고딕"/>
              </a:rPr>
              <a:t>Macro Investment Research</a:t>
            </a:r>
            <a:endParaRPr lang="ko-KR" altLang="en-US" sz="1000">
              <a:solidFill>
                <a:srgbClr val="5A6472"/>
              </a:solidFill>
              <a:latin typeface="맑은 고딕"/>
              <a:ea typeface="맑은 고딕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C91A5D-8ADC-1A45-B37D-2D673FF6569A}"/>
              </a:ext>
            </a:extLst>
          </p:cNvPr>
          <p:cNvSpPr txBox="1"/>
          <p:nvPr/>
        </p:nvSpPr>
        <p:spPr>
          <a:xfrm>
            <a:off x="4597400" y="2311400"/>
            <a:ext cx="3022600" cy="533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국가별 거시경제 데이터를 통합 분석해 자산배분 의사결정 가속화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4B68D14-7992-6E43-9656-B863A48C88CB}"/>
              </a:ext>
            </a:extLst>
          </p:cNvPr>
          <p:cNvSpPr/>
          <p:nvPr/>
        </p:nvSpPr>
        <p:spPr>
          <a:xfrm>
            <a:off x="8280400" y="1549400"/>
            <a:ext cx="3403600" cy="1371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C904039-4B31-D549-9345-C9F92E309883}"/>
              </a:ext>
            </a:extLst>
          </p:cNvPr>
          <p:cNvSpPr/>
          <p:nvPr/>
        </p:nvSpPr>
        <p:spPr>
          <a:xfrm>
            <a:off x="8280400" y="1549400"/>
            <a:ext cx="3403600" cy="50800"/>
          </a:xfrm>
          <a:prstGeom prst="rect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451FBB03-71D4-3B4D-BDF4-DC4AEEF5927D}"/>
              </a:ext>
            </a:extLst>
          </p:cNvPr>
          <p:cNvSpPr/>
          <p:nvPr/>
        </p:nvSpPr>
        <p:spPr>
          <a:xfrm>
            <a:off x="8458200" y="1752600"/>
            <a:ext cx="355600" cy="355600"/>
          </a:xfrm>
          <a:prstGeom prst="ellipse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  <a:endParaRPr lang="ko-KR" altLang="en-US" sz="14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4F8D71-EF1E-E843-A4EF-28A568371717}"/>
              </a:ext>
            </a:extLst>
          </p:cNvPr>
          <p:cNvSpPr txBox="1"/>
          <p:nvPr/>
        </p:nvSpPr>
        <p:spPr>
          <a:xfrm>
            <a:off x="8915400" y="1727200"/>
            <a:ext cx="26670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50" b="1">
                <a:solidFill>
                  <a:srgbClr val="1F2A37"/>
                </a:solidFill>
                <a:latin typeface="맑은 고딕"/>
                <a:ea typeface="맑은 고딕"/>
              </a:rPr>
              <a:t>개인 신용대출 분석 및 의사결정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D4587B-7045-0848-A894-9C8FE8071BA8}"/>
              </a:ext>
            </a:extLst>
          </p:cNvPr>
          <p:cNvSpPr txBox="1"/>
          <p:nvPr/>
        </p:nvSpPr>
        <p:spPr>
          <a:xfrm>
            <a:off x="8915400" y="2006600"/>
            <a:ext cx="26670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" altLang="ko-KR" sz="1000">
                <a:solidFill>
                  <a:srgbClr val="5A6472"/>
                </a:solidFill>
                <a:latin typeface="맑은 고딕"/>
                <a:ea typeface="맑은 고딕"/>
              </a:rPr>
              <a:t>Private Credit Decisioning</a:t>
            </a:r>
            <a:endParaRPr lang="ko-KR" altLang="en-US" sz="1000">
              <a:solidFill>
                <a:srgbClr val="5A6472"/>
              </a:solidFill>
              <a:latin typeface="맑은 고딕"/>
              <a:ea typeface="맑은 고딕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4BA5D4-6542-7C4F-B3C3-5E494633AB0E}"/>
              </a:ext>
            </a:extLst>
          </p:cNvPr>
          <p:cNvSpPr txBox="1"/>
          <p:nvPr/>
        </p:nvSpPr>
        <p:spPr>
          <a:xfrm>
            <a:off x="8483600" y="2311400"/>
            <a:ext cx="3022600" cy="533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CIM·실사 보고서를 분석해 사모 신용 의사결정과 약정 모니터링 지원</a:t>
            </a:r>
          </a:p>
        </p:txBody>
      </p:sp>
      <p:sp>
        <p:nvSpPr>
          <p:cNvPr id="24" name="오른쪽 화살표[R] 23">
            <a:extLst>
              <a:ext uri="{FF2B5EF4-FFF2-40B4-BE49-F238E27FC236}">
                <a16:creationId xmlns:a16="http://schemas.microsoft.com/office/drawing/2014/main" id="{B7B5D4A8-791D-CC49-B5FB-7B7F13BE1FBA}"/>
              </a:ext>
            </a:extLst>
          </p:cNvPr>
          <p:cNvSpPr/>
          <p:nvPr/>
        </p:nvSpPr>
        <p:spPr>
          <a:xfrm>
            <a:off x="3962400" y="2057400"/>
            <a:ext cx="381000" cy="355600"/>
          </a:xfrm>
          <a:prstGeom prst="rightArrow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오른쪽 화살표[R] 24">
            <a:extLst>
              <a:ext uri="{FF2B5EF4-FFF2-40B4-BE49-F238E27FC236}">
                <a16:creationId xmlns:a16="http://schemas.microsoft.com/office/drawing/2014/main" id="{2390B8C5-7293-B645-B3CD-531CE6E73892}"/>
              </a:ext>
            </a:extLst>
          </p:cNvPr>
          <p:cNvSpPr/>
          <p:nvPr/>
        </p:nvSpPr>
        <p:spPr>
          <a:xfrm>
            <a:off x="7848600" y="2057400"/>
            <a:ext cx="381000" cy="355600"/>
          </a:xfrm>
          <a:prstGeom prst="rightArrow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932696C-89E1-3943-B45B-BB53FEC47216}"/>
              </a:ext>
            </a:extLst>
          </p:cNvPr>
          <p:cNvSpPr/>
          <p:nvPr/>
        </p:nvSpPr>
        <p:spPr>
          <a:xfrm>
            <a:off x="508000" y="2997200"/>
            <a:ext cx="11176000" cy="330200"/>
          </a:xfrm>
          <a:prstGeom prst="rect">
            <a:avLst/>
          </a:prstGeom>
          <a:solidFill>
            <a:srgbClr val="EEF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200">
                <a:solidFill>
                  <a:srgbClr val="16324F"/>
                </a:solidFill>
                <a:latin typeface="맑은 고딕"/>
                <a:ea typeface="맑은 고딕"/>
              </a:rPr>
              <a:t>금융 서비스 전반의 활용 사례  —  재무분석 · 거시경제 투자연구 · 사모 신용 의사결정 지원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78E6047-236C-0849-99C4-4D1B0B397FE2}"/>
              </a:ext>
            </a:extLst>
          </p:cNvPr>
          <p:cNvSpPr/>
          <p:nvPr/>
        </p:nvSpPr>
        <p:spPr>
          <a:xfrm>
            <a:off x="508000" y="3505200"/>
            <a:ext cx="5461000" cy="28194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4D5C0A3-B348-A948-9D23-7332344B7F76}"/>
              </a:ext>
            </a:extLst>
          </p:cNvPr>
          <p:cNvSpPr/>
          <p:nvPr/>
        </p:nvSpPr>
        <p:spPr>
          <a:xfrm>
            <a:off x="508000" y="3505200"/>
            <a:ext cx="5461000" cy="431800"/>
          </a:xfrm>
          <a:prstGeom prst="rect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FFFFFF"/>
                </a:solidFill>
                <a:latin typeface="맑은 고딕"/>
                <a:ea typeface="맑은 고딕"/>
              </a:rPr>
              <a:t>독보적 포지셔닝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4E94C1F-2475-BA4E-BC7C-CA3028479198}"/>
              </a:ext>
            </a:extLst>
          </p:cNvPr>
          <p:cNvSpPr txBox="1"/>
          <p:nvPr/>
        </p:nvSpPr>
        <p:spPr>
          <a:xfrm>
            <a:off x="685800" y="4064000"/>
            <a:ext cx="5130800" cy="2184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-US" altLang="ko-KR" sz="1300">
                <a:solidFill>
                  <a:srgbClr val="1F2A37"/>
                </a:solidFill>
                <a:latin typeface="맑은 고딕"/>
                <a:ea typeface="맑은 고딕"/>
              </a:rPr>
              <a:t>•  100만 건 이상의 문서에서 정확하고 추적 가능한 자연어 검색
•  거시경제 분석의 95%를 자동화해 전문가는 나머지 5%에 집중
•  자동화된 산업별 투자 메모와 감사 가능한 재무 분석
•  사모 신용 워크플로우와 거래 후 약정 모니터링 혁신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184AD9C-4B11-934A-828E-553E9FEF0A34}"/>
              </a:ext>
            </a:extLst>
          </p:cNvPr>
          <p:cNvSpPr txBox="1"/>
          <p:nvPr/>
        </p:nvSpPr>
        <p:spPr>
          <a:xfrm>
            <a:off x="546100" y="64770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1000">
                <a:solidFill>
                  <a:srgbClr val="5A6472"/>
                </a:solidFill>
                <a:latin typeface="맑은 고딕"/>
                <a:ea typeface="맑은 고딕"/>
              </a:rPr>
              <a:t>ARTICUL8   |   Use Case 10 — 금융 서비스 활용 사례</a:t>
            </a:r>
          </a:p>
        </p:txBody>
      </p:sp>
      <p:sp>
        <p:nvSpPr>
          <p:cNvPr id="39" name="Rectangle RightPanel BG">
            <a:extLst>
              <a:ext uri="{FF2B5EF4-FFF2-40B4-BE49-F238E27FC236}">
                <a16:creationId xmlns:a16="http://schemas.microsoft.com/office/drawing/2014/main" id="{A97A084E-703B-764C-8E68-C3EE1F8C5ED1}"/>
              </a:ext>
            </a:extLst>
          </p:cNvPr>
          <p:cNvSpPr/>
          <p:nvPr/>
        </p:nvSpPr>
        <p:spPr>
          <a:xfrm>
            <a:off x="6223000" y="3505200"/>
            <a:ext cx="5461000" cy="28194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0" name="Rectangle RightPanel Header">
            <a:extLst>
              <a:ext uri="{FF2B5EF4-FFF2-40B4-BE49-F238E27FC236}">
                <a16:creationId xmlns:a16="http://schemas.microsoft.com/office/drawing/2014/main" id="{A097E8A4-CAA5-3B4F-969A-A7DD33F01FDC}"/>
              </a:ext>
            </a:extLst>
          </p:cNvPr>
          <p:cNvSpPr/>
          <p:nvPr/>
        </p:nvSpPr>
        <p:spPr>
          <a:xfrm>
            <a:off x="6223000" y="3505200"/>
            <a:ext cx="5461000" cy="431800"/>
          </a:xfrm>
          <a:prstGeom prst="rect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FFFFFF"/>
                </a:solidFill>
                <a:latin typeface="맑은 고딕"/>
                <a:ea typeface="맑은 고딕"/>
              </a:rPr>
              <a:t>기대 도입 효과</a:t>
            </a:r>
          </a:p>
        </p:txBody>
      </p:sp>
      <p:sp>
        <p:nvSpPr>
          <p:cNvPr id="41" name="TextBox RightPanel Body">
            <a:extLst>
              <a:ext uri="{FF2B5EF4-FFF2-40B4-BE49-F238E27FC236}">
                <a16:creationId xmlns:a16="http://schemas.microsoft.com/office/drawing/2014/main" id="{0813CE03-395A-F94F-BD47-0F3106FCA296}"/>
              </a:ext>
            </a:extLst>
          </p:cNvPr>
          <p:cNvSpPr txBox="1"/>
          <p:nvPr/>
        </p:nvSpPr>
        <p:spPr>
          <a:xfrm>
            <a:off x="6400800" y="4064000"/>
            <a:ext cx="5130800" cy="2184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300">
                <a:solidFill>
                  <a:srgbClr val="1F2A37"/>
                </a:solidFill>
                <a:latin typeface="맑은 고딕"/>
                <a:ea typeface="맑은 고딕"/>
              </a:rPr>
              <a:t>•  리서치 생산성 — 방대한 재무 문서 분석 시간을 대폭 단축
•  의사결정 속도 — 거시경제 분석 95% 자동화로 자산배분 결정 가속화
•  리스크 관리 — 심층 실사 분석으로 사모 신용 의사결정 고도화</a:t>
            </a:r>
          </a:p>
        </p:txBody>
      </p:sp>
    </p:spTree>
    <p:extLst>
      <p:ext uri="{BB962C8B-B14F-4D97-AF65-F5344CB8AC3E}">
        <p14:creationId xmlns:p14="http://schemas.microsoft.com/office/powerpoint/2010/main" val="3083398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54EC1E-4C33-FD49-B024-5AEC883E3CA4}"/>
              </a:ext>
            </a:extLst>
          </p:cNvPr>
          <p:cNvSpPr txBox="1"/>
          <p:nvPr/>
        </p:nvSpPr>
        <p:spPr>
          <a:xfrm>
            <a:off x="508000" y="279400"/>
            <a:ext cx="11176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1300" b="1">
                <a:solidFill>
                  <a:srgbClr val="E8622C"/>
                </a:solidFill>
                <a:latin typeface="맑은 고딕"/>
                <a:ea typeface="맑은 고딕"/>
              </a:rPr>
              <a:t>A8 솔루션 · 에이전트 상세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FACCC9-57C9-184D-ABC5-9FACF114F585}"/>
              </a:ext>
            </a:extLst>
          </p:cNvPr>
          <p:cNvSpPr txBox="1"/>
          <p:nvPr/>
        </p:nvSpPr>
        <p:spPr>
          <a:xfrm>
            <a:off x="508000" y="533400"/>
            <a:ext cx="111760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2400" b="1">
                <a:solidFill>
                  <a:srgbClr val="1F2A37"/>
                </a:solidFill>
                <a:latin typeface="맑은 고딕"/>
                <a:ea typeface="맑은 고딕"/>
              </a:rPr>
              <a:t>세 가지 핵심 에이전트 상세 설명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803A311-B387-5940-B499-DCB29B702CC3}"/>
              </a:ext>
            </a:extLst>
          </p:cNvPr>
          <p:cNvSpPr/>
          <p:nvPr/>
        </p:nvSpPr>
        <p:spPr>
          <a:xfrm>
            <a:off x="508000" y="1066800"/>
            <a:ext cx="914400" cy="50800"/>
          </a:xfrm>
          <a:prstGeom prst="rect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BF28D8D-12F9-574B-8637-DF33D61C9D31}"/>
              </a:ext>
            </a:extLst>
          </p:cNvPr>
          <p:cNvSpPr/>
          <p:nvPr/>
        </p:nvSpPr>
        <p:spPr>
          <a:xfrm>
            <a:off x="508000" y="1270000"/>
            <a:ext cx="3556000" cy="50546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F9B84D6-C3B1-BB43-A8DE-F614D34BFD37}"/>
              </a:ext>
            </a:extLst>
          </p:cNvPr>
          <p:cNvSpPr/>
          <p:nvPr/>
        </p:nvSpPr>
        <p:spPr>
          <a:xfrm>
            <a:off x="508000" y="1270000"/>
            <a:ext cx="3556000" cy="711200"/>
          </a:xfrm>
          <a:prstGeom prst="rect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endParaRPr lang="ko-KR" altLang="en-US" sz="15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F2B82E6-7FE5-6640-A31D-2965661A64BC}"/>
              </a:ext>
            </a:extLst>
          </p:cNvPr>
          <p:cNvSpPr/>
          <p:nvPr/>
        </p:nvSpPr>
        <p:spPr>
          <a:xfrm>
            <a:off x="685800" y="1473200"/>
            <a:ext cx="381000" cy="381000"/>
          </a:xfrm>
          <a:prstGeom prst="ellipse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  <a:endParaRPr lang="ko-KR" altLang="en-US" sz="14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FDEDAE-7F71-3249-A77F-102A5545CDBC}"/>
              </a:ext>
            </a:extLst>
          </p:cNvPr>
          <p:cNvSpPr txBox="1"/>
          <p:nvPr/>
        </p:nvSpPr>
        <p:spPr>
          <a:xfrm>
            <a:off x="1168400" y="1397000"/>
            <a:ext cx="27686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50" b="1">
                <a:solidFill>
                  <a:srgbClr val="FFFFFF"/>
                </a:solidFill>
                <a:latin typeface="맑은 고딕"/>
                <a:ea typeface="맑은 고딕"/>
              </a:rPr>
              <a:t>재무분석 Assistant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B74A9F-FAF6-AD4A-8960-87809465B7BF}"/>
              </a:ext>
            </a:extLst>
          </p:cNvPr>
          <p:cNvSpPr txBox="1"/>
          <p:nvPr/>
        </p:nvSpPr>
        <p:spPr>
          <a:xfrm>
            <a:off x="1168400" y="1689100"/>
            <a:ext cx="27686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" altLang="ko-KR" sz="1000">
                <a:solidFill>
                  <a:srgbClr val="C9D6E3"/>
                </a:solidFill>
                <a:latin typeface="맑은 고딕"/>
                <a:ea typeface="맑은 고딕"/>
              </a:rPr>
              <a:t>Financial Research Assistant</a:t>
            </a:r>
            <a:endParaRPr lang="ko-KR" altLang="en-US" sz="1000">
              <a:solidFill>
                <a:srgbClr val="C9D6E3"/>
              </a:solidFill>
              <a:latin typeface="맑은 고딕"/>
              <a:ea typeface="맑은 고딕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A3EFAC-7ECC-F44D-B09A-D1CBB2A62670}"/>
              </a:ext>
            </a:extLst>
          </p:cNvPr>
          <p:cNvSpPr txBox="1"/>
          <p:nvPr/>
        </p:nvSpPr>
        <p:spPr>
          <a:xfrm>
            <a:off x="711200" y="21082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역할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44962D-AC33-074B-861B-75E20F90E81E}"/>
              </a:ext>
            </a:extLst>
          </p:cNvPr>
          <p:cNvSpPr txBox="1"/>
          <p:nvPr/>
        </p:nvSpPr>
        <p:spPr>
          <a:xfrm>
            <a:off x="711200" y="2362200"/>
            <a:ext cx="31496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상장주식 및 산업 분야 재무 데이터를 분석해 투자 인사이트를 자동 생성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643F42-7096-B040-92BE-6F3927A07E95}"/>
              </a:ext>
            </a:extLst>
          </p:cNvPr>
          <p:cNvSpPr txBox="1"/>
          <p:nvPr/>
        </p:nvSpPr>
        <p:spPr>
          <a:xfrm>
            <a:off x="711200" y="29972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핵심 기능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5FA338-FF5B-3C4A-8250-B6E32AD94287}"/>
              </a:ext>
            </a:extLst>
          </p:cNvPr>
          <p:cNvSpPr txBox="1"/>
          <p:nvPr/>
        </p:nvSpPr>
        <p:spPr>
          <a:xfrm>
            <a:off x="711200" y="3251200"/>
            <a:ext cx="3149600" cy="177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-US" altLang="ko-KR" sz="1200">
                <a:solidFill>
                  <a:srgbClr val="1F2A37"/>
                </a:solidFill>
                <a:latin typeface="맑은 고딕"/>
                <a:ea typeface="맑은 고딕"/>
              </a:rPr>
              <a:t>•  기업 공시자료·SEC 자료·실적발표 녹취록·뉴스 기사 분석
•  자동화된 산업별 투자 메모 생성
•  100만 건 이상의 문서에서 정확하고 감사 가능한 자연어 검색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212133-DAAC-1B4C-87FA-98A96E254DDE}"/>
              </a:ext>
            </a:extLst>
          </p:cNvPr>
          <p:cNvSpPr txBox="1"/>
          <p:nvPr/>
        </p:nvSpPr>
        <p:spPr>
          <a:xfrm>
            <a:off x="711200" y="50800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산출물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6AB47E-9757-3E4F-BC90-E331E2300098}"/>
              </a:ext>
            </a:extLst>
          </p:cNvPr>
          <p:cNvSpPr txBox="1"/>
          <p:nvPr/>
        </p:nvSpPr>
        <p:spPr>
          <a:xfrm>
            <a:off x="711200" y="5334000"/>
            <a:ext cx="3149600" cy="812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주식/산업 전반의 자동화된 재무 분석과 투자 메모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4393FCF-858E-AD4B-9F94-C7BDDF2AFA8C}"/>
              </a:ext>
            </a:extLst>
          </p:cNvPr>
          <p:cNvSpPr/>
          <p:nvPr/>
        </p:nvSpPr>
        <p:spPr>
          <a:xfrm>
            <a:off x="4318000" y="1270000"/>
            <a:ext cx="3556000" cy="50546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0B8F692-BC64-FC48-89F9-866871FE9613}"/>
              </a:ext>
            </a:extLst>
          </p:cNvPr>
          <p:cNvSpPr/>
          <p:nvPr/>
        </p:nvSpPr>
        <p:spPr>
          <a:xfrm>
            <a:off x="4318000" y="1270000"/>
            <a:ext cx="3556000" cy="711200"/>
          </a:xfrm>
          <a:prstGeom prst="rect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endParaRPr lang="ko-KR" altLang="en-US" sz="15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90BC93EA-69F1-444C-8053-577FABC94352}"/>
              </a:ext>
            </a:extLst>
          </p:cNvPr>
          <p:cNvSpPr/>
          <p:nvPr/>
        </p:nvSpPr>
        <p:spPr>
          <a:xfrm>
            <a:off x="4495800" y="1473200"/>
            <a:ext cx="381000" cy="381000"/>
          </a:xfrm>
          <a:prstGeom prst="ellipse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  <a:endParaRPr lang="ko-KR" altLang="en-US" sz="14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416BD6-1C42-ED47-8A3F-DF1B3FF9B61F}"/>
              </a:ext>
            </a:extLst>
          </p:cNvPr>
          <p:cNvSpPr txBox="1"/>
          <p:nvPr/>
        </p:nvSpPr>
        <p:spPr>
          <a:xfrm>
            <a:off x="4978400" y="1397000"/>
            <a:ext cx="27686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50" b="1">
                <a:solidFill>
                  <a:srgbClr val="FFFFFF"/>
                </a:solidFill>
                <a:latin typeface="맑은 고딕"/>
                <a:ea typeface="맑은 고딕"/>
              </a:rPr>
              <a:t>자산운용 투자연구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367AE8-27B1-5042-B3DC-D07BC9B65AB2}"/>
              </a:ext>
            </a:extLst>
          </p:cNvPr>
          <p:cNvSpPr txBox="1"/>
          <p:nvPr/>
        </p:nvSpPr>
        <p:spPr>
          <a:xfrm>
            <a:off x="4978400" y="1689100"/>
            <a:ext cx="27686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" altLang="ko-KR" sz="1000">
                <a:solidFill>
                  <a:srgbClr val="C9D6E3"/>
                </a:solidFill>
                <a:latin typeface="맑은 고딕"/>
                <a:ea typeface="맑은 고딕"/>
              </a:rPr>
              <a:t>Macro Investment Research</a:t>
            </a:r>
            <a:endParaRPr lang="ko-KR" altLang="en-US" sz="1000">
              <a:solidFill>
                <a:srgbClr val="C9D6E3"/>
              </a:solidFill>
              <a:latin typeface="맑은 고딕"/>
              <a:ea typeface="맑은 고딕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C4BB3E-19A9-8C48-8458-8E59F16AE739}"/>
              </a:ext>
            </a:extLst>
          </p:cNvPr>
          <p:cNvSpPr txBox="1"/>
          <p:nvPr/>
        </p:nvSpPr>
        <p:spPr>
          <a:xfrm>
            <a:off x="4521200" y="21082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역할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5AF20D-0B9D-F74A-9764-48D14D70460C}"/>
              </a:ext>
            </a:extLst>
          </p:cNvPr>
          <p:cNvSpPr txBox="1"/>
          <p:nvPr/>
        </p:nvSpPr>
        <p:spPr>
          <a:xfrm>
            <a:off x="4521200" y="2362200"/>
            <a:ext cx="31496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국가·시장·산업을 아우르는 거시경제 분석을 자동화해 자산배분 의사결정 지원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FDC5FC-A174-3244-97AF-20FD49CAF355}"/>
              </a:ext>
            </a:extLst>
          </p:cNvPr>
          <p:cNvSpPr txBox="1"/>
          <p:nvPr/>
        </p:nvSpPr>
        <p:spPr>
          <a:xfrm>
            <a:off x="4521200" y="29972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핵심 기능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F43624-3CD4-564B-B14C-62E05F89AB9E}"/>
              </a:ext>
            </a:extLst>
          </p:cNvPr>
          <p:cNvSpPr txBox="1"/>
          <p:nvPr/>
        </p:nvSpPr>
        <p:spPr>
          <a:xfrm>
            <a:off x="4521200" y="3251200"/>
            <a:ext cx="3149600" cy="177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-US" altLang="ko-KR" sz="1200">
                <a:solidFill>
                  <a:srgbClr val="1F2A37"/>
                </a:solidFill>
                <a:latin typeface="맑은 고딕"/>
                <a:ea typeface="맑은 고딕"/>
              </a:rPr>
              <a:t>•  국가별 경제 보고서(GDP·인플레이션·재정·통화·규제·세금 정책) 통합 분석
•  다양한 데이터 소스를 통합한 거시경제 분석 보고서의 95% 자동 완성
•  전문가는 나머지 5%의 고차원 판단에 집중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569C0C-E8DD-5E4D-ACD0-487DA33BE911}"/>
              </a:ext>
            </a:extLst>
          </p:cNvPr>
          <p:cNvSpPr txBox="1"/>
          <p:nvPr/>
        </p:nvSpPr>
        <p:spPr>
          <a:xfrm>
            <a:off x="4521200" y="50800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산출물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F56CF18-1527-1848-85D2-EA8AB12562CD}"/>
              </a:ext>
            </a:extLst>
          </p:cNvPr>
          <p:cNvSpPr txBox="1"/>
          <p:nvPr/>
        </p:nvSpPr>
        <p:spPr>
          <a:xfrm>
            <a:off x="4521200" y="5334000"/>
            <a:ext cx="3149600" cy="812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거시경제 분석 기반 자산 배분 의사결정 보고서</a:t>
            </a:r>
            <a:endParaRPr lang="ko-KR" altLang="en-US" sz="1200">
              <a:solidFill>
                <a:srgbClr val="1F2A37"/>
              </a:solidFill>
              <a:latin typeface="맑은 고딕"/>
              <a:ea typeface="맑은 고딕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D0CF6F3-1BA7-B440-998D-BFFA068F184A}"/>
              </a:ext>
            </a:extLst>
          </p:cNvPr>
          <p:cNvSpPr/>
          <p:nvPr/>
        </p:nvSpPr>
        <p:spPr>
          <a:xfrm>
            <a:off x="8128000" y="1270000"/>
            <a:ext cx="3556000" cy="50546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3AC2C20-9C4D-404D-B110-2CEA6FE2187F}"/>
              </a:ext>
            </a:extLst>
          </p:cNvPr>
          <p:cNvSpPr/>
          <p:nvPr/>
        </p:nvSpPr>
        <p:spPr>
          <a:xfrm>
            <a:off x="8128000" y="1270000"/>
            <a:ext cx="3556000" cy="711200"/>
          </a:xfrm>
          <a:prstGeom prst="rect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endParaRPr lang="ko-KR" altLang="en-US" sz="15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D4F99B9B-AE94-7240-87AC-70B2955FFE08}"/>
              </a:ext>
            </a:extLst>
          </p:cNvPr>
          <p:cNvSpPr/>
          <p:nvPr/>
        </p:nvSpPr>
        <p:spPr>
          <a:xfrm>
            <a:off x="8305800" y="1473200"/>
            <a:ext cx="381000" cy="381000"/>
          </a:xfrm>
          <a:prstGeom prst="ellipse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  <a:endParaRPr lang="ko-KR" altLang="en-US" sz="14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F5ED692-A754-344F-91D9-6B6BE2997A55}"/>
              </a:ext>
            </a:extLst>
          </p:cNvPr>
          <p:cNvSpPr txBox="1"/>
          <p:nvPr/>
        </p:nvSpPr>
        <p:spPr>
          <a:xfrm>
            <a:off x="8788400" y="1397000"/>
            <a:ext cx="27686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50" b="1">
                <a:solidFill>
                  <a:srgbClr val="FFFFFF"/>
                </a:solidFill>
                <a:latin typeface="맑은 고딕"/>
                <a:ea typeface="맑은 고딕"/>
              </a:rPr>
              <a:t>개인 신용대출 분석 및 의사결정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AA5259D-CDB8-F14C-8927-244605B9F0A3}"/>
              </a:ext>
            </a:extLst>
          </p:cNvPr>
          <p:cNvSpPr txBox="1"/>
          <p:nvPr/>
        </p:nvSpPr>
        <p:spPr>
          <a:xfrm>
            <a:off x="8788400" y="1689100"/>
            <a:ext cx="27686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" altLang="ko-KR" sz="1000">
                <a:solidFill>
                  <a:srgbClr val="C9D6E3"/>
                </a:solidFill>
                <a:latin typeface="맑은 고딕"/>
                <a:ea typeface="맑은 고딕"/>
              </a:rPr>
              <a:t>Private Credit Decisioning</a:t>
            </a:r>
            <a:endParaRPr lang="ko-KR" altLang="en-US" sz="1000">
              <a:solidFill>
                <a:srgbClr val="C9D6E3"/>
              </a:solidFill>
              <a:latin typeface="맑은 고딕"/>
              <a:ea typeface="맑은 고딕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0E63359-C938-A848-9C03-ABE0ABE86FE7}"/>
              </a:ext>
            </a:extLst>
          </p:cNvPr>
          <p:cNvSpPr txBox="1"/>
          <p:nvPr/>
        </p:nvSpPr>
        <p:spPr>
          <a:xfrm>
            <a:off x="8331200" y="21082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역할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9EC1FFF-B113-FF4F-A29E-5AF4AA464E64}"/>
              </a:ext>
            </a:extLst>
          </p:cNvPr>
          <p:cNvSpPr txBox="1"/>
          <p:nvPr/>
        </p:nvSpPr>
        <p:spPr>
          <a:xfrm>
            <a:off x="8331200" y="2362200"/>
            <a:ext cx="31496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M&amp;A 시장의 사모 신용·부채 금융 기회를 평가해 의사결정을 지원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E50716D-20E5-6444-8B06-A4BF74D88952}"/>
              </a:ext>
            </a:extLst>
          </p:cNvPr>
          <p:cNvSpPr txBox="1"/>
          <p:nvPr/>
        </p:nvSpPr>
        <p:spPr>
          <a:xfrm>
            <a:off x="8331200" y="29972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핵심 기능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9E2AA44-253D-904F-B7F2-751C791BB5B8}"/>
              </a:ext>
            </a:extLst>
          </p:cNvPr>
          <p:cNvSpPr txBox="1"/>
          <p:nvPr/>
        </p:nvSpPr>
        <p:spPr>
          <a:xfrm>
            <a:off x="8331200" y="3251200"/>
            <a:ext cx="3149600" cy="177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-US" altLang="ko-KR" sz="1200">
                <a:solidFill>
                  <a:srgbClr val="1F2A37"/>
                </a:solidFill>
                <a:latin typeface="맑은 고딕"/>
                <a:ea typeface="맑은 고딕"/>
              </a:rPr>
              <a:t>•  매도측 기업투자자문서(CIM)·실사 보고서 분석
•  위험 분석과 다양한 시장 시나리오별 장기 수익률 추정
•  부채 금융 기회의 장단점 심층 분석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B1C31B2-C1A2-974D-A1D2-6CD601DE5972}"/>
              </a:ext>
            </a:extLst>
          </p:cNvPr>
          <p:cNvSpPr txBox="1"/>
          <p:nvPr/>
        </p:nvSpPr>
        <p:spPr>
          <a:xfrm>
            <a:off x="8331200" y="50800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산출물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AEC22AD-26AB-684D-98FD-6E65CAF37817}"/>
              </a:ext>
            </a:extLst>
          </p:cNvPr>
          <p:cNvSpPr txBox="1"/>
          <p:nvPr/>
        </p:nvSpPr>
        <p:spPr>
          <a:xfrm>
            <a:off x="8331200" y="5334000"/>
            <a:ext cx="3149600" cy="812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사모 신용 의사결정과 거래 후 약정 모니터링 혁신안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B35437C-0CD5-5B44-9576-B0D21A22C7EE}"/>
              </a:ext>
            </a:extLst>
          </p:cNvPr>
          <p:cNvSpPr txBox="1"/>
          <p:nvPr/>
        </p:nvSpPr>
        <p:spPr>
          <a:xfrm>
            <a:off x="546100" y="64770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1000">
                <a:solidFill>
                  <a:srgbClr val="5A6472"/>
                </a:solidFill>
                <a:latin typeface="맑은 고딕"/>
                <a:ea typeface="맑은 고딕"/>
              </a:rPr>
              <a:t>ARTICUL8   |   Use Case 10 — 금융 서비스 활용 사례</a:t>
            </a:r>
          </a:p>
        </p:txBody>
      </p:sp>
    </p:spTree>
    <p:extLst>
      <p:ext uri="{BB962C8B-B14F-4D97-AF65-F5344CB8AC3E}">
        <p14:creationId xmlns:p14="http://schemas.microsoft.com/office/powerpoint/2010/main" val="1839666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D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 T I C U L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방대한 금융 데이터를 신뢰할 수 있는 실행 가능한 인사이트로 전환합니다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33832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243EDC7-6B64-3341-B9AD-8A561A6FDEE5}">
  <we:reference id="wa200010725" version="1.0.0.1" store="ko-KR" storeType="OMEX"/>
  <we:alternateReferences>
    <we:reference id="wa200010725" version="1.0.0.1" store="WA200010725" storeType="OMEX"/>
  </we:alternateReferences>
  <we:properties>
    <we:property name="claude.fileId" value="&quot;68655e05-f342-45ec-8ec7-f5cedb54c2a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638</Words>
  <Application>Microsoft Macintosh PowerPoint</Application>
  <PresentationFormat>와이드스크린</PresentationFormat>
  <Paragraphs>99</Paragraphs>
  <Slides>6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신준용</cp:lastModifiedBy>
  <cp:revision>3</cp:revision>
  <dcterms:created xsi:type="dcterms:W3CDTF">2026-07-22T15:42:35Z</dcterms:created>
  <dcterms:modified xsi:type="dcterms:W3CDTF">2026-07-23T00:33:03Z</dcterms:modified>
</cp:coreProperties>
</file>