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5143500" cy="9144000"/>
  <p:embeddedFontLst>
    <p:embeddedFont>
      <p:font typeface="Noto Sans KR"/>
      <p:bold r:id="rId28"/>
    </p:embeddedFont>
    <p:embeddedFont>
      <p:font typeface="Proxima Nova"/>
      <p:regular r:id="rId29"/>
      <p:bold r:id="rId30"/>
      <p:italic r:id="rId31"/>
      <p:boldItalic r:id="rId32"/>
    </p:embeddedFont>
    <p:embeddedFont>
      <p:font typeface="Roboto"/>
      <p:regular r:id="rId33"/>
      <p:bold r:id="rId34"/>
      <p:italic r:id="rId35"/>
      <p:boldItalic r:id="rId36"/>
    </p:embeddedFont>
    <p:embeddedFont>
      <p:font typeface="Space Grotesk Medium"/>
      <p:regular r:id="rId37"/>
      <p:bold r:id="rId38"/>
    </p:embeddedFont>
    <p:embeddedFont>
      <p:font typeface="Space Grotesk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B5BDA7-C030-4439-ABC7-2EE9DA426E76}">
  <a:tblStyle styleId="{EFB5BDA7-C030-4439-ABC7-2EE9DA426E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9175A0E-B5E2-49A2-865B-31627C0D214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otoSansKR-bold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37" Type="http://schemas.openxmlformats.org/officeDocument/2006/relationships/font" Target="fonts/SpaceGroteskMedium-regular.fntdata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39" Type="http://schemas.openxmlformats.org/officeDocument/2006/relationships/font" Target="fonts/SpaceGrotesk-regular.fntdata"/><Relationship Id="rId16" Type="http://schemas.openxmlformats.org/officeDocument/2006/relationships/slide" Target="slides/slide10.xml"/><Relationship Id="rId38" Type="http://schemas.openxmlformats.org/officeDocument/2006/relationships/font" Target="fonts/SpaceGrotesk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/>
          <p:nvPr>
            <p:ph idx="2" type="sldImg"/>
          </p:nvPr>
        </p:nvSpPr>
        <p:spPr>
          <a:xfrm>
            <a:off x="1371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267c71c1_1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g3f8267c71c1_1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g3f8267c71c1_1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66f2c0c2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f566f2c0c2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g3f566f2c0c2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8207f6ea2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f8207f6ea2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g3f8207f6ea2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207f6ea2_0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g3f8207f6ea2_0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g3f8207f6ea2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816daa689_0_1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3f816daa689_0_1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g3f816daa689_0_1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528e5c9f6_4_7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g3f528e5c9f6_4_7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g3f528e5c9f6_4_7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816daa689_0_1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g3f816daa689_0_1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g3f816daa689_0_1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528e5c9f6_12_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f528e5c9f6_12_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g3f528e5c9f6_12_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528e5c9f6_0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g3f528e5c9f6_0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9" name="Google Shape;289;g3f528e5c9f6_0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528e5c9f6_4_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g3f528e5c9f6_4_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g3f528e5c9f6_4_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528e5c9f6_4_10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g3f528e5c9f6_4_1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g3f528e5c9f6_4_1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8267c71c1_13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g3f8267c71c1_13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5" name="Google Shape;325;g3f8267c71c1_13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816daa689_0_2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f816daa689_0_25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566f2c0c2_3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f566f2c0c2_3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816daa689_0_4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f816daa689_0_4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8267c71c1_0_3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f8267c71c1_0_3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816daa689_0_4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f816daa689_0_46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82e7bdea3_0_5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f82e7bdea3_0_5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333913" y="288259"/>
            <a:ext cx="2712428" cy="0"/>
          </a:xfrm>
          <a:custGeom>
            <a:rect b="b" l="l" r="r" t="t"/>
            <a:pathLst>
              <a:path extrusionOk="0" h="120000" w="5961380">
                <a:moveTo>
                  <a:pt x="0" y="0"/>
                </a:moveTo>
                <a:lnTo>
                  <a:pt x="596076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"/>
          <p:cNvSpPr/>
          <p:nvPr/>
        </p:nvSpPr>
        <p:spPr>
          <a:xfrm>
            <a:off x="3740711" y="288259"/>
            <a:ext cx="5405498" cy="0"/>
          </a:xfrm>
          <a:custGeom>
            <a:rect b="b" l="l" r="r" t="t"/>
            <a:pathLst>
              <a:path extrusionOk="0" h="120000" w="11880215">
                <a:moveTo>
                  <a:pt x="0" y="0"/>
                </a:moveTo>
                <a:lnTo>
                  <a:pt x="11879732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" name="Google Shape;12;p3"/>
          <p:cNvGrpSpPr/>
          <p:nvPr/>
        </p:nvGrpSpPr>
        <p:grpSpPr>
          <a:xfrm>
            <a:off x="333775" y="99958"/>
            <a:ext cx="493617" cy="105010"/>
            <a:chOff x="733894" y="219784"/>
            <a:chExt cx="1085349" cy="230893"/>
          </a:xfrm>
        </p:grpSpPr>
        <p:pic>
          <p:nvPicPr>
            <p:cNvPr id="13" name="Google Shape;13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61937" y="243153"/>
              <a:ext cx="94457" cy="2074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3"/>
            <p:cNvSpPr/>
            <p:nvPr/>
          </p:nvSpPr>
          <p:spPr>
            <a:xfrm>
              <a:off x="1180962" y="224642"/>
              <a:ext cx="43815" cy="222884"/>
            </a:xfrm>
            <a:custGeom>
              <a:rect b="b" l="l" r="r" t="t"/>
              <a:pathLst>
                <a:path extrusionOk="0" h="222884" w="43815">
                  <a:moveTo>
                    <a:pt x="40522" y="65422"/>
                  </a:moveTo>
                  <a:lnTo>
                    <a:pt x="3193" y="65422"/>
                  </a:lnTo>
                  <a:lnTo>
                    <a:pt x="2230" y="66060"/>
                  </a:lnTo>
                  <a:lnTo>
                    <a:pt x="2230" y="221783"/>
                  </a:lnTo>
                  <a:lnTo>
                    <a:pt x="3193" y="222747"/>
                  </a:lnTo>
                  <a:lnTo>
                    <a:pt x="40522" y="222747"/>
                  </a:lnTo>
                  <a:lnTo>
                    <a:pt x="41161" y="222108"/>
                  </a:lnTo>
                  <a:lnTo>
                    <a:pt x="41161" y="65736"/>
                  </a:lnTo>
                  <a:lnTo>
                    <a:pt x="40522" y="65422"/>
                  </a:lnTo>
                  <a:close/>
                </a:path>
                <a:path extrusionOk="0" h="222884" w="43815">
                  <a:moveTo>
                    <a:pt x="22009" y="0"/>
                  </a:moveTo>
                  <a:lnTo>
                    <a:pt x="12938" y="1645"/>
                  </a:lnTo>
                  <a:lnTo>
                    <a:pt x="13119" y="1645"/>
                  </a:lnTo>
                  <a:lnTo>
                    <a:pt x="6142" y="6223"/>
                  </a:lnTo>
                  <a:lnTo>
                    <a:pt x="1645" y="13057"/>
                  </a:lnTo>
                  <a:lnTo>
                    <a:pt x="0" y="22020"/>
                  </a:lnTo>
                  <a:lnTo>
                    <a:pt x="1550" y="30978"/>
                  </a:lnTo>
                  <a:lnTo>
                    <a:pt x="5943" y="37934"/>
                  </a:lnTo>
                  <a:lnTo>
                    <a:pt x="12788" y="42438"/>
                  </a:lnTo>
                  <a:lnTo>
                    <a:pt x="21695" y="44040"/>
                  </a:lnTo>
                  <a:lnTo>
                    <a:pt x="30790" y="42438"/>
                  </a:lnTo>
                  <a:lnTo>
                    <a:pt x="37731" y="37934"/>
                  </a:lnTo>
                  <a:lnTo>
                    <a:pt x="42160" y="30978"/>
                  </a:lnTo>
                  <a:lnTo>
                    <a:pt x="43715" y="22020"/>
                  </a:lnTo>
                  <a:lnTo>
                    <a:pt x="42254" y="13194"/>
                  </a:lnTo>
                  <a:lnTo>
                    <a:pt x="38010" y="6223"/>
                  </a:lnTo>
                  <a:lnTo>
                    <a:pt x="31192" y="1645"/>
                  </a:lnTo>
                  <a:lnTo>
                    <a:pt x="22009" y="0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" name="Google Shape;1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2437" y="286869"/>
              <a:ext cx="119347" cy="163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9864" y="290065"/>
              <a:ext cx="135618" cy="160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3"/>
            <p:cNvSpPr/>
            <p:nvPr/>
          </p:nvSpPr>
          <p:spPr>
            <a:xfrm>
              <a:off x="733894" y="220173"/>
              <a:ext cx="897255" cy="230504"/>
            </a:xfrm>
            <a:custGeom>
              <a:rect b="b" l="l" r="r" t="t"/>
              <a:pathLst>
                <a:path extrusionOk="0" h="230504" w="897255">
                  <a:moveTo>
                    <a:pt x="191477" y="226263"/>
                  </a:moveTo>
                  <a:lnTo>
                    <a:pt x="191312" y="225310"/>
                  </a:lnTo>
                  <a:lnTo>
                    <a:pt x="191262" y="225005"/>
                  </a:lnTo>
                  <a:lnTo>
                    <a:pt x="191147" y="224345"/>
                  </a:lnTo>
                  <a:lnTo>
                    <a:pt x="167119" y="157543"/>
                  </a:lnTo>
                  <a:lnTo>
                    <a:pt x="164579" y="150495"/>
                  </a:lnTo>
                  <a:lnTo>
                    <a:pt x="128231" y="49466"/>
                  </a:lnTo>
                  <a:lnTo>
                    <a:pt x="118249" y="21742"/>
                  </a:lnTo>
                  <a:lnTo>
                    <a:pt x="118249" y="126898"/>
                  </a:lnTo>
                  <a:lnTo>
                    <a:pt x="106553" y="130048"/>
                  </a:lnTo>
                  <a:lnTo>
                    <a:pt x="66916" y="147434"/>
                  </a:lnTo>
                  <a:lnTo>
                    <a:pt x="61849" y="150495"/>
                  </a:lnTo>
                  <a:lnTo>
                    <a:pt x="65735" y="137223"/>
                  </a:lnTo>
                  <a:lnTo>
                    <a:pt x="73342" y="114274"/>
                  </a:lnTo>
                  <a:lnTo>
                    <a:pt x="81140" y="90474"/>
                  </a:lnTo>
                  <a:lnTo>
                    <a:pt x="88087" y="68122"/>
                  </a:lnTo>
                  <a:lnTo>
                    <a:pt x="93179" y="49466"/>
                  </a:lnTo>
                  <a:lnTo>
                    <a:pt x="93497" y="49466"/>
                  </a:lnTo>
                  <a:lnTo>
                    <a:pt x="98628" y="66421"/>
                  </a:lnTo>
                  <a:lnTo>
                    <a:pt x="105130" y="86753"/>
                  </a:lnTo>
                  <a:lnTo>
                    <a:pt x="118249" y="126898"/>
                  </a:lnTo>
                  <a:lnTo>
                    <a:pt x="118249" y="21742"/>
                  </a:lnTo>
                  <a:lnTo>
                    <a:pt x="117551" y="19799"/>
                  </a:lnTo>
                  <a:lnTo>
                    <a:pt x="117436" y="19481"/>
                  </a:lnTo>
                  <a:lnTo>
                    <a:pt x="117246" y="18516"/>
                  </a:lnTo>
                  <a:lnTo>
                    <a:pt x="117119" y="17881"/>
                  </a:lnTo>
                  <a:lnTo>
                    <a:pt x="116801" y="17564"/>
                  </a:lnTo>
                  <a:lnTo>
                    <a:pt x="69570" y="17564"/>
                  </a:lnTo>
                  <a:lnTo>
                    <a:pt x="68935" y="18516"/>
                  </a:lnTo>
                  <a:lnTo>
                    <a:pt x="68935" y="19799"/>
                  </a:lnTo>
                  <a:lnTo>
                    <a:pt x="68300" y="30645"/>
                  </a:lnTo>
                  <a:lnTo>
                    <a:pt x="67335" y="33832"/>
                  </a:lnTo>
                  <a:lnTo>
                    <a:pt x="66052" y="37033"/>
                  </a:lnTo>
                  <a:lnTo>
                    <a:pt x="317" y="224028"/>
                  </a:lnTo>
                  <a:lnTo>
                    <a:pt x="0" y="226263"/>
                  </a:lnTo>
                  <a:lnTo>
                    <a:pt x="647" y="227215"/>
                  </a:lnTo>
                  <a:lnTo>
                    <a:pt x="36245" y="227215"/>
                  </a:lnTo>
                  <a:lnTo>
                    <a:pt x="37185" y="226618"/>
                  </a:lnTo>
                  <a:lnTo>
                    <a:pt x="37706" y="225310"/>
                  </a:lnTo>
                  <a:lnTo>
                    <a:pt x="37820" y="225005"/>
                  </a:lnTo>
                  <a:lnTo>
                    <a:pt x="48806" y="207010"/>
                  </a:lnTo>
                  <a:lnTo>
                    <a:pt x="83070" y="174955"/>
                  </a:lnTo>
                  <a:lnTo>
                    <a:pt x="127546" y="157543"/>
                  </a:lnTo>
                  <a:lnTo>
                    <a:pt x="131800" y="172008"/>
                  </a:lnTo>
                  <a:lnTo>
                    <a:pt x="150202" y="225005"/>
                  </a:lnTo>
                  <a:lnTo>
                    <a:pt x="150304" y="225310"/>
                  </a:lnTo>
                  <a:lnTo>
                    <a:pt x="150774" y="226263"/>
                  </a:lnTo>
                  <a:lnTo>
                    <a:pt x="151003" y="226618"/>
                  </a:lnTo>
                  <a:lnTo>
                    <a:pt x="151904" y="227215"/>
                  </a:lnTo>
                  <a:lnTo>
                    <a:pt x="191147" y="227215"/>
                  </a:lnTo>
                  <a:lnTo>
                    <a:pt x="191350" y="226618"/>
                  </a:lnTo>
                  <a:lnTo>
                    <a:pt x="191477" y="226263"/>
                  </a:lnTo>
                  <a:close/>
                </a:path>
                <a:path extrusionOk="0" h="230504" w="897255">
                  <a:moveTo>
                    <a:pt x="897001" y="198818"/>
                  </a:moveTo>
                  <a:lnTo>
                    <a:pt x="896683" y="198183"/>
                  </a:lnTo>
                  <a:lnTo>
                    <a:pt x="895718" y="198501"/>
                  </a:lnTo>
                  <a:lnTo>
                    <a:pt x="892848" y="198818"/>
                  </a:lnTo>
                  <a:lnTo>
                    <a:pt x="882002" y="198818"/>
                  </a:lnTo>
                  <a:lnTo>
                    <a:pt x="878484" y="195618"/>
                  </a:lnTo>
                  <a:lnTo>
                    <a:pt x="878484" y="965"/>
                  </a:lnTo>
                  <a:lnTo>
                    <a:pt x="877531" y="0"/>
                  </a:lnTo>
                  <a:lnTo>
                    <a:pt x="840841" y="0"/>
                  </a:lnTo>
                  <a:lnTo>
                    <a:pt x="839876" y="965"/>
                  </a:lnTo>
                  <a:lnTo>
                    <a:pt x="839876" y="2565"/>
                  </a:lnTo>
                  <a:lnTo>
                    <a:pt x="839876" y="189242"/>
                  </a:lnTo>
                  <a:lnTo>
                    <a:pt x="842784" y="209816"/>
                  </a:lnTo>
                  <a:lnTo>
                    <a:pt x="850722" y="222389"/>
                  </a:lnTo>
                  <a:lnTo>
                    <a:pt x="862495" y="228688"/>
                  </a:lnTo>
                  <a:lnTo>
                    <a:pt x="876896" y="230403"/>
                  </a:lnTo>
                  <a:lnTo>
                    <a:pt x="885837" y="230403"/>
                  </a:lnTo>
                  <a:lnTo>
                    <a:pt x="891565" y="229450"/>
                  </a:lnTo>
                  <a:lnTo>
                    <a:pt x="895083" y="227850"/>
                  </a:lnTo>
                  <a:lnTo>
                    <a:pt x="897001" y="226580"/>
                  </a:lnTo>
                  <a:lnTo>
                    <a:pt x="897001" y="198818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" name="Google Shape;18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48228" y="288301"/>
              <a:ext cx="90635" cy="159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3"/>
            <p:cNvSpPr/>
            <p:nvPr/>
          </p:nvSpPr>
          <p:spPr>
            <a:xfrm>
              <a:off x="733894" y="237724"/>
              <a:ext cx="191769" cy="210184"/>
            </a:xfrm>
            <a:custGeom>
              <a:rect b="b" l="l" r="r" t="t"/>
              <a:pathLst>
                <a:path extrusionOk="0" h="210184" w="191769">
                  <a:moveTo>
                    <a:pt x="191477" y="208711"/>
                  </a:moveTo>
                  <a:lnTo>
                    <a:pt x="191312" y="207759"/>
                  </a:lnTo>
                  <a:lnTo>
                    <a:pt x="191262" y="207454"/>
                  </a:lnTo>
                  <a:lnTo>
                    <a:pt x="191147" y="206794"/>
                  </a:lnTo>
                  <a:lnTo>
                    <a:pt x="167119" y="139992"/>
                  </a:lnTo>
                  <a:lnTo>
                    <a:pt x="164579" y="132956"/>
                  </a:lnTo>
                  <a:lnTo>
                    <a:pt x="128231" y="31915"/>
                  </a:lnTo>
                  <a:lnTo>
                    <a:pt x="118249" y="4191"/>
                  </a:lnTo>
                  <a:lnTo>
                    <a:pt x="118249" y="109347"/>
                  </a:lnTo>
                  <a:lnTo>
                    <a:pt x="106553" y="112496"/>
                  </a:lnTo>
                  <a:lnTo>
                    <a:pt x="66916" y="129882"/>
                  </a:lnTo>
                  <a:lnTo>
                    <a:pt x="62458" y="132575"/>
                  </a:lnTo>
                  <a:lnTo>
                    <a:pt x="61861" y="132943"/>
                  </a:lnTo>
                  <a:lnTo>
                    <a:pt x="65735" y="119672"/>
                  </a:lnTo>
                  <a:lnTo>
                    <a:pt x="73342" y="96723"/>
                  </a:lnTo>
                  <a:lnTo>
                    <a:pt x="81140" y="72923"/>
                  </a:lnTo>
                  <a:lnTo>
                    <a:pt x="88087" y="50571"/>
                  </a:lnTo>
                  <a:lnTo>
                    <a:pt x="93179" y="31915"/>
                  </a:lnTo>
                  <a:lnTo>
                    <a:pt x="93497" y="31915"/>
                  </a:lnTo>
                  <a:lnTo>
                    <a:pt x="98628" y="48869"/>
                  </a:lnTo>
                  <a:lnTo>
                    <a:pt x="105117" y="69202"/>
                  </a:lnTo>
                  <a:lnTo>
                    <a:pt x="118249" y="109347"/>
                  </a:lnTo>
                  <a:lnTo>
                    <a:pt x="118249" y="4191"/>
                  </a:lnTo>
                  <a:lnTo>
                    <a:pt x="117551" y="2247"/>
                  </a:lnTo>
                  <a:lnTo>
                    <a:pt x="117436" y="1930"/>
                  </a:lnTo>
                  <a:lnTo>
                    <a:pt x="117246" y="965"/>
                  </a:lnTo>
                  <a:lnTo>
                    <a:pt x="117119" y="330"/>
                  </a:lnTo>
                  <a:lnTo>
                    <a:pt x="116801" y="12"/>
                  </a:lnTo>
                  <a:lnTo>
                    <a:pt x="69570" y="0"/>
                  </a:lnTo>
                  <a:lnTo>
                    <a:pt x="68935" y="965"/>
                  </a:lnTo>
                  <a:lnTo>
                    <a:pt x="68935" y="2247"/>
                  </a:lnTo>
                  <a:lnTo>
                    <a:pt x="68300" y="13093"/>
                  </a:lnTo>
                  <a:lnTo>
                    <a:pt x="67335" y="16281"/>
                  </a:lnTo>
                  <a:lnTo>
                    <a:pt x="66052" y="19481"/>
                  </a:lnTo>
                  <a:lnTo>
                    <a:pt x="317" y="206476"/>
                  </a:lnTo>
                  <a:lnTo>
                    <a:pt x="0" y="208711"/>
                  </a:lnTo>
                  <a:lnTo>
                    <a:pt x="381" y="209296"/>
                  </a:lnTo>
                  <a:lnTo>
                    <a:pt x="647" y="209677"/>
                  </a:lnTo>
                  <a:lnTo>
                    <a:pt x="36233" y="209677"/>
                  </a:lnTo>
                  <a:lnTo>
                    <a:pt x="37185" y="209080"/>
                  </a:lnTo>
                  <a:lnTo>
                    <a:pt x="37706" y="207759"/>
                  </a:lnTo>
                  <a:lnTo>
                    <a:pt x="37820" y="207454"/>
                  </a:lnTo>
                  <a:lnTo>
                    <a:pt x="69138" y="166624"/>
                  </a:lnTo>
                  <a:lnTo>
                    <a:pt x="106654" y="146151"/>
                  </a:lnTo>
                  <a:lnTo>
                    <a:pt x="127546" y="139992"/>
                  </a:lnTo>
                  <a:lnTo>
                    <a:pt x="131800" y="154457"/>
                  </a:lnTo>
                  <a:lnTo>
                    <a:pt x="150202" y="207454"/>
                  </a:lnTo>
                  <a:lnTo>
                    <a:pt x="151904" y="209677"/>
                  </a:lnTo>
                  <a:lnTo>
                    <a:pt x="191147" y="209677"/>
                  </a:lnTo>
                  <a:lnTo>
                    <a:pt x="191350" y="209080"/>
                  </a:lnTo>
                  <a:lnTo>
                    <a:pt x="191477" y="208711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" name="Google Shape;20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56054" y="219784"/>
              <a:ext cx="163189" cy="2308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8712715" y="53083"/>
            <a:ext cx="35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roxima Nova"/>
              <a:buNone/>
              <a:defRPr b="0" i="0" sz="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333799" y="560450"/>
            <a:ext cx="46542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31FF"/>
              </a:buClr>
              <a:buSzPts val="3000"/>
              <a:buFont typeface="Space Grotesk Medium"/>
              <a:buChar char="●"/>
              <a:defRPr b="0" i="0" sz="3000" u="none" cap="none" strike="noStrike"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9pPr>
          </a:lstStyle>
          <a:p/>
        </p:txBody>
      </p:sp>
      <p:sp>
        <p:nvSpPr>
          <p:cNvPr id="23" name="Google Shape;23;p3"/>
          <p:cNvSpPr txBox="1"/>
          <p:nvPr/>
        </p:nvSpPr>
        <p:spPr>
          <a:xfrm>
            <a:off x="3734942" y="85668"/>
            <a:ext cx="1450500" cy="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roxima Nova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Articul8 Confidential - Shared under NDA</a:t>
            </a:r>
            <a:endParaRPr b="0" i="0" sz="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99028" y="523688"/>
            <a:ext cx="49242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31FF"/>
              </a:buClr>
              <a:buSzPts val="3100"/>
              <a:buFont typeface="Space Grotesk Medium"/>
              <a:buNone/>
              <a:defRPr b="0" i="0" sz="3100" u="none" cap="none" strike="noStrike"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3328020" y="1699862"/>
            <a:ext cx="54249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9400" lvl="0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rgbClr val="75757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79400" lvl="5" marL="2743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79400" lvl="6" marL="3200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79400" lvl="8" marL="41148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028986" y="4767340"/>
            <a:ext cx="3086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28903" y="4767340"/>
            <a:ext cx="2057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457986" y="4767340"/>
            <a:ext cx="2057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920490" y="4981229"/>
            <a:ext cx="1295700" cy="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  <a:defRPr b="0" i="0" sz="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820626" y="4937736"/>
            <a:ext cx="1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635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333913" y="288259"/>
            <a:ext cx="2712428" cy="0"/>
          </a:xfrm>
          <a:custGeom>
            <a:rect b="b" l="l" r="r" t="t"/>
            <a:pathLst>
              <a:path extrusionOk="0" h="120000" w="5961380">
                <a:moveTo>
                  <a:pt x="0" y="0"/>
                </a:moveTo>
                <a:lnTo>
                  <a:pt x="596076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9"/>
          <p:cNvSpPr/>
          <p:nvPr/>
        </p:nvSpPr>
        <p:spPr>
          <a:xfrm>
            <a:off x="3740711" y="288259"/>
            <a:ext cx="5405498" cy="0"/>
          </a:xfrm>
          <a:custGeom>
            <a:rect b="b" l="l" r="r" t="t"/>
            <a:pathLst>
              <a:path extrusionOk="0" h="120000" w="11880215">
                <a:moveTo>
                  <a:pt x="0" y="0"/>
                </a:moveTo>
                <a:lnTo>
                  <a:pt x="11879732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9"/>
          <p:cNvGrpSpPr/>
          <p:nvPr/>
        </p:nvGrpSpPr>
        <p:grpSpPr>
          <a:xfrm>
            <a:off x="333775" y="99958"/>
            <a:ext cx="493617" cy="105010"/>
            <a:chOff x="733894" y="219784"/>
            <a:chExt cx="1085349" cy="230893"/>
          </a:xfrm>
        </p:grpSpPr>
        <p:pic>
          <p:nvPicPr>
            <p:cNvPr id="47" name="Google Shape;47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61937" y="243153"/>
              <a:ext cx="94457" cy="2074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" name="Google Shape;48;p9"/>
            <p:cNvSpPr/>
            <p:nvPr/>
          </p:nvSpPr>
          <p:spPr>
            <a:xfrm>
              <a:off x="1180962" y="224642"/>
              <a:ext cx="43815" cy="222884"/>
            </a:xfrm>
            <a:custGeom>
              <a:rect b="b" l="l" r="r" t="t"/>
              <a:pathLst>
                <a:path extrusionOk="0" h="222884" w="43815">
                  <a:moveTo>
                    <a:pt x="40522" y="65422"/>
                  </a:moveTo>
                  <a:lnTo>
                    <a:pt x="3193" y="65422"/>
                  </a:lnTo>
                  <a:lnTo>
                    <a:pt x="2230" y="66060"/>
                  </a:lnTo>
                  <a:lnTo>
                    <a:pt x="2230" y="221783"/>
                  </a:lnTo>
                  <a:lnTo>
                    <a:pt x="3193" y="222747"/>
                  </a:lnTo>
                  <a:lnTo>
                    <a:pt x="40522" y="222747"/>
                  </a:lnTo>
                  <a:lnTo>
                    <a:pt x="41161" y="222108"/>
                  </a:lnTo>
                  <a:lnTo>
                    <a:pt x="41161" y="65736"/>
                  </a:lnTo>
                  <a:lnTo>
                    <a:pt x="40522" y="65422"/>
                  </a:lnTo>
                  <a:close/>
                </a:path>
                <a:path extrusionOk="0" h="222884" w="43815">
                  <a:moveTo>
                    <a:pt x="22009" y="0"/>
                  </a:moveTo>
                  <a:lnTo>
                    <a:pt x="12938" y="1645"/>
                  </a:lnTo>
                  <a:lnTo>
                    <a:pt x="13119" y="1645"/>
                  </a:lnTo>
                  <a:lnTo>
                    <a:pt x="6142" y="6223"/>
                  </a:lnTo>
                  <a:lnTo>
                    <a:pt x="1645" y="13057"/>
                  </a:lnTo>
                  <a:lnTo>
                    <a:pt x="0" y="22020"/>
                  </a:lnTo>
                  <a:lnTo>
                    <a:pt x="1550" y="30978"/>
                  </a:lnTo>
                  <a:lnTo>
                    <a:pt x="5943" y="37934"/>
                  </a:lnTo>
                  <a:lnTo>
                    <a:pt x="12788" y="42438"/>
                  </a:lnTo>
                  <a:lnTo>
                    <a:pt x="21695" y="44040"/>
                  </a:lnTo>
                  <a:lnTo>
                    <a:pt x="30790" y="42438"/>
                  </a:lnTo>
                  <a:lnTo>
                    <a:pt x="37731" y="37934"/>
                  </a:lnTo>
                  <a:lnTo>
                    <a:pt x="42160" y="30978"/>
                  </a:lnTo>
                  <a:lnTo>
                    <a:pt x="43715" y="22020"/>
                  </a:lnTo>
                  <a:lnTo>
                    <a:pt x="42254" y="13194"/>
                  </a:lnTo>
                  <a:lnTo>
                    <a:pt x="38010" y="6223"/>
                  </a:lnTo>
                  <a:lnTo>
                    <a:pt x="31192" y="1645"/>
                  </a:lnTo>
                  <a:lnTo>
                    <a:pt x="22009" y="0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9" name="Google Shape;49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2437" y="286869"/>
              <a:ext cx="119347" cy="163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9864" y="290065"/>
              <a:ext cx="135618" cy="160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9"/>
            <p:cNvSpPr/>
            <p:nvPr/>
          </p:nvSpPr>
          <p:spPr>
            <a:xfrm>
              <a:off x="733894" y="220173"/>
              <a:ext cx="897255" cy="230504"/>
            </a:xfrm>
            <a:custGeom>
              <a:rect b="b" l="l" r="r" t="t"/>
              <a:pathLst>
                <a:path extrusionOk="0" h="230504" w="897255">
                  <a:moveTo>
                    <a:pt x="191477" y="226263"/>
                  </a:moveTo>
                  <a:lnTo>
                    <a:pt x="191312" y="225310"/>
                  </a:lnTo>
                  <a:lnTo>
                    <a:pt x="191262" y="225005"/>
                  </a:lnTo>
                  <a:lnTo>
                    <a:pt x="191147" y="224345"/>
                  </a:lnTo>
                  <a:lnTo>
                    <a:pt x="167119" y="157543"/>
                  </a:lnTo>
                  <a:lnTo>
                    <a:pt x="164579" y="150495"/>
                  </a:lnTo>
                  <a:lnTo>
                    <a:pt x="128231" y="49466"/>
                  </a:lnTo>
                  <a:lnTo>
                    <a:pt x="118249" y="21742"/>
                  </a:lnTo>
                  <a:lnTo>
                    <a:pt x="118249" y="126898"/>
                  </a:lnTo>
                  <a:lnTo>
                    <a:pt x="106553" y="130048"/>
                  </a:lnTo>
                  <a:lnTo>
                    <a:pt x="66916" y="147434"/>
                  </a:lnTo>
                  <a:lnTo>
                    <a:pt x="61849" y="150495"/>
                  </a:lnTo>
                  <a:lnTo>
                    <a:pt x="65735" y="137223"/>
                  </a:lnTo>
                  <a:lnTo>
                    <a:pt x="73342" y="114274"/>
                  </a:lnTo>
                  <a:lnTo>
                    <a:pt x="81140" y="90474"/>
                  </a:lnTo>
                  <a:lnTo>
                    <a:pt x="88087" y="68122"/>
                  </a:lnTo>
                  <a:lnTo>
                    <a:pt x="93179" y="49466"/>
                  </a:lnTo>
                  <a:lnTo>
                    <a:pt x="93497" y="49466"/>
                  </a:lnTo>
                  <a:lnTo>
                    <a:pt x="98628" y="66421"/>
                  </a:lnTo>
                  <a:lnTo>
                    <a:pt x="105130" y="86753"/>
                  </a:lnTo>
                  <a:lnTo>
                    <a:pt x="118249" y="126898"/>
                  </a:lnTo>
                  <a:lnTo>
                    <a:pt x="118249" y="21742"/>
                  </a:lnTo>
                  <a:lnTo>
                    <a:pt x="117551" y="19799"/>
                  </a:lnTo>
                  <a:lnTo>
                    <a:pt x="117436" y="19481"/>
                  </a:lnTo>
                  <a:lnTo>
                    <a:pt x="117246" y="18516"/>
                  </a:lnTo>
                  <a:lnTo>
                    <a:pt x="117119" y="17881"/>
                  </a:lnTo>
                  <a:lnTo>
                    <a:pt x="116801" y="17564"/>
                  </a:lnTo>
                  <a:lnTo>
                    <a:pt x="69570" y="17564"/>
                  </a:lnTo>
                  <a:lnTo>
                    <a:pt x="68935" y="18516"/>
                  </a:lnTo>
                  <a:lnTo>
                    <a:pt x="68935" y="19799"/>
                  </a:lnTo>
                  <a:lnTo>
                    <a:pt x="68300" y="30645"/>
                  </a:lnTo>
                  <a:lnTo>
                    <a:pt x="67335" y="33832"/>
                  </a:lnTo>
                  <a:lnTo>
                    <a:pt x="66052" y="37033"/>
                  </a:lnTo>
                  <a:lnTo>
                    <a:pt x="317" y="224028"/>
                  </a:lnTo>
                  <a:lnTo>
                    <a:pt x="0" y="226263"/>
                  </a:lnTo>
                  <a:lnTo>
                    <a:pt x="647" y="227215"/>
                  </a:lnTo>
                  <a:lnTo>
                    <a:pt x="36245" y="227215"/>
                  </a:lnTo>
                  <a:lnTo>
                    <a:pt x="37185" y="226618"/>
                  </a:lnTo>
                  <a:lnTo>
                    <a:pt x="37706" y="225310"/>
                  </a:lnTo>
                  <a:lnTo>
                    <a:pt x="37820" y="225005"/>
                  </a:lnTo>
                  <a:lnTo>
                    <a:pt x="48806" y="207010"/>
                  </a:lnTo>
                  <a:lnTo>
                    <a:pt x="83070" y="174955"/>
                  </a:lnTo>
                  <a:lnTo>
                    <a:pt x="127546" y="157543"/>
                  </a:lnTo>
                  <a:lnTo>
                    <a:pt x="131800" y="172008"/>
                  </a:lnTo>
                  <a:lnTo>
                    <a:pt x="150202" y="225005"/>
                  </a:lnTo>
                  <a:lnTo>
                    <a:pt x="150304" y="225310"/>
                  </a:lnTo>
                  <a:lnTo>
                    <a:pt x="150774" y="226263"/>
                  </a:lnTo>
                  <a:lnTo>
                    <a:pt x="151003" y="226618"/>
                  </a:lnTo>
                  <a:lnTo>
                    <a:pt x="151904" y="227215"/>
                  </a:lnTo>
                  <a:lnTo>
                    <a:pt x="191147" y="227215"/>
                  </a:lnTo>
                  <a:lnTo>
                    <a:pt x="191350" y="226618"/>
                  </a:lnTo>
                  <a:lnTo>
                    <a:pt x="191477" y="226263"/>
                  </a:lnTo>
                  <a:close/>
                </a:path>
                <a:path extrusionOk="0" h="230504" w="897255">
                  <a:moveTo>
                    <a:pt x="897001" y="198818"/>
                  </a:moveTo>
                  <a:lnTo>
                    <a:pt x="896683" y="198183"/>
                  </a:lnTo>
                  <a:lnTo>
                    <a:pt x="895718" y="198501"/>
                  </a:lnTo>
                  <a:lnTo>
                    <a:pt x="892848" y="198818"/>
                  </a:lnTo>
                  <a:lnTo>
                    <a:pt x="882002" y="198818"/>
                  </a:lnTo>
                  <a:lnTo>
                    <a:pt x="878484" y="195618"/>
                  </a:lnTo>
                  <a:lnTo>
                    <a:pt x="878484" y="965"/>
                  </a:lnTo>
                  <a:lnTo>
                    <a:pt x="877531" y="0"/>
                  </a:lnTo>
                  <a:lnTo>
                    <a:pt x="840841" y="0"/>
                  </a:lnTo>
                  <a:lnTo>
                    <a:pt x="839876" y="965"/>
                  </a:lnTo>
                  <a:lnTo>
                    <a:pt x="839876" y="2565"/>
                  </a:lnTo>
                  <a:lnTo>
                    <a:pt x="839876" y="189242"/>
                  </a:lnTo>
                  <a:lnTo>
                    <a:pt x="842784" y="209816"/>
                  </a:lnTo>
                  <a:lnTo>
                    <a:pt x="850722" y="222389"/>
                  </a:lnTo>
                  <a:lnTo>
                    <a:pt x="862495" y="228688"/>
                  </a:lnTo>
                  <a:lnTo>
                    <a:pt x="876896" y="230403"/>
                  </a:lnTo>
                  <a:lnTo>
                    <a:pt x="885837" y="230403"/>
                  </a:lnTo>
                  <a:lnTo>
                    <a:pt x="891565" y="229450"/>
                  </a:lnTo>
                  <a:lnTo>
                    <a:pt x="895083" y="227850"/>
                  </a:lnTo>
                  <a:lnTo>
                    <a:pt x="897001" y="226580"/>
                  </a:lnTo>
                  <a:lnTo>
                    <a:pt x="897001" y="198818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2" name="Google Shape;52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48228" y="288301"/>
              <a:ext cx="90635" cy="159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9"/>
            <p:cNvSpPr/>
            <p:nvPr/>
          </p:nvSpPr>
          <p:spPr>
            <a:xfrm>
              <a:off x="733894" y="237724"/>
              <a:ext cx="191769" cy="210184"/>
            </a:xfrm>
            <a:custGeom>
              <a:rect b="b" l="l" r="r" t="t"/>
              <a:pathLst>
                <a:path extrusionOk="0" h="210184" w="191769">
                  <a:moveTo>
                    <a:pt x="191477" y="208711"/>
                  </a:moveTo>
                  <a:lnTo>
                    <a:pt x="191312" y="207759"/>
                  </a:lnTo>
                  <a:lnTo>
                    <a:pt x="191262" y="207454"/>
                  </a:lnTo>
                  <a:lnTo>
                    <a:pt x="191147" y="206794"/>
                  </a:lnTo>
                  <a:lnTo>
                    <a:pt x="167119" y="139992"/>
                  </a:lnTo>
                  <a:lnTo>
                    <a:pt x="164579" y="132956"/>
                  </a:lnTo>
                  <a:lnTo>
                    <a:pt x="128231" y="31915"/>
                  </a:lnTo>
                  <a:lnTo>
                    <a:pt x="118249" y="4191"/>
                  </a:lnTo>
                  <a:lnTo>
                    <a:pt x="118249" y="109347"/>
                  </a:lnTo>
                  <a:lnTo>
                    <a:pt x="106553" y="112496"/>
                  </a:lnTo>
                  <a:lnTo>
                    <a:pt x="66916" y="129882"/>
                  </a:lnTo>
                  <a:lnTo>
                    <a:pt x="62458" y="132575"/>
                  </a:lnTo>
                  <a:lnTo>
                    <a:pt x="61861" y="132943"/>
                  </a:lnTo>
                  <a:lnTo>
                    <a:pt x="65735" y="119672"/>
                  </a:lnTo>
                  <a:lnTo>
                    <a:pt x="73342" y="96723"/>
                  </a:lnTo>
                  <a:lnTo>
                    <a:pt x="81140" y="72923"/>
                  </a:lnTo>
                  <a:lnTo>
                    <a:pt x="88087" y="50571"/>
                  </a:lnTo>
                  <a:lnTo>
                    <a:pt x="93179" y="31915"/>
                  </a:lnTo>
                  <a:lnTo>
                    <a:pt x="93497" y="31915"/>
                  </a:lnTo>
                  <a:lnTo>
                    <a:pt x="98628" y="48869"/>
                  </a:lnTo>
                  <a:lnTo>
                    <a:pt x="105117" y="69202"/>
                  </a:lnTo>
                  <a:lnTo>
                    <a:pt x="118249" y="109347"/>
                  </a:lnTo>
                  <a:lnTo>
                    <a:pt x="118249" y="4191"/>
                  </a:lnTo>
                  <a:lnTo>
                    <a:pt x="117551" y="2247"/>
                  </a:lnTo>
                  <a:lnTo>
                    <a:pt x="117436" y="1930"/>
                  </a:lnTo>
                  <a:lnTo>
                    <a:pt x="117246" y="965"/>
                  </a:lnTo>
                  <a:lnTo>
                    <a:pt x="117119" y="330"/>
                  </a:lnTo>
                  <a:lnTo>
                    <a:pt x="116801" y="12"/>
                  </a:lnTo>
                  <a:lnTo>
                    <a:pt x="69570" y="0"/>
                  </a:lnTo>
                  <a:lnTo>
                    <a:pt x="68935" y="965"/>
                  </a:lnTo>
                  <a:lnTo>
                    <a:pt x="68935" y="2247"/>
                  </a:lnTo>
                  <a:lnTo>
                    <a:pt x="68300" y="13093"/>
                  </a:lnTo>
                  <a:lnTo>
                    <a:pt x="67335" y="16281"/>
                  </a:lnTo>
                  <a:lnTo>
                    <a:pt x="66052" y="19481"/>
                  </a:lnTo>
                  <a:lnTo>
                    <a:pt x="317" y="206476"/>
                  </a:lnTo>
                  <a:lnTo>
                    <a:pt x="0" y="208711"/>
                  </a:lnTo>
                  <a:lnTo>
                    <a:pt x="381" y="209296"/>
                  </a:lnTo>
                  <a:lnTo>
                    <a:pt x="647" y="209677"/>
                  </a:lnTo>
                  <a:lnTo>
                    <a:pt x="36233" y="209677"/>
                  </a:lnTo>
                  <a:lnTo>
                    <a:pt x="37185" y="209080"/>
                  </a:lnTo>
                  <a:lnTo>
                    <a:pt x="37706" y="207759"/>
                  </a:lnTo>
                  <a:lnTo>
                    <a:pt x="37820" y="207454"/>
                  </a:lnTo>
                  <a:lnTo>
                    <a:pt x="69138" y="166624"/>
                  </a:lnTo>
                  <a:lnTo>
                    <a:pt x="106654" y="146151"/>
                  </a:lnTo>
                  <a:lnTo>
                    <a:pt x="127546" y="139992"/>
                  </a:lnTo>
                  <a:lnTo>
                    <a:pt x="131800" y="154457"/>
                  </a:lnTo>
                  <a:lnTo>
                    <a:pt x="150202" y="207454"/>
                  </a:lnTo>
                  <a:lnTo>
                    <a:pt x="151904" y="209677"/>
                  </a:lnTo>
                  <a:lnTo>
                    <a:pt x="191147" y="209677"/>
                  </a:lnTo>
                  <a:lnTo>
                    <a:pt x="191350" y="209080"/>
                  </a:lnTo>
                  <a:lnTo>
                    <a:pt x="191477" y="208711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4" name="Google Shape;54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56054" y="219784"/>
              <a:ext cx="163189" cy="2308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8712715" y="53083"/>
            <a:ext cx="35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roxima Nova"/>
              <a:buNone/>
              <a:defRPr b="0" i="0" sz="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333799" y="560450"/>
            <a:ext cx="46542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31FF"/>
              </a:buClr>
              <a:buSzPts val="3000"/>
              <a:buFont typeface="Space Grotesk Medium"/>
              <a:buChar char="●"/>
              <a:defRPr b="0" i="0" sz="3000" u="none" cap="none" strike="noStrike"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9pPr>
          </a:lstStyle>
          <a:p/>
        </p:txBody>
      </p:sp>
      <p:sp>
        <p:nvSpPr>
          <p:cNvPr id="57" name="Google Shape;57;p9"/>
          <p:cNvSpPr txBox="1"/>
          <p:nvPr/>
        </p:nvSpPr>
        <p:spPr>
          <a:xfrm>
            <a:off x="3734942" y="85668"/>
            <a:ext cx="1450500" cy="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roxima Nova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Articul8 Confidential - Shared under NDA</a:t>
            </a:r>
            <a:endParaRPr b="0" i="0" sz="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buNone/>
              <a:defRPr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299028" y="523688"/>
            <a:ext cx="49242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31FF"/>
              </a:buClr>
              <a:buSzPts val="3100"/>
              <a:buFont typeface="Space Grotesk Medium"/>
              <a:buNone/>
              <a:defRPr b="0" i="0" sz="3100" u="none" cap="none" strike="noStrike"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328020" y="1699862"/>
            <a:ext cx="54249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9400" lvl="0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rgbClr val="75757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79400" lvl="5" marL="2743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79400" lvl="6" marL="3200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79400" lvl="8" marL="41148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3028986" y="4767340"/>
            <a:ext cx="3086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628903" y="4767340"/>
            <a:ext cx="2057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457986" y="4767340"/>
            <a:ext cx="2057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920490" y="4981229"/>
            <a:ext cx="1295700" cy="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  <a:defRPr b="0" i="0" sz="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8820626" y="4937736"/>
            <a:ext cx="1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635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2e7bdea3_8_0)">
  <p:cSld name="Generated (g3f82e7bdea3_8_0)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asme.org/about-asme/media-inquiries/press-releases/articul8-ai-and-asme-announce-industry-first-domain-specific-genai-model-for-engineering-standards" TargetMode="External"/><Relationship Id="rId4" Type="http://schemas.openxmlformats.org/officeDocument/2006/relationships/hyperlink" Target="https://www.linkedin.com/posts/articul8-ai_articul8-ai-and-asme-announce-industry-first-activity-7482793158704013312-Mamc?utm_source=share&amp;utm_medium=member_desktop&amp;rcm=ACoAAACKbKgB-hj-6fnWJmyKYAr58pUgOJvUJj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0A1F44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0A1F44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4857521" y="-1071905"/>
            <a:ext cx="6072000" cy="6072000"/>
          </a:xfrm>
          <a:prstGeom prst="ellipse">
            <a:avLst/>
          </a:prstGeom>
          <a:solidFill>
            <a:srgbClr val="1E3A6F">
              <a:alpha val="4000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7501280" y="2857729"/>
            <a:ext cx="3215100" cy="3215100"/>
          </a:xfrm>
          <a:prstGeom prst="ellipse">
            <a:avLst/>
          </a:prstGeom>
          <a:solidFill>
            <a:srgbClr val="F5A623">
              <a:alpha val="2000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27e0ca3fe75f859297eb49bd49ce1cf3.png" id="83" name="Google Shape;83;p14"/>
          <p:cNvPicPr preferRelativeResize="0"/>
          <p:nvPr/>
        </p:nvPicPr>
        <p:blipFill rotWithShape="1">
          <a:blip r:embed="rId3">
            <a:alphaModFix/>
          </a:blip>
          <a:srcRect b="-393" l="0" r="0" t="-403"/>
          <a:stretch/>
        </p:blipFill>
        <p:spPr>
          <a:xfrm>
            <a:off x="571271" y="1571854"/>
            <a:ext cx="857250" cy="4320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 txBox="1"/>
          <p:nvPr/>
        </p:nvSpPr>
        <p:spPr>
          <a:xfrm>
            <a:off x="571271" y="1785824"/>
            <a:ext cx="80013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KR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Articul8 Enterprise Full-Stack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KR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GenAI Platform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571271" y="2929052"/>
            <a:ext cx="8001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00"/>
              </a:buClr>
              <a:buSzPts val="1600"/>
              <a:buFont typeface="Noto Sans KR"/>
              <a:buNone/>
            </a:pPr>
            <a:r>
              <a:rPr lang="en-US" sz="1600">
                <a:solidFill>
                  <a:srgbClr val="FFD400"/>
                </a:solidFill>
                <a:latin typeface="Noto Sans KR"/>
                <a:ea typeface="Noto Sans KR"/>
                <a:cs typeface="Noto Sans KR"/>
                <a:sym typeface="Noto Sans KR"/>
              </a:rPr>
              <a:t>한화 Q&amp;A 기술자료집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4" title="MZC_슬로건_가로_화이트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7363" y="226087"/>
            <a:ext cx="1025705" cy="2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/>
          <p:nvPr/>
        </p:nvSpPr>
        <p:spPr>
          <a:xfrm>
            <a:off x="443033" y="1249294"/>
            <a:ext cx="1954500" cy="1193400"/>
          </a:xfrm>
          <a:prstGeom prst="roundRect">
            <a:avLst>
              <a:gd fmla="val 5000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가격정책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329443" y="597253"/>
            <a:ext cx="8298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2300"/>
              <a:buFont typeface="Malgun Gothic"/>
              <a:buNone/>
            </a:pPr>
            <a:r>
              <a:rPr b="1" lang="en-US" sz="20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Articul8 가격구조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23125" y="1242977"/>
            <a:ext cx="1954500" cy="974400"/>
          </a:xfrm>
          <a:prstGeom prst="roundRect">
            <a:avLst>
              <a:gd fmla="val 5000" name="adj"/>
            </a:avLst>
          </a:prstGeom>
          <a:noFill/>
          <a:ln cap="flat" cmpd="sng" w="381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515156" y="1414433"/>
            <a:ext cx="342900" cy="3429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515156" y="1414433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926372" y="1438436"/>
            <a:ext cx="1577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202433"/>
                </a:solidFill>
                <a:latin typeface="Noto Sans KR"/>
                <a:ea typeface="Noto Sans KR"/>
                <a:cs typeface="Noto Sans KR"/>
                <a:sym typeface="Noto Sans KR"/>
              </a:rPr>
              <a:t>Platform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947972" y="1562440"/>
            <a:ext cx="1577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Base Plan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2548175" y="1242975"/>
            <a:ext cx="1370400" cy="974400"/>
          </a:xfrm>
          <a:prstGeom prst="roundRect">
            <a:avLst>
              <a:gd fmla="val 5000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Starter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4116139" y="1242985"/>
            <a:ext cx="1370400" cy="974400"/>
          </a:xfrm>
          <a:prstGeom prst="roundRect">
            <a:avLst>
              <a:gd fmla="val 5000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Growth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672375" y="1242975"/>
            <a:ext cx="1370400" cy="974400"/>
          </a:xfrm>
          <a:prstGeom prst="roundRect">
            <a:avLst>
              <a:gd fmla="val 5000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Scale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7240339" y="1242985"/>
            <a:ext cx="1370400" cy="974400"/>
          </a:xfrm>
          <a:prstGeom prst="roundRect">
            <a:avLst>
              <a:gd fmla="val 5000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Enterprise +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443033" y="2415154"/>
            <a:ext cx="1954500" cy="1193400"/>
          </a:xfrm>
          <a:prstGeom prst="roundRect">
            <a:avLst>
              <a:gd fmla="val 5000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323125" y="2408837"/>
            <a:ext cx="1954500" cy="974400"/>
          </a:xfrm>
          <a:prstGeom prst="roundRect">
            <a:avLst>
              <a:gd fmla="val 5000" name="adj"/>
            </a:avLst>
          </a:prstGeom>
          <a:noFill/>
          <a:ln cap="flat" cmpd="sng" w="381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15156" y="2580293"/>
            <a:ext cx="342900" cy="3429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15156" y="2580293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926372" y="2604296"/>
            <a:ext cx="1577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202433"/>
                </a:solidFill>
                <a:latin typeface="Noto Sans KR"/>
                <a:ea typeface="Noto Sans KR"/>
                <a:cs typeface="Noto Sans KR"/>
                <a:sym typeface="Noto Sans KR"/>
              </a:rPr>
              <a:t>GenAI Service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2548175" y="2408825"/>
            <a:ext cx="2938500" cy="974400"/>
          </a:xfrm>
          <a:prstGeom prst="roundRect">
            <a:avLst>
              <a:gd fmla="val 5000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Data Perception  as a service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Noto Sans KR"/>
                <a:ea typeface="Noto Sans KR"/>
                <a:cs typeface="Noto Sans KR"/>
                <a:sym typeface="Noto Sans KR"/>
              </a:rPr>
              <a:t>up to 50k docs</a:t>
            </a:r>
            <a:endParaRPr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672375" y="2408825"/>
            <a:ext cx="2938500" cy="974400"/>
          </a:xfrm>
          <a:prstGeom prst="roundRect">
            <a:avLst>
              <a:gd fmla="val 5000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Model Training as a Service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Noto Sans KR"/>
                <a:ea typeface="Noto Sans KR"/>
                <a:cs typeface="Noto Sans KR"/>
                <a:sym typeface="Noto Sans KR"/>
              </a:rPr>
              <a:t>per model, up to 30B</a:t>
            </a:r>
            <a:endParaRPr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450653" y="3588634"/>
            <a:ext cx="1954500" cy="1193400"/>
          </a:xfrm>
          <a:prstGeom prst="roundRect">
            <a:avLst>
              <a:gd fmla="val 5000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330745" y="3582317"/>
            <a:ext cx="1954500" cy="974400"/>
          </a:xfrm>
          <a:prstGeom prst="roundRect">
            <a:avLst>
              <a:gd fmla="val 5000" name="adj"/>
            </a:avLst>
          </a:prstGeom>
          <a:noFill/>
          <a:ln cap="flat" cmpd="sng" w="381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22776" y="3753773"/>
            <a:ext cx="342900" cy="3429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22776" y="3753773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933992" y="3777776"/>
            <a:ext cx="1577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300"/>
              <a:buFont typeface="Noto Sans KR"/>
              <a:buNone/>
            </a:pPr>
            <a:r>
              <a:t/>
            </a:r>
            <a:endParaRPr b="1" sz="1300">
              <a:solidFill>
                <a:srgbClr val="20243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202433"/>
                </a:solidFill>
                <a:latin typeface="Noto Sans KR"/>
                <a:ea typeface="Noto Sans KR"/>
                <a:cs typeface="Noto Sans KR"/>
                <a:sym typeface="Noto Sans KR"/>
              </a:rPr>
              <a:t>Products &amp; </a:t>
            </a:r>
            <a:endParaRPr b="1" sz="1300">
              <a:solidFill>
                <a:srgbClr val="20243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202433"/>
                </a:solidFill>
                <a:latin typeface="Noto Sans KR"/>
                <a:ea typeface="Noto Sans KR"/>
                <a:cs typeface="Noto Sans KR"/>
                <a:sym typeface="Noto Sans KR"/>
              </a:rPr>
              <a:t>Applications</a:t>
            </a:r>
            <a:endParaRPr b="1" sz="1300">
              <a:solidFill>
                <a:srgbClr val="20243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555795" y="3582315"/>
            <a:ext cx="1370400" cy="974400"/>
          </a:xfrm>
          <a:prstGeom prst="roundRect">
            <a:avLst>
              <a:gd fmla="val 500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APM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Noto Sans KR"/>
                <a:ea typeface="Noto Sans KR"/>
                <a:cs typeface="Noto Sans KR"/>
                <a:sym typeface="Noto Sans KR"/>
              </a:rPr>
              <a:t>(Asset Performance Management)</a:t>
            </a:r>
            <a:endParaRPr sz="7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4123759" y="3582325"/>
            <a:ext cx="1370400" cy="974400"/>
          </a:xfrm>
          <a:prstGeom prst="roundRect">
            <a:avLst>
              <a:gd fmla="val 500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PLM / Simulation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679995" y="3582315"/>
            <a:ext cx="1370400" cy="974400"/>
          </a:xfrm>
          <a:prstGeom prst="roundRect">
            <a:avLst>
              <a:gd fmla="val 500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Domain Pack Bundle </a:t>
            </a:r>
            <a:r>
              <a:rPr lang="en-US" sz="600">
                <a:latin typeface="Noto Sans KR"/>
                <a:ea typeface="Noto Sans KR"/>
                <a:cs typeface="Noto Sans KR"/>
                <a:sym typeface="Noto Sans KR"/>
              </a:rPr>
              <a:t>(금융·에너지·건설·항공·자동차·헬스케어·제조·석유가스·통신 등)</a:t>
            </a:r>
            <a:endParaRPr sz="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247959" y="3582325"/>
            <a:ext cx="1370400" cy="974400"/>
          </a:xfrm>
          <a:prstGeom prst="roundRect">
            <a:avLst>
              <a:gd fmla="val 500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Application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Noto Sans KR"/>
                <a:ea typeface="Noto Sans KR"/>
                <a:cs typeface="Noto Sans KR"/>
                <a:sym typeface="Noto Sans KR"/>
              </a:rPr>
              <a:t>per app</a:t>
            </a:r>
            <a:endParaRPr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 · 가격정책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411480" y="685601"/>
            <a:ext cx="8298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2300"/>
              <a:buFont typeface="Malgun Gothic"/>
              <a:buNone/>
            </a:pPr>
            <a:r>
              <a:rPr b="1" lang="en-US" sz="2000">
                <a:solidFill>
                  <a:srgbClr val="202433"/>
                </a:solidFill>
                <a:latin typeface="Noto Sans KR"/>
                <a:ea typeface="Noto Sans KR"/>
                <a:cs typeface="Noto Sans KR"/>
                <a:sym typeface="Noto Sans KR"/>
              </a:rPr>
              <a:t>잠수함/함정 설계 문서 관리 PoC</a:t>
            </a:r>
            <a:endParaRPr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452875" y="992025"/>
            <a:ext cx="8554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Noto Sans KR"/>
                <a:ea typeface="Noto Sans KR"/>
                <a:cs typeface="Noto Sans KR"/>
                <a:sym typeface="Noto Sans KR"/>
              </a:rPr>
              <a:t>목적 :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 데이터 퍼셉션(Data Perception™) 플랫폼을 통해 분산된 문서들을 온톨로지(Ontology) 기반의 지식 그래프로 통합하여 변경 사항을 추적하고, 규정 준수 여부를 검증하며, 구조화된 보고서를 생성하여 기존에 수일이 소요되던 검토 주기를 단 몇 시간으로 단축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Noto Sans KR"/>
                <a:ea typeface="Noto Sans KR"/>
                <a:cs typeface="Noto Sans KR"/>
                <a:sym typeface="Noto Sans KR"/>
              </a:rPr>
              <a:t>사용 도메인 특화 에이전트 :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 설계 변경 에이전트, 컴플라이언스 에이전트, 보고서 작성 에이전트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Noto Sans KR"/>
                <a:ea typeface="Noto Sans KR"/>
                <a:cs typeface="Noto Sans KR"/>
                <a:sym typeface="Noto Sans KR"/>
              </a:rPr>
              <a:t>실행 환경 :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 한화오션의 온프레미스(사내 구축형) GPU 인프라 위에서 완전히 독립된 에어갭(Air-gapped) 형태로 실행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Noto Sans KR"/>
                <a:ea typeface="Noto Sans KR"/>
                <a:cs typeface="Noto Sans KR"/>
                <a:sym typeface="Noto Sans KR"/>
              </a:rPr>
              <a:t>기간 및 주요 진행 과정 :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 4주 PoC 형태로 진행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32" name="Google Shape;132;p16"/>
          <p:cNvGraphicFramePr/>
          <p:nvPr/>
        </p:nvGraphicFramePr>
        <p:xfrm>
          <a:off x="536738" y="26822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{EFB5BDA7-C030-4439-ABC7-2EE9DA426E76}</a:tableStyleId>
              </a:tblPr>
              <a:tblGrid>
                <a:gridCol w="1762525"/>
                <a:gridCol w="878150"/>
                <a:gridCol w="980725"/>
                <a:gridCol w="4781025"/>
              </a:tblGrid>
              <a:tr h="2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Task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Duration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담당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마일스톤</a:t>
                      </a:r>
                      <a:endParaRPr b="1"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428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인프라</a:t>
                      </a: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검증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PoC 시작 전 2주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Hanhwa IT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A8과 MZC는 준비된 하드웨어가 사양을 충족하는지 검증하고, 플랫폼 컨테이너를 배포하며, 모델 가중치(Model Weights)를 로드하고, 벤치마크 테스트를 수행 예정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수집 및 등록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1주일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Articul8 &amp; MZC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한화 문서 코퍼스(말뭉치) 인체스트 완료, 지식 그래프(Knowledge Graph) 베이스라인 구축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16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지식 그래프(KG) 및 문서 간 추론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1주일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Articul8 &amp; MZC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지식 그래프 기반의 국방 규격(MIL-STD) 및 음향 분야 문서 간 교차 질의응답(Q&amp;A) 구현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428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설계 변경 · 컴플라이언스(규정 준수) · 리포팅 에이전트 구축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1주일</a:t>
                      </a:r>
                      <a:endParaRPr sz="9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Articul8 &amp; MZC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엔드투엔드(End-to-End) 에이전트 워크플로우 시연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검증, 시연 및 확장 경로 확보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1주일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Articul8 &amp; MZC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사용자 수용 테스트(UAT) 최종 승인, 운영(Production) 로드맵 수립</a:t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가격정책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11480" y="685601"/>
            <a:ext cx="8298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2300"/>
              <a:buFont typeface="Malgun Gothic"/>
              <a:buNone/>
            </a:pPr>
            <a:r>
              <a:rPr b="1" lang="en-US" sz="20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PoC견적 (P&amp;ID(배관 및 계장 다이어그램) 앱만 추가 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4210363" y="1269286"/>
            <a:ext cx="1868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환율 1 USD = 1,487.32 KRW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11480" y="1491272"/>
            <a:ext cx="5074800" cy="2607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48640" y="1491272"/>
            <a:ext cx="3086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견적 항목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3703320" y="1491272"/>
            <a:ext cx="1645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연간 (USD)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48640" y="1751876"/>
            <a:ext cx="3086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 subscription (Starter)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703320" y="1751876"/>
            <a:ext cx="164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02433"/>
                </a:solidFill>
                <a:latin typeface="Arial"/>
                <a:ea typeface="Arial"/>
                <a:cs typeface="Arial"/>
                <a:sym typeface="Arial"/>
              </a:rPr>
              <a:t>$36,000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11480" y="2192034"/>
            <a:ext cx="5074800" cy="315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48640" y="2192034"/>
            <a:ext cx="4023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Products &amp; applications (</a:t>
            </a:r>
            <a:r>
              <a:rPr b="0" i="0" lang="en-US" sz="9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P&amp;ID(배관 및 계장 다이어그램) 앱  </a:t>
            </a:r>
            <a:r>
              <a:rPr lang="en-US" sz="900">
                <a:solidFill>
                  <a:srgbClr val="222222"/>
                </a:solidFill>
              </a:rPr>
              <a:t>전용</a:t>
            </a:r>
            <a:r>
              <a:rPr lang="en-US" sz="9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703320" y="2192034"/>
            <a:ext cx="164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02433"/>
                </a:solidFill>
                <a:latin typeface="Arial"/>
                <a:ea typeface="Arial"/>
                <a:cs typeface="Arial"/>
                <a:sym typeface="Arial"/>
              </a:rPr>
              <a:t>$90,000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48640" y="2620857"/>
            <a:ext cx="3086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&amp; Support (구독액의 18%)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703320" y="2620857"/>
            <a:ext cx="164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02433"/>
                </a:solidFill>
                <a:latin typeface="Arial"/>
                <a:ea typeface="Arial"/>
                <a:cs typeface="Arial"/>
                <a:sym typeface="Arial"/>
              </a:rPr>
              <a:t>$22,680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11480" y="3059394"/>
            <a:ext cx="5074800" cy="3429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48640" y="3059394"/>
            <a:ext cx="308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000"/>
              <a:buFont typeface="Malgun Gothic"/>
              <a:buNone/>
            </a:pPr>
            <a:r>
              <a:rPr b="1" lang="en-US" sz="10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연매출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703320" y="3059394"/>
            <a:ext cx="164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02433"/>
                </a:solidFill>
                <a:latin typeface="Arial"/>
                <a:ea typeface="Arial"/>
                <a:cs typeface="Arial"/>
                <a:sym typeface="Arial"/>
              </a:rPr>
              <a:t>$148,680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829300" y="1491272"/>
            <a:ext cx="2880600" cy="1920900"/>
          </a:xfrm>
          <a:prstGeom prst="roundRect">
            <a:avLst>
              <a:gd fmla="val 333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6035040" y="1527812"/>
            <a:ext cx="246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CADCFC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 1개월 기준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035040" y="1802132"/>
            <a:ext cx="2469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$12,390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035040" y="2659382"/>
            <a:ext cx="2469000" cy="13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6035040" y="2796542"/>
            <a:ext cx="2469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E8A33D"/>
                </a:solidFill>
                <a:latin typeface="Arial"/>
                <a:ea typeface="Arial"/>
                <a:cs typeface="Arial"/>
                <a:sym typeface="Arial"/>
              </a:rPr>
              <a:t>₩18,427,895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035040" y="3205436"/>
            <a:ext cx="246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CADCFC"/>
                </a:solidFill>
                <a:latin typeface="Malgun Gothic"/>
                <a:ea typeface="Malgun Gothic"/>
                <a:cs typeface="Malgun Gothic"/>
                <a:sym typeface="Malgun Gothic"/>
              </a:rPr>
              <a:t>VAT 별도, Frontier 대비 73% 절감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11480" y="3629922"/>
            <a:ext cx="384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사용량 가정 (월)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411480" y="3972822"/>
            <a:ext cx="137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처리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1783080" y="3972822"/>
            <a:ext cx="246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2,500 건 / 월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11480" y="4123019"/>
            <a:ext cx="137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 실행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1783080" y="4123019"/>
            <a:ext cx="246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25 회 / 월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11480" y="4290219"/>
            <a:ext cx="137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미션 실행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1783080" y="4290219"/>
            <a:ext cx="246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10 회 / 월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11480" y="4451751"/>
            <a:ext cx="137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상시 워크로드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1783080" y="4451751"/>
            <a:ext cx="246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없음 (어시스턴트·시큐리티 루프·디지털 트윈 0)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732020" y="3629922"/>
            <a:ext cx="3977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미포함 항목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732020" y="3938532"/>
            <a:ext cx="39777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Char char="•"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APM · PLM / Simulation · Domain Pack Bundle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Char char="•"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(SLD 등)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Char char="•"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GenAI Services — Data Perception as a Service, Model Training as a Service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08075" y="4611050"/>
            <a:ext cx="410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* </a:t>
            </a:r>
            <a:r>
              <a:rPr lang="en-US" sz="8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수, 에이전트 수, 유스케이스의 복잡성 또는 지식 그래프(Knowledge Graph)의 </a:t>
            </a:r>
            <a:endParaRPr sz="800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크기가 증가함에 따라 가격이 인상될 수 있습니다.</a:t>
            </a:r>
            <a:endParaRPr sz="800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가격정책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11480" y="2704590"/>
            <a:ext cx="5074800" cy="315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11480" y="698222"/>
            <a:ext cx="8298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2300"/>
              <a:buFont typeface="Malgun Gothic"/>
              <a:buNone/>
            </a:pPr>
            <a:r>
              <a:rPr b="1" lang="en-US" sz="20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PoC견적 (TBox/ABox 활용)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210363" y="1275597"/>
            <a:ext cx="1868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환율 1 USD = 1,487.32 KRW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411480" y="1497582"/>
            <a:ext cx="5074800" cy="2607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48640" y="1497582"/>
            <a:ext cx="3086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견적 항목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703320" y="1497582"/>
            <a:ext cx="1645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연간 (USD)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548640" y="1758186"/>
            <a:ext cx="3086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 subscription (Starter)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703320" y="1758186"/>
            <a:ext cx="164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02433"/>
                </a:solidFill>
                <a:latin typeface="Arial"/>
                <a:ea typeface="Arial"/>
                <a:cs typeface="Arial"/>
                <a:sym typeface="Arial"/>
              </a:rPr>
              <a:t>$36,000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11480" y="2073654"/>
            <a:ext cx="5074800" cy="315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48640" y="2073654"/>
            <a:ext cx="3086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Products &amp; applications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3703320" y="2073654"/>
            <a:ext cx="164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02433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48640" y="2389122"/>
            <a:ext cx="3086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GenAI Services — Data Perception as a Service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703320" y="2389122"/>
            <a:ext cx="164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02433"/>
                </a:solidFill>
                <a:latin typeface="Arial"/>
                <a:ea typeface="Arial"/>
                <a:cs typeface="Arial"/>
                <a:sym typeface="Arial"/>
              </a:rPr>
              <a:t>$300,000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48640" y="2704590"/>
            <a:ext cx="3086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3703320" y="2704590"/>
            <a:ext cx="164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02433"/>
                </a:solidFill>
                <a:latin typeface="Arial"/>
                <a:ea typeface="Arial"/>
                <a:cs typeface="Arial"/>
                <a:sym typeface="Arial"/>
              </a:rPr>
              <a:t>$60,480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48640" y="2704590"/>
            <a:ext cx="3086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&amp; Support (구독액의 18%)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411480" y="3065705"/>
            <a:ext cx="5074800" cy="3429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48640" y="3065705"/>
            <a:ext cx="308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000"/>
              <a:buFont typeface="Malgun Gothic"/>
              <a:buNone/>
            </a:pPr>
            <a:r>
              <a:rPr b="1" lang="en-US" sz="10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연매출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703320" y="3065705"/>
            <a:ext cx="164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02433"/>
                </a:solidFill>
                <a:latin typeface="Arial"/>
                <a:ea typeface="Arial"/>
                <a:cs typeface="Arial"/>
                <a:sym typeface="Arial"/>
              </a:rPr>
              <a:t>$396,480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829300" y="1497582"/>
            <a:ext cx="2880600" cy="1920900"/>
          </a:xfrm>
          <a:prstGeom prst="roundRect">
            <a:avLst>
              <a:gd fmla="val 333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6035040" y="1534122"/>
            <a:ext cx="246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CADCFC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 1개월 기준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035040" y="1808442"/>
            <a:ext cx="2469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$33,040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035040" y="2665692"/>
            <a:ext cx="2469000" cy="13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6035040" y="2802852"/>
            <a:ext cx="2469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E8A33D"/>
                </a:solidFill>
                <a:latin typeface="Arial"/>
                <a:ea typeface="Arial"/>
                <a:cs typeface="Arial"/>
                <a:sym typeface="Arial"/>
              </a:rPr>
              <a:t>₩49,141,053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6035040" y="3211746"/>
            <a:ext cx="246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CADCFC"/>
                </a:solidFill>
                <a:latin typeface="Malgun Gothic"/>
                <a:ea typeface="Malgun Gothic"/>
                <a:cs typeface="Malgun Gothic"/>
                <a:sym typeface="Malgun Gothic"/>
              </a:rPr>
              <a:t>VAT 별도 · 파트너 마진 미반영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11480" y="3636233"/>
            <a:ext cx="384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사용량 가정 (월)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411480" y="3979133"/>
            <a:ext cx="137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처리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1783080" y="3979133"/>
            <a:ext cx="246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2,500 건 / 월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11480" y="4129330"/>
            <a:ext cx="137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 실행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1783080" y="4129330"/>
            <a:ext cx="246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25 회 / 월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411480" y="4296529"/>
            <a:ext cx="137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미션 실행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783080" y="4296529"/>
            <a:ext cx="246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10 회 / 월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11480" y="4458061"/>
            <a:ext cx="137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상시 워크로드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1783080" y="4458061"/>
            <a:ext cx="246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800"/>
              <a:buFont typeface="Malgun Gothic"/>
              <a:buNone/>
            </a:pPr>
            <a:r>
              <a:rPr b="1" lang="en-US" sz="8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없음 (어시스턴트·시큐리티 루프·디지털 트윈)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4732020" y="3636233"/>
            <a:ext cx="3977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3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024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미포함 항목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4732020" y="3944843"/>
            <a:ext cx="39777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Char char="•"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APM · PLM / Simulation · Domain Pack Bundle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Char char="•"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(SLD 등)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algun Gothic"/>
              <a:buChar char="•"/>
            </a:pPr>
            <a:r>
              <a:rPr lang="en-US" sz="8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 Training as a Service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308087" y="4611044"/>
            <a:ext cx="781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* 문서 수, 에이전트 수, 유스케이스의 복잡성 또는 지식 그래프(Knowledge Graph)의 </a:t>
            </a:r>
            <a:endParaRPr sz="800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크기가 증가함에 따라 가격이 인상될 수 있습니다.</a:t>
            </a:r>
            <a:endParaRPr sz="800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442667" y="569955"/>
            <a:ext cx="116034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231FF"/>
                </a:solidFill>
                <a:latin typeface="Verdana"/>
                <a:ea typeface="Verdana"/>
                <a:cs typeface="Verdana"/>
                <a:sym typeface="Verdana"/>
              </a:rPr>
              <a:t>사례 분석</a:t>
            </a:r>
            <a:r>
              <a:rPr b="1" lang="en-US" sz="2000">
                <a:solidFill>
                  <a:srgbClr val="0231FF"/>
                </a:solidFill>
                <a:latin typeface="Verdana"/>
                <a:ea typeface="Verdana"/>
                <a:cs typeface="Verdana"/>
                <a:sym typeface="Verdana"/>
              </a:rPr>
              <a:t> : 디지털 트윈 (전기 + 기계 + 네트워크</a:t>
            </a:r>
            <a:r>
              <a:rPr b="1" lang="en-US" sz="2000">
                <a:solidFill>
                  <a:srgbClr val="0231FF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4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365750" y="1126750"/>
            <a:ext cx="3865200" cy="36231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왜 중요한가?</a:t>
            </a:r>
            <a:endParaRPr b="0" i="0" sz="1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제조 시설 이기종(heterogeneous) 설비 생태계 운영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설비 고장시, 상호 연결된 시스템 전반에 거친 연동제어, 신호 경로 및 부하 흐름에 대한 체계적인 분석이 필요.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Articul8 </a:t>
            </a:r>
            <a:r>
              <a:rPr b="1" lang="en-US" sz="1300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해결안</a:t>
            </a:r>
            <a:r>
              <a:rPr b="1" i="0" lang="en-US" sz="1300" u="none" cap="none" strike="noStrike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b="1" i="0" sz="1300" u="none" cap="none" strike="noStrike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도메인 특화 </a:t>
            </a:r>
            <a:r>
              <a:rPr b="1" lang="en-US" sz="1200">
                <a:latin typeface="Verdana"/>
                <a:ea typeface="Verdana"/>
                <a:cs typeface="Verdana"/>
                <a:sym typeface="Verdana"/>
              </a:rPr>
              <a:t>비전 에이전트</a:t>
            </a: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전기, 기계 및 엔지니어링 도면을 처리하여 시각적 기술정보를 추출의 정확성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네트워크 </a:t>
            </a:r>
            <a:r>
              <a:rPr b="1" lang="en-US" sz="1200">
                <a:latin typeface="Verdana"/>
                <a:ea typeface="Verdana"/>
                <a:cs typeface="Verdana"/>
                <a:sym typeface="Verdana"/>
              </a:rPr>
              <a:t>토폴로지 에이전트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 : 구성, 라우팅 테이블, 인터페이스 맵, MIB 및 장치 핑거프린트를 분석하여 시스템 아키텍처를 매핑하고 시스템의 디지털 트윈 생성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도메인 특화 </a:t>
            </a:r>
            <a:r>
              <a:rPr b="1" lang="en-US" sz="1200">
                <a:latin typeface="Verdana"/>
                <a:ea typeface="Verdana"/>
                <a:cs typeface="Verdana"/>
                <a:sym typeface="Verdana"/>
              </a:rPr>
              <a:t>진단 에이전트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: 잘못 구성된 노트, 과부하된 피더, 공정 병목 현상 및 드라이브 고장을 식별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4472550" y="1126750"/>
            <a:ext cx="4000200" cy="36231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Articul8의 차별점:</a:t>
            </a:r>
            <a:endParaRPr b="1" sz="1300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도면 해석, 네트워크 추론 및 시계열 분석을 </a:t>
            </a:r>
            <a:r>
              <a:rPr b="1" lang="en-US" sz="1200">
                <a:latin typeface="Verdana"/>
                <a:ea typeface="Verdana"/>
                <a:cs typeface="Verdana"/>
                <a:sym typeface="Verdana"/>
              </a:rPr>
              <a:t>통합된 추론 프레임워크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 내에서 수행.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단순한 표면적 경고가 아닌 </a:t>
            </a:r>
            <a:r>
              <a:rPr b="1" lang="en-US" sz="1200">
                <a:latin typeface="Verdana"/>
                <a:ea typeface="Verdana"/>
                <a:cs typeface="Verdana"/>
                <a:sym typeface="Verdana"/>
              </a:rPr>
              <a:t>도메인 특화된 근본 원인 분석(설명)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을 제공.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클라우드, 온프레미스(사내 구축), 에어갭(폐쇄망) 등 유연한 배포 옵션을 지원.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성과</a:t>
            </a:r>
            <a:r>
              <a:rPr b="1" i="0" lang="en-US" sz="1400" u="none" cap="none" strike="noStrike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시운전 및 트러블슈팅시간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30–50% </a:t>
            </a:r>
            <a:r>
              <a:rPr b="1" lang="en-US" sz="1200">
                <a:latin typeface="Verdana"/>
                <a:ea typeface="Verdana"/>
                <a:cs typeface="Verdana"/>
                <a:sym typeface="Verdana"/>
              </a:rPr>
              <a:t>단축</a:t>
            </a:r>
            <a:endParaRPr b="1"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생산 중단 시 </a:t>
            </a:r>
            <a:r>
              <a:rPr b="1" lang="en-US" sz="1200">
                <a:latin typeface="Verdana"/>
                <a:ea typeface="Verdana"/>
                <a:cs typeface="Verdana"/>
                <a:sym typeface="Verdana"/>
              </a:rPr>
              <a:t>연쇄 장애 발생 빈도 감소</a:t>
            </a:r>
            <a:endParaRPr b="1"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처리량 및 에너지 </a:t>
            </a:r>
            <a:r>
              <a:rPr b="1" lang="en-US" sz="1200">
                <a:latin typeface="Verdana"/>
                <a:ea typeface="Verdana"/>
                <a:cs typeface="Verdana"/>
                <a:sym typeface="Verdana"/>
              </a:rPr>
              <a:t>효율성 향상</a:t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463050" y="753050"/>
            <a:ext cx="8536800" cy="39474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300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595252" y="858554"/>
            <a:ext cx="440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Articul8 도메인 특화 에이전트 상세 역할</a:t>
            </a:r>
            <a:endParaRPr b="1"/>
          </a:p>
        </p:txBody>
      </p:sp>
      <p:graphicFrame>
        <p:nvGraphicFramePr>
          <p:cNvPr id="239" name="Google Shape;239;p20"/>
          <p:cNvGraphicFramePr/>
          <p:nvPr/>
        </p:nvGraphicFramePr>
        <p:xfrm>
          <a:off x="732850" y="1127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{79175A0E-B5E2-49A2-865B-31627C0D214C}</a:tableStyleId>
              </a:tblPr>
              <a:tblGrid>
                <a:gridCol w="2447925"/>
                <a:gridCol w="2447925"/>
                <a:gridCol w="2447925"/>
              </a:tblGrid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에이전트 명칭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핵심 역할 (What it does)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주요 분석 데이터 (Input)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</a:t>
                      </a: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멀티모달 시맨틱</a:t>
                      </a: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에이전트 (</a:t>
                      </a:r>
                      <a:r>
                        <a:rPr b="1" lang="en-US" sz="900">
                          <a:solidFill>
                            <a:schemeClr val="dk1"/>
                          </a:solidFill>
                        </a:rPr>
                        <a:t>Multimodal Semantic Agent</a:t>
                      </a: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시각 정보의 디지털화: </a:t>
                      </a: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사람이 보는 도면을 기계가 이해할 수 있는 데이터로 변환합니다.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전기/기계/엔지니어링 도면 (PDF, 이미지 등)</a:t>
                      </a:r>
                      <a:endParaRPr b="0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네트워크 토폴로지 에이전트 (Network Topology Agent)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시스템 구조도 구축: </a:t>
                      </a: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개별 부품 간의 연결성(논리적/물리적 관계)을 파악하여 아키텍처를 매핑합니다.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구성 정보, 라우팅 테이블, 인터페이스 맵, MIB, 장치 핑거프린트</a:t>
                      </a:r>
                      <a:endParaRPr b="0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진단 에이전트 (</a:t>
                      </a:r>
                      <a:r>
                        <a:rPr b="1" lang="en-US" sz="9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Insights</a:t>
                      </a: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Agent)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지능형 문제 해결: </a:t>
                      </a: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매핑된 시스템 데이터를 바탕으로 이상 징후의 근본 원인을 분석합니다.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시스템 아키텍처(위 에이전트 결과물), 시계열 데이터, 설정값</a:t>
                      </a:r>
                      <a:endParaRPr b="0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" name="Google Shape;240;p20"/>
          <p:cNvSpPr txBox="1"/>
          <p:nvPr/>
        </p:nvSpPr>
        <p:spPr>
          <a:xfrm>
            <a:off x="712650" y="3118070"/>
            <a:ext cx="77187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rabicPeriod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[비전 에이전트]가 기초 데이터를 추출합니다. : 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"이 도면에 </a:t>
            </a:r>
            <a:r>
              <a:rPr b="1" i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300개의 차단기</a:t>
            </a:r>
            <a:r>
              <a:rPr i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가 있고, 각각의 </a:t>
            </a:r>
            <a:r>
              <a:rPr b="1" i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명칭</a:t>
            </a:r>
            <a:r>
              <a:rPr i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이 무엇이다."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라는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정보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를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시각적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으로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파악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rabicPeriod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[네트워크 토폴로지 에이전트]가 그 부품들을 연결합니다. : 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"A 차단기가 B 변압기에 연결되어 있고, 그 아래에 C 모터가 있다"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는 식으로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전력 흐름(Load Flow)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과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신호 경로(Signal Path)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를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지도로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그립니다. 이것이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'디지털 트윈'의 뼈대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가 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rabicPeriod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[진단 에이전트]가 실시간으로 감시 및 분석합니다. : 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"전체 시스템의 흐름(디지털 트윈)을 보니, 지금 C 모터에서 과부하가 발생했는데 이는 상위 B 변압기의 설정 오류 때문일 가능성이 90%이다."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라는 구체적인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근본 원인(Root Cause)을 제시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" name="Google Shape;249;p21"/>
          <p:cNvGrpSpPr/>
          <p:nvPr/>
        </p:nvGrpSpPr>
        <p:grpSpPr>
          <a:xfrm>
            <a:off x="233410" y="715521"/>
            <a:ext cx="8622385" cy="4031879"/>
            <a:chOff x="4485874" y="1118025"/>
            <a:chExt cx="4514101" cy="3582300"/>
          </a:xfrm>
        </p:grpSpPr>
        <p:sp>
          <p:nvSpPr>
            <p:cNvPr id="250" name="Google Shape;250;p21"/>
            <p:cNvSpPr/>
            <p:nvPr/>
          </p:nvSpPr>
          <p:spPr>
            <a:xfrm>
              <a:off x="4485875" y="1118025"/>
              <a:ext cx="4514100" cy="3582300"/>
            </a:xfrm>
            <a:prstGeom prst="rect">
              <a:avLst/>
            </a:prstGeom>
            <a:solidFill>
              <a:srgbClr val="9BC3FF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4485874" y="1118025"/>
              <a:ext cx="45141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Verdana"/>
                <a:buNone/>
              </a:pPr>
              <a:r>
                <a:rPr b="1" lang="en-US" sz="105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A8 SLD 분석기(Signal Line Diagram Analyzer)를 통해 생성된 전기 구성 요소 및 네트워크 계층 구조의 자동 감지/라벨링</a:t>
              </a:r>
              <a:endParaRPr/>
            </a:p>
          </p:txBody>
        </p:sp>
      </p:grpSp>
      <p:pic>
        <p:nvPicPr>
          <p:cNvPr id="252" name="Google Shape;2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00" y="1047000"/>
            <a:ext cx="3928050" cy="216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7075" y="1064450"/>
            <a:ext cx="4608725" cy="21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4247075" y="3314304"/>
            <a:ext cx="43617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인사이트 에이전트(Insights Agent)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US" sz="900">
                <a:solidFill>
                  <a:schemeClr val="dk1"/>
                </a:solidFill>
              </a:rPr>
              <a:t>실행 가능한 정보로 변환:</a:t>
            </a:r>
            <a:r>
              <a:rPr lang="en-US" sz="900">
                <a:solidFill>
                  <a:schemeClr val="dk1"/>
                </a:solidFill>
              </a:rPr>
              <a:t> 이전 단계 에이전트들이 구축한 구조화된 데이터를 바탕으로 (조사 보완),</a:t>
            </a:r>
            <a:r>
              <a:rPr lang="en-US" sz="900">
                <a:solidFill>
                  <a:schemeClr val="dk1"/>
                </a:solidFill>
              </a:rPr>
              <a:t> 실제 현장 </a:t>
            </a:r>
            <a:r>
              <a:rPr lang="en-US" sz="900">
                <a:solidFill>
                  <a:schemeClr val="dk1"/>
                </a:solidFill>
              </a:rPr>
              <a:t>적용 가능한</a:t>
            </a:r>
            <a:r>
              <a:rPr lang="en-US" sz="900">
                <a:solidFill>
                  <a:schemeClr val="dk1"/>
                </a:solidFill>
              </a:rPr>
              <a:t> 유의미한 엔지니어링 정보로 변환.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US" sz="900">
                <a:solidFill>
                  <a:schemeClr val="dk1"/>
                </a:solidFill>
              </a:rPr>
              <a:t>심층적인 시스템 분석:</a:t>
            </a:r>
            <a:r>
              <a:rPr lang="en-US" sz="900">
                <a:solidFill>
                  <a:schemeClr val="dk1"/>
                </a:solidFill>
              </a:rPr>
              <a:t> 통합된 데이터 활용 전체 시스템 계층(서브넷, 장비 등)에 걸쳐 기능 흐름 평가, 격차 식별 및 근본 원인 분석 수행.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US" sz="900">
                <a:solidFill>
                  <a:schemeClr val="dk1"/>
                </a:solidFill>
              </a:rPr>
              <a:t>우선순위 기반 의사결정 지원:</a:t>
            </a:r>
            <a:r>
              <a:rPr lang="en-US" sz="900">
                <a:solidFill>
                  <a:schemeClr val="dk1"/>
                </a:solidFill>
              </a:rPr>
              <a:t> 네트워크 최적화 위치, 신뢰성 위험 요소, 향후 유지 보수 조치 등 구체적</a:t>
            </a:r>
            <a:r>
              <a:rPr lang="en-US" sz="900">
                <a:solidFill>
                  <a:schemeClr val="dk1"/>
                </a:solidFill>
              </a:rPr>
              <a:t> 우선순위가 지정된 해결책을 엔지니어에게 제시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21350" y="3314310"/>
            <a:ext cx="36876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멀티모달 의미 에이전트(Multimodal Semantic Agent)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US" sz="900">
                <a:solidFill>
                  <a:schemeClr val="dk1"/>
                </a:solidFill>
              </a:rPr>
              <a:t>다양한 데이터의 동시 분석:</a:t>
            </a:r>
            <a:r>
              <a:rPr lang="en-US" sz="900">
                <a:solidFill>
                  <a:schemeClr val="dk1"/>
                </a:solidFill>
              </a:rPr>
              <a:t> 엔지니어링 다이어그램(시각 정보)과 엑셀 신호 시트</a:t>
            </a:r>
            <a:r>
              <a:rPr lang="en-US" sz="900">
                <a:solidFill>
                  <a:schemeClr val="dk1"/>
                </a:solidFill>
              </a:rPr>
              <a:t>(표 형식 메타데이터)</a:t>
            </a:r>
            <a:r>
              <a:rPr lang="en-US" sz="900">
                <a:solidFill>
                  <a:schemeClr val="dk1"/>
                </a:solidFill>
              </a:rPr>
              <a:t>를 동시 처리,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US" sz="900">
                <a:solidFill>
                  <a:schemeClr val="dk1"/>
                </a:solidFill>
              </a:rPr>
              <a:t>구조화된 결과 및 투명한 검증:</a:t>
            </a:r>
            <a:r>
              <a:rPr lang="en-US" sz="900">
                <a:solidFill>
                  <a:schemeClr val="dk1"/>
                </a:solidFill>
              </a:rPr>
              <a:t> 시스템 일관된 구조 구축, 각 매핑 결과 신뢰도 점수 부여 엔지니어 직접 검증 지원.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-US" sz="900">
                <a:solidFill>
                  <a:schemeClr val="dk1"/>
                </a:solidFill>
              </a:rPr>
              <a:t>엔지니어링 등급의 압도적 정확도:</a:t>
            </a:r>
            <a:r>
              <a:rPr lang="en-US" sz="900">
                <a:solidFill>
                  <a:schemeClr val="dk1"/>
                </a:solidFill>
              </a:rPr>
              <a:t> 범용 모델(GPT-4 등)보다 훨씬 높은 94~96%  정확도로 구성 요소 매핑  텍스트 추출 수행.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233400" y="444728"/>
            <a:ext cx="752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1. Multimodal Semantic Agent: Interpreting Meaning Across Modalities</a:t>
            </a:r>
            <a:endParaRPr sz="1200"/>
          </a:p>
        </p:txBody>
      </p:sp>
      <p:sp>
        <p:nvSpPr>
          <p:cNvPr id="257" name="Google Shape;25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233412" y="715521"/>
            <a:ext cx="8622382" cy="4031879"/>
          </a:xfrm>
          <a:prstGeom prst="rect">
            <a:avLst/>
          </a:prstGeom>
          <a:solidFill>
            <a:srgbClr val="9BC3FF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4350200" y="797525"/>
            <a:ext cx="4300800" cy="3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네트워크 토폴로지 에이전트(Network Topology Agent)가 수행하는 핵심 역할과 장점을 설명</a:t>
            </a:r>
            <a:r>
              <a:rPr lang="en-US" sz="1100">
                <a:solidFill>
                  <a:schemeClr val="dk1"/>
                </a:solidFill>
              </a:rPr>
              <a:t>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주요 특징</a:t>
            </a:r>
            <a:r>
              <a:rPr lang="en-US" sz="1100">
                <a:solidFill>
                  <a:schemeClr val="dk1"/>
                </a:solidFill>
              </a:rPr>
              <a:t>은</a:t>
            </a:r>
            <a:r>
              <a:rPr lang="en-US" sz="1100">
                <a:solidFill>
                  <a:schemeClr val="dk1"/>
                </a:solidFill>
              </a:rPr>
              <a:t> 다음과 같습니다.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동적 그래프 구축: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식별된 구성 요소를 서로 연결</a:t>
            </a:r>
            <a:r>
              <a:rPr lang="en-US" sz="1100">
                <a:solidFill>
                  <a:schemeClr val="dk1"/>
                </a:solidFill>
              </a:rPr>
              <a:t>하여, 정적인 다이어그램을 기계가 읽고 쿼리할 수 있는 </a:t>
            </a:r>
            <a:r>
              <a:rPr b="1" lang="en-US" sz="1100">
                <a:solidFill>
                  <a:schemeClr val="dk1"/>
                </a:solidFill>
              </a:rPr>
              <a:t>통합 디지털 모델로 변환</a:t>
            </a:r>
            <a:r>
              <a:rPr lang="en-US" sz="1100">
                <a:solidFill>
                  <a:schemeClr val="dk1"/>
                </a:solidFill>
              </a:rPr>
              <a:t>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직관적인 가시성 및 호환성:</a:t>
            </a:r>
            <a:r>
              <a:rPr lang="en-US" sz="1100">
                <a:solidFill>
                  <a:schemeClr val="dk1"/>
                </a:solidFill>
              </a:rPr>
              <a:t> 문제 진단을 위한 '구성 요소 중심 뷰'와 전체 연결을 보여주는 '계층적 개요 뷰'를 제공하며, SCADA* 등 외부 시스템과 즉시 연동 가능한 XML 출력을 지원합니다.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문제 해결 프로세스 최적화:</a:t>
            </a:r>
            <a:r>
              <a:rPr lang="en-US" sz="1100">
                <a:solidFill>
                  <a:schemeClr val="dk1"/>
                </a:solidFill>
              </a:rPr>
              <a:t> 공간 분석과 신뢰도 기반 순위 시스템을 통해 엔지니어가 문제의 근본 원인을 빠르게 파악하고 불확실한 영역을 쉽게 검토할 수 있도록 돕습니다.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67" name="Google Shape;2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2697100"/>
            <a:ext cx="3984450" cy="203597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233400" y="418578"/>
            <a:ext cx="48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2. Network Topology Agent: Reconstructing the System Graph</a:t>
            </a:r>
            <a:endParaRPr sz="900"/>
          </a:p>
        </p:txBody>
      </p:sp>
      <p:sp>
        <p:nvSpPr>
          <p:cNvPr id="269" name="Google Shape;269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0" name="Google Shape;27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" y="797525"/>
            <a:ext cx="3984450" cy="186498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1711150" y="1998275"/>
            <a:ext cx="2502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색으로 식별된 구성요소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( image_text, Isolator,Breaker, Earth_Switch, Generator, Transformator, Load, Busbar) </a:t>
            </a:r>
            <a:endParaRPr sz="900"/>
          </a:p>
        </p:txBody>
      </p:sp>
      <p:sp>
        <p:nvSpPr>
          <p:cNvPr id="272" name="Google Shape;272;p22"/>
          <p:cNvSpPr txBox="1"/>
          <p:nvPr/>
        </p:nvSpPr>
        <p:spPr>
          <a:xfrm>
            <a:off x="365750" y="4487400"/>
            <a:ext cx="255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구성요소  </a:t>
            </a:r>
            <a:r>
              <a:rPr lang="en-US" sz="900"/>
              <a:t>관계 그래프</a:t>
            </a:r>
            <a:endParaRPr sz="900"/>
          </a:p>
        </p:txBody>
      </p:sp>
      <p:sp>
        <p:nvSpPr>
          <p:cNvPr id="273" name="Google Shape;273;p22"/>
          <p:cNvSpPr txBox="1"/>
          <p:nvPr/>
        </p:nvSpPr>
        <p:spPr>
          <a:xfrm>
            <a:off x="4737944" y="4271700"/>
            <a:ext cx="40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* </a:t>
            </a:r>
            <a:r>
              <a:rPr lang="en-US" sz="900"/>
              <a:t>SCADA(Supervisory Control And Data Acquisition)감시 제어 및 데이터 수집 시스템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/>
          <p:nvPr/>
        </p:nvSpPr>
        <p:spPr>
          <a:xfrm>
            <a:off x="343562" y="777259"/>
            <a:ext cx="8622300" cy="4032000"/>
          </a:xfrm>
          <a:prstGeom prst="rect">
            <a:avLst/>
          </a:prstGeom>
          <a:solidFill>
            <a:srgbClr val="9BC3FF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4350200" y="797525"/>
            <a:ext cx="4300800" cy="3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Insights</a:t>
            </a:r>
            <a:r>
              <a:rPr b="1" lang="en-US" sz="900">
                <a:solidFill>
                  <a:schemeClr val="dk1"/>
                </a:solidFill>
              </a:rPr>
              <a:t> Agent</a:t>
            </a:r>
            <a:r>
              <a:rPr lang="en-US" sz="1100">
                <a:solidFill>
                  <a:schemeClr val="dk1"/>
                </a:solidFill>
              </a:rPr>
              <a:t>는 실제 엔지니어링 문제를 해결하고 최적의 의사결정을 내리도록 돕는 에이전트이며, </a:t>
            </a:r>
            <a:r>
              <a:rPr lang="en-US" sz="1100">
                <a:solidFill>
                  <a:schemeClr val="dk1"/>
                </a:solidFill>
              </a:rPr>
              <a:t> 핵심 역할과 장점을 설명합니다.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주요 특징은 다음과 같습니다.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핵심 요약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역할 (데이터를 실행 가능한 정보로 변환):</a:t>
            </a:r>
            <a:r>
              <a:rPr lang="en-US" sz="1100">
                <a:solidFill>
                  <a:schemeClr val="dk1"/>
                </a:solidFill>
              </a:rPr>
              <a:t> 이전 단계의 에이전트들이 분석한 구조화된 데이터를 바탕으로, 이를 실질적인 </a:t>
            </a:r>
            <a:r>
              <a:rPr b="1" lang="en-US" sz="1100">
                <a:solidFill>
                  <a:schemeClr val="dk1"/>
                </a:solidFill>
              </a:rPr>
              <a:t>엔지니어링 의사결정에 활용</a:t>
            </a:r>
            <a:r>
              <a:rPr lang="en-US" sz="1100">
                <a:solidFill>
                  <a:schemeClr val="dk1"/>
                </a:solidFill>
              </a:rPr>
              <a:t>할 수 있는 '인텔리전스'로 변환하는 최종 단계입니다.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주요 기능 (심층 분석):</a:t>
            </a:r>
            <a:r>
              <a:rPr lang="en-US" sz="1100">
                <a:solidFill>
                  <a:schemeClr val="dk1"/>
                </a:solidFill>
              </a:rPr>
              <a:t> 다양한 형태의 데이터를 종합하여 </a:t>
            </a:r>
            <a:r>
              <a:rPr b="1" lang="en-US" sz="1100">
                <a:solidFill>
                  <a:schemeClr val="dk1"/>
                </a:solidFill>
              </a:rPr>
              <a:t>기능 흐름 평가, 강점 분석, 격차 식별, 그리고 근본 원인 분석</a:t>
            </a:r>
            <a:r>
              <a:rPr lang="en-US" sz="1100">
                <a:solidFill>
                  <a:schemeClr val="dk1"/>
                </a:solidFill>
              </a:rPr>
              <a:t>을 수행합니다.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결과 도출 (우선순위 기반 권장 사항):</a:t>
            </a:r>
            <a:r>
              <a:rPr lang="en-US" sz="1100">
                <a:solidFill>
                  <a:schemeClr val="dk1"/>
                </a:solidFill>
              </a:rPr>
              <a:t> 단순히 다이어그램을 읽는 것을 넘어, </a:t>
            </a:r>
            <a:r>
              <a:rPr b="1" lang="en-US" sz="1100">
                <a:solidFill>
                  <a:schemeClr val="dk1"/>
                </a:solidFill>
              </a:rPr>
              <a:t>네트워크 최적화 위치, 위험 요소가 있는 구성 요소 파악, 향후 필요한 유지보수 조치</a:t>
            </a:r>
            <a:r>
              <a:rPr lang="en-US" sz="1100">
                <a:solidFill>
                  <a:schemeClr val="dk1"/>
                </a:solidFill>
              </a:rPr>
              <a:t> 등에 대한 </a:t>
            </a:r>
            <a:r>
              <a:rPr b="1" lang="en-US" sz="1100">
                <a:solidFill>
                  <a:schemeClr val="dk1"/>
                </a:solidFill>
              </a:rPr>
              <a:t>구체적이고 우선순위가 지정된 권장 사항을 제공</a:t>
            </a:r>
            <a:r>
              <a:rPr lang="en-US" sz="1100">
                <a:solidFill>
                  <a:schemeClr val="dk1"/>
                </a:solidFill>
              </a:rPr>
              <a:t>하여 실제적인 성과(결과)를 이끌어냅니다.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236381" y="502475"/>
            <a:ext cx="426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3. </a:t>
            </a:r>
            <a:r>
              <a:rPr b="1" lang="en-US" sz="900">
                <a:latin typeface="Verdana"/>
                <a:ea typeface="Verdana"/>
                <a:cs typeface="Verdana"/>
                <a:sym typeface="Verdana"/>
              </a:rPr>
              <a:t>Insights</a:t>
            </a:r>
            <a:r>
              <a:rPr b="1" lang="en-US" sz="900">
                <a:solidFill>
                  <a:schemeClr val="dk1"/>
                </a:solidFill>
              </a:rPr>
              <a:t> Agent: Turning Structure into Decisions</a:t>
            </a:r>
            <a:endParaRPr sz="900"/>
          </a:p>
        </p:txBody>
      </p:sp>
      <p:pic>
        <p:nvPicPr>
          <p:cNvPr id="284" name="Google Shape;28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13" y="946688"/>
            <a:ext cx="3867824" cy="344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 (A8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차별화 강점)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225875" y="587301"/>
            <a:ext cx="777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Articul8의 도메인 특화 에이전트(특히 다이어그램 이해 에이전트)가 범용 AI 모델인 GPT보다 뛰어난 이유는 </a:t>
            </a:r>
            <a:r>
              <a:rPr b="1" lang="en-US" sz="1200">
                <a:solidFill>
                  <a:schemeClr val="dk1"/>
                </a:solidFill>
              </a:rPr>
              <a:t>정밀한 공간적 추론 능력, 구조적 토폴로지 분석, 그리고 엔지니어링 등급의 정확도</a:t>
            </a:r>
            <a:r>
              <a:rPr lang="en-US" sz="1200">
                <a:solidFill>
                  <a:schemeClr val="dk1"/>
                </a:solidFill>
              </a:rPr>
              <a:t> 차이 때문입니다.</a:t>
            </a:r>
            <a:endParaRPr sz="1200"/>
          </a:p>
        </p:txBody>
      </p:sp>
      <p:sp>
        <p:nvSpPr>
          <p:cNvPr id="294" name="Google Shape;294;p24"/>
          <p:cNvSpPr txBox="1"/>
          <p:nvPr/>
        </p:nvSpPr>
        <p:spPr>
          <a:xfrm>
            <a:off x="298175" y="1056288"/>
            <a:ext cx="73308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1. 압도적인 도면 인식 성능 (vs GPT-5.4)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단선도(SLD) 이미지 64개(총 8,077개의 구성 요소 포함)를 대상으로 정확한 위치 감지 능력을 테스트한 벤치마크 결과입니다. (정확도 판정 기준: $IOU &gt; 0.5$)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295" name="Google Shape;295;p24"/>
          <p:cNvGraphicFramePr/>
          <p:nvPr/>
        </p:nvGraphicFramePr>
        <p:xfrm>
          <a:off x="478775" y="1904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{EFB5BDA7-C030-4439-ABC7-2EE9DA426E76}</a:tableStyleId>
              </a:tblPr>
              <a:tblGrid>
                <a:gridCol w="2534000"/>
                <a:gridCol w="2534000"/>
                <a:gridCol w="2534000"/>
              </a:tblGrid>
              <a:tr h="27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평가 지표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GPT-5.4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A8-TSM-Single Line Diagram (Articul8)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27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정밀도 (Precision)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0.0079 (0.1% 미만)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0.6999 (약 70%)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재현율 (Recall)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0.0017 (0.2% 미만)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0.7792 (약 78%)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6" name="Google Shape;296;p24"/>
          <p:cNvSpPr txBox="1"/>
          <p:nvPr/>
        </p:nvSpPr>
        <p:spPr>
          <a:xfrm>
            <a:off x="478775" y="2947299"/>
            <a:ext cx="752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실제 적용 시 차이:</a:t>
            </a:r>
            <a:r>
              <a:rPr lang="en-US" sz="1000">
                <a:solidFill>
                  <a:schemeClr val="dk1"/>
                </a:solidFill>
              </a:rPr>
              <a:t> 126개의 구성 요소가 포함된 복잡한 도면을 분석할 때, </a:t>
            </a:r>
            <a:r>
              <a:rPr b="1" lang="en-US" sz="1000">
                <a:solidFill>
                  <a:schemeClr val="dk1"/>
                </a:solidFill>
              </a:rPr>
              <a:t>GPT-5.4는 정밀하게 위치를 식별한 부품이 0개</a:t>
            </a:r>
            <a:r>
              <a:rPr lang="en-US" sz="1000">
                <a:solidFill>
                  <a:schemeClr val="dk1"/>
                </a:solidFill>
              </a:rPr>
              <a:t>에 불과했던 반면, </a:t>
            </a:r>
            <a:r>
              <a:rPr b="1" lang="en-US" sz="1000">
                <a:solidFill>
                  <a:schemeClr val="dk1"/>
                </a:solidFill>
              </a:rPr>
              <a:t>Articul8의 전용 모델은 약 98개의 부품을 정확하게 감지</a:t>
            </a:r>
            <a:r>
              <a:rPr lang="en-US" sz="1000">
                <a:solidFill>
                  <a:schemeClr val="dk1"/>
                </a:solidFill>
              </a:rPr>
              <a:t>해 냈습니다.</a:t>
            </a:r>
            <a:endParaRPr sz="1300"/>
          </a:p>
        </p:txBody>
      </p:sp>
      <p:sp>
        <p:nvSpPr>
          <p:cNvPr id="297" name="Google Shape;297;p24"/>
          <p:cNvSpPr txBox="1"/>
          <p:nvPr/>
        </p:nvSpPr>
        <p:spPr>
          <a:xfrm>
            <a:off x="365750" y="3397786"/>
            <a:ext cx="771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2</a:t>
            </a:r>
            <a:r>
              <a:rPr b="1" lang="en-US" sz="1200"/>
              <a:t>. 다중 모달 데이터 매핑 능력 (vs GPT-4 / Claude)</a:t>
            </a:r>
            <a:endParaRPr b="1" sz="1200"/>
          </a:p>
        </p:txBody>
      </p:sp>
      <p:graphicFrame>
        <p:nvGraphicFramePr>
          <p:cNvPr id="298" name="Google Shape;298;p24"/>
          <p:cNvGraphicFramePr/>
          <p:nvPr/>
        </p:nvGraphicFramePr>
        <p:xfrm>
          <a:off x="478775" y="37670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{EFB5BDA7-C030-4439-ABC7-2EE9DA426E76}</a:tableStyleId>
              </a:tblPr>
              <a:tblGrid>
                <a:gridCol w="2534000"/>
                <a:gridCol w="2534000"/>
                <a:gridCol w="2534000"/>
              </a:tblGrid>
              <a:tr h="27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평가 지표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GPT-4 / Claude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A8-TSM-Single Line Diagram (Articul8)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27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구성 요소 매핑 정확도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84%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96%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기호 및 도메인 텍스트 추출 정확도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77%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94%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9" name="Google Shape;29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 (A8 차별화 강점)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298175" y="703900"/>
            <a:ext cx="733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3. GPT가 도면 분석에서 한계를 겪고, Articul8이 더 나은 이유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308" name="Google Shape;308;p25"/>
          <p:cNvGraphicFramePr/>
          <p:nvPr/>
        </p:nvGraphicFramePr>
        <p:xfrm>
          <a:off x="478775" y="1154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{EFB5BDA7-C030-4439-ABC7-2EE9DA426E76}</a:tableStyleId>
              </a:tblPr>
              <a:tblGrid>
                <a:gridCol w="2534000"/>
                <a:gridCol w="2534000"/>
                <a:gridCol w="2534000"/>
              </a:tblGrid>
              <a:tr h="27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평가 지표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GPT-5.4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A8-TSM-Single Line Diagram (Articul8)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27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구조와 관계 보존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이미지나 표를 텍스트 덩어리로 단순 직렬화(Flattening)하여 해석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요소 간의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연결성, 계층 구조, 관계 그래프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를 그대로 유지하며 구조화된 스키마로 변환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객체 크기 불균형 극복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엔지니어링 도면은 크기에 관계없이 변압기뿐 아니라 점처럼 작게 그려진 차단기, 배전기도 중요한 의미이나 크기 불균형이 심한 객체를 인식하는 데 어려움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A8은 엔지니어링 도면에 정교하게 감지하도록 학습되어있어, 도면분석의 한계를 극복하고 정밀도 정확도, 관계성을 높임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다단계 추론(Multi-hop Reasoning) 지원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"</a:t>
                      </a:r>
                      <a:r>
                        <a:rPr lang="en-US" sz="1000"/>
                        <a:t>특정 노드가 고장 나면 어떤 하위 시스템이 영향을 받는가?"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단순 묘사만 가능한 수준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기계가 읽을 수 있는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네트워크 그래프 모델을 직접 구축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하여 완벽히 추론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안전 및 검증 신뢰성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“오류가 치명적인 사고로 이어질 수 있는 도메인 특성을 반영모든 매핑 결과”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에 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신뢰도 점수(Confidence Score)와 추적 경로를 명확히 제시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하므로 엔지니어가 직접 검증하고 신뢰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9" name="Google Shape;309;p25"/>
          <p:cNvSpPr txBox="1"/>
          <p:nvPr/>
        </p:nvSpPr>
        <p:spPr>
          <a:xfrm>
            <a:off x="478775" y="4166404"/>
            <a:ext cx="760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https://www.articul8.ai/blog/articul8-introduces-two-new-domain-specific-agents-on-gemini-enterprise-expanding-enterprise-understanding-of-tables-and-diagrams</a:t>
            </a:r>
            <a:endParaRPr sz="1200"/>
          </a:p>
        </p:txBody>
      </p:sp>
      <p:sp>
        <p:nvSpPr>
          <p:cNvPr id="310" name="Google Shape;31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 (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결과인식 차이)</a:t>
            </a:r>
            <a:endParaRPr/>
          </a:p>
        </p:txBody>
      </p:sp>
      <p:sp>
        <p:nvSpPr>
          <p:cNvPr id="318" name="Google Shape;31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152400" y="567200"/>
            <a:ext cx="883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GPT-5.4는 정밀하게 위치를 식별한 부품이 0개에 불과했던 반면, </a:t>
            </a:r>
            <a:r>
              <a:rPr b="1"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Articul8의 전용 모델은 약 98개의 부품을 정확하게 감지</a:t>
            </a: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해 냈습니다.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50" y="996100"/>
            <a:ext cx="8830499" cy="347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 txBox="1"/>
          <p:nvPr/>
        </p:nvSpPr>
        <p:spPr>
          <a:xfrm>
            <a:off x="152400" y="4519158"/>
            <a:ext cx="859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https://www.articul8.ai/blog/articul8-introduces-two-new-domain-specific-agents-on-gemini-enterprise-expanding-enterprise-understanding-of-tables-and-diagrams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 (결과인식 차이)</a:t>
            </a:r>
            <a:endParaRPr/>
          </a:p>
        </p:txBody>
      </p:sp>
      <p:grpSp>
        <p:nvGrpSpPr>
          <p:cNvPr id="329" name="Google Shape;329;p27"/>
          <p:cNvGrpSpPr/>
          <p:nvPr/>
        </p:nvGrpSpPr>
        <p:grpSpPr>
          <a:xfrm>
            <a:off x="152400" y="913385"/>
            <a:ext cx="8830501" cy="3884420"/>
            <a:chOff x="152400" y="733643"/>
            <a:chExt cx="8830501" cy="4064051"/>
          </a:xfrm>
        </p:grpSpPr>
        <p:pic>
          <p:nvPicPr>
            <p:cNvPr id="330" name="Google Shape;33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3643"/>
              <a:ext cx="4414273" cy="2045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10375" y="733643"/>
              <a:ext cx="4272526" cy="2045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2400" y="2839943"/>
              <a:ext cx="4414273" cy="1957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710375" y="2839943"/>
              <a:ext cx="4272526" cy="19577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4" name="Google Shape;334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152400" y="567200"/>
            <a:ext cx="883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GPT-5.4 </a:t>
            </a: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과 </a:t>
            </a: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Articul8의 전용 모델 </a:t>
            </a: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인식률, 정확도 비교자료</a:t>
            </a:r>
            <a:endParaRPr sz="1200"/>
          </a:p>
        </p:txBody>
      </p:sp>
      <p:sp>
        <p:nvSpPr>
          <p:cNvPr id="336" name="Google Shape;336;p27"/>
          <p:cNvSpPr txBox="1"/>
          <p:nvPr/>
        </p:nvSpPr>
        <p:spPr>
          <a:xfrm>
            <a:off x="836843" y="2618748"/>
            <a:ext cx="705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GPT-5.4</a:t>
            </a:r>
            <a:r>
              <a:rPr lang="en-US" sz="1200"/>
              <a:t>의 인식은 객체 위치 인식 수준이며, 부품이 식별되지 않았습니다. Articul8은 부품을 정확히 감지했습니다. 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기술자료(AgentMesh)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8"/>
          <p:cNvSpPr txBox="1"/>
          <p:nvPr/>
        </p:nvSpPr>
        <p:spPr>
          <a:xfrm>
            <a:off x="365750" y="528225"/>
            <a:ext cx="80757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Articul8의 AgentMesh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AgentMesh는 모델, 도구, 프롬프트를 결합하여 자율적으로 작업을 수행하는 지능형 시스템입니다.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개별 에이전트를 모듈형 빌딩 블록으로 구성하고, 팀 단위의 스쿼드(Squads)로 협업하게 합니다.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엔티티 관리 및 실행 관리를 단일 플랫폼에서 통합 수행하여 워크플로우를 체계화합니다.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단순 범용 LLM과 달리, 특정 도메인에 특화된 다중 에이전트 오케스트레이션을 제공합니다.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복잡한 워크플로우를 위해 미션 오케스트레이터를 사용하여 단계별, 병렬적 업무 조율을 지원합니다.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306555" y="2206821"/>
            <a:ext cx="8229600" cy="1263900"/>
          </a:xfrm>
          <a:prstGeom prst="roundRect">
            <a:avLst>
              <a:gd fmla="val 16667" name="adj"/>
            </a:avLst>
          </a:prstGeom>
          <a:solidFill>
            <a:srgbClr val="E8EEFF"/>
          </a:solidFill>
          <a:ln cap="flat" cmpd="sng" w="9525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 txBox="1"/>
          <p:nvPr/>
        </p:nvSpPr>
        <p:spPr>
          <a:xfrm>
            <a:off x="409420" y="2174440"/>
            <a:ext cx="8023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13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엔터티 관리</a:t>
            </a:r>
            <a:endParaRPr sz="1100"/>
          </a:p>
        </p:txBody>
      </p:sp>
      <p:sp>
        <p:nvSpPr>
          <p:cNvPr id="347" name="Google Shape;347;p28"/>
          <p:cNvSpPr/>
          <p:nvPr/>
        </p:nvSpPr>
        <p:spPr>
          <a:xfrm>
            <a:off x="443705" y="2428195"/>
            <a:ext cx="2537700" cy="937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4300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443710" y="2428186"/>
            <a:ext cx="2537700" cy="54900"/>
          </a:xfrm>
          <a:prstGeom prst="rect">
            <a:avLst/>
          </a:prstGeom>
          <a:solidFill>
            <a:srgbClr val="1130FF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 txBox="1"/>
          <p:nvPr/>
        </p:nvSpPr>
        <p:spPr>
          <a:xfrm>
            <a:off x="546580" y="2517340"/>
            <a:ext cx="2331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13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AGENTS</a:t>
            </a:r>
            <a:endParaRPr sz="1100"/>
          </a:p>
        </p:txBody>
      </p:sp>
      <p:sp>
        <p:nvSpPr>
          <p:cNvPr id="350" name="Google Shape;350;p28"/>
          <p:cNvSpPr txBox="1"/>
          <p:nvPr/>
        </p:nvSpPr>
        <p:spPr>
          <a:xfrm>
            <a:off x="546580" y="2723080"/>
            <a:ext cx="233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latin typeface="Proxima Nova"/>
                <a:ea typeface="Proxima Nova"/>
                <a:cs typeface="Proxima Nova"/>
                <a:sym typeface="Proxima Nova"/>
              </a:rPr>
              <a:t>단일</a:t>
            </a:r>
            <a:r>
              <a:rPr b="1" i="0" lang="en-US" sz="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AI unit</a:t>
            </a:r>
            <a:endParaRPr sz="1100"/>
          </a:p>
        </p:txBody>
      </p:sp>
      <p:sp>
        <p:nvSpPr>
          <p:cNvPr id="351" name="Google Shape;351;p28"/>
          <p:cNvSpPr txBox="1"/>
          <p:nvPr/>
        </p:nvSpPr>
        <p:spPr>
          <a:xfrm>
            <a:off x="546580" y="2908246"/>
            <a:ext cx="233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모델</a:t>
            </a:r>
            <a:r>
              <a:rPr b="0" i="0" lang="en-US" sz="7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+ </a:t>
            </a:r>
            <a:r>
              <a:rPr lang="en-US" sz="7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툴</a:t>
            </a:r>
            <a:r>
              <a:rPr b="0" i="0" lang="en-US" sz="7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 + </a:t>
            </a:r>
            <a:r>
              <a:rPr lang="en-US" sz="7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시스템 프롬프트</a:t>
            </a:r>
            <a:endParaRPr sz="1100"/>
          </a:p>
        </p:txBody>
      </p:sp>
      <p:sp>
        <p:nvSpPr>
          <p:cNvPr id="352" name="Google Shape;352;p28"/>
          <p:cNvSpPr/>
          <p:nvPr/>
        </p:nvSpPr>
        <p:spPr>
          <a:xfrm>
            <a:off x="786610" y="3135902"/>
            <a:ext cx="1851900" cy="192000"/>
          </a:xfrm>
          <a:prstGeom prst="roundRect">
            <a:avLst>
              <a:gd fmla="val 16667" name="adj"/>
            </a:avLst>
          </a:prstGeom>
          <a:solidFill>
            <a:srgbClr val="1130FF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714210" y="3119194"/>
            <a:ext cx="1995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모델, 프롬프트, 도구, 파라미터를 갖춘 지능형 직원</a:t>
            </a:r>
            <a:endParaRPr sz="1300"/>
          </a:p>
        </p:txBody>
      </p:sp>
      <p:sp>
        <p:nvSpPr>
          <p:cNvPr id="354" name="Google Shape;354;p28"/>
          <p:cNvSpPr/>
          <p:nvPr/>
        </p:nvSpPr>
        <p:spPr>
          <a:xfrm>
            <a:off x="3152630" y="2428195"/>
            <a:ext cx="2537700" cy="94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4300">
            <a:solidFill>
              <a:srgbClr val="00F4C5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3152620" y="2428186"/>
            <a:ext cx="2537700" cy="54900"/>
          </a:xfrm>
          <a:prstGeom prst="rect">
            <a:avLst/>
          </a:prstGeom>
          <a:solidFill>
            <a:srgbClr val="00F4C5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 txBox="1"/>
          <p:nvPr/>
        </p:nvSpPr>
        <p:spPr>
          <a:xfrm>
            <a:off x="3255490" y="2517340"/>
            <a:ext cx="2331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F4C5"/>
                </a:solidFill>
                <a:latin typeface="Space Grotesk"/>
                <a:ea typeface="Space Grotesk"/>
                <a:cs typeface="Space Grotesk"/>
                <a:sym typeface="Space Grotesk"/>
              </a:rPr>
              <a:t>SQUADS</a:t>
            </a:r>
            <a:endParaRPr sz="1100"/>
          </a:p>
        </p:txBody>
      </p:sp>
      <p:sp>
        <p:nvSpPr>
          <p:cNvPr id="357" name="Google Shape;357;p28"/>
          <p:cNvSpPr txBox="1"/>
          <p:nvPr/>
        </p:nvSpPr>
        <p:spPr>
          <a:xfrm>
            <a:off x="3255490" y="2723080"/>
            <a:ext cx="233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Groups of agents</a:t>
            </a:r>
            <a:endParaRPr sz="1100"/>
          </a:p>
        </p:txBody>
      </p:sp>
      <p:sp>
        <p:nvSpPr>
          <p:cNvPr id="358" name="Google Shape;358;p28"/>
          <p:cNvSpPr txBox="1"/>
          <p:nvPr/>
        </p:nvSpPr>
        <p:spPr>
          <a:xfrm>
            <a:off x="3255504" y="2897058"/>
            <a:ext cx="243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여러 에이전트가 모여 조정된 워크플로우를 함께 수행하는 그룹</a:t>
            </a:r>
            <a:endParaRPr sz="1100"/>
          </a:p>
        </p:txBody>
      </p:sp>
      <p:sp>
        <p:nvSpPr>
          <p:cNvPr id="359" name="Google Shape;359;p28"/>
          <p:cNvSpPr/>
          <p:nvPr/>
        </p:nvSpPr>
        <p:spPr>
          <a:xfrm>
            <a:off x="3495520" y="3152608"/>
            <a:ext cx="1851900" cy="192000"/>
          </a:xfrm>
          <a:prstGeom prst="roundRect">
            <a:avLst>
              <a:gd fmla="val 16667" name="adj"/>
            </a:avLst>
          </a:prstGeom>
          <a:solidFill>
            <a:srgbClr val="00F4C5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8"/>
          <p:cNvSpPr txBox="1"/>
          <p:nvPr/>
        </p:nvSpPr>
        <p:spPr>
          <a:xfrm>
            <a:off x="3423136" y="3147038"/>
            <a:ext cx="1995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역할, 조정 규칙, 그리고 공유된 컨텍스트를 가진 팀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5861530" y="2451995"/>
            <a:ext cx="2537700" cy="937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4300">
            <a:solidFill>
              <a:srgbClr val="FF7500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5861530" y="2428186"/>
            <a:ext cx="2537700" cy="54900"/>
          </a:xfrm>
          <a:prstGeom prst="rect">
            <a:avLst/>
          </a:prstGeom>
          <a:solidFill>
            <a:srgbClr val="FF7500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5964400" y="2517340"/>
            <a:ext cx="2331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75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DIGITAL TWINS</a:t>
            </a:r>
            <a:endParaRPr sz="1100"/>
          </a:p>
        </p:txBody>
      </p:sp>
      <p:sp>
        <p:nvSpPr>
          <p:cNvPr id="364" name="Google Shape;364;p28"/>
          <p:cNvSpPr txBox="1"/>
          <p:nvPr/>
        </p:nvSpPr>
        <p:spPr>
          <a:xfrm>
            <a:off x="5964400" y="2723080"/>
            <a:ext cx="233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latin typeface="Proxima Nova"/>
                <a:ea typeface="Proxima Nova"/>
                <a:cs typeface="Proxima Nova"/>
                <a:sym typeface="Proxima Nova"/>
              </a:rPr>
              <a:t>Virtual models</a:t>
            </a:r>
            <a:endParaRPr sz="1100"/>
          </a:p>
        </p:txBody>
      </p:sp>
      <p:sp>
        <p:nvSpPr>
          <p:cNvPr id="365" name="Google Shape;365;p28"/>
          <p:cNvSpPr txBox="1"/>
          <p:nvPr/>
        </p:nvSpPr>
        <p:spPr>
          <a:xfrm>
            <a:off x="5964400" y="2908246"/>
            <a:ext cx="233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실제 사물의 가상 복제본</a:t>
            </a:r>
            <a:endParaRPr sz="1100"/>
          </a:p>
        </p:txBody>
      </p:sp>
      <p:sp>
        <p:nvSpPr>
          <p:cNvPr id="366" name="Google Shape;366;p28"/>
          <p:cNvSpPr/>
          <p:nvPr/>
        </p:nvSpPr>
        <p:spPr>
          <a:xfrm>
            <a:off x="6204430" y="3158177"/>
            <a:ext cx="1851900" cy="192000"/>
          </a:xfrm>
          <a:prstGeom prst="roundRect">
            <a:avLst>
              <a:gd fmla="val 16667" name="adj"/>
            </a:avLst>
          </a:prstGeom>
          <a:solidFill>
            <a:srgbClr val="FF7500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/>
          <p:nvPr/>
        </p:nvSpPr>
        <p:spPr>
          <a:xfrm>
            <a:off x="6204430" y="3119195"/>
            <a:ext cx="185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자산을 시뮬레이션하고 모니터링하는 데 활용</a:t>
            </a:r>
            <a:endParaRPr sz="900"/>
          </a:p>
        </p:txBody>
      </p:sp>
      <p:sp>
        <p:nvSpPr>
          <p:cNvPr id="368" name="Google Shape;368;p28"/>
          <p:cNvSpPr/>
          <p:nvPr/>
        </p:nvSpPr>
        <p:spPr>
          <a:xfrm>
            <a:off x="306555" y="3551293"/>
            <a:ext cx="8229600" cy="853800"/>
          </a:xfrm>
          <a:prstGeom prst="roundRect">
            <a:avLst>
              <a:gd fmla="val 16667" name="adj"/>
            </a:avLst>
          </a:prstGeom>
          <a:solidFill>
            <a:srgbClr val="FFB07B"/>
          </a:solidFill>
          <a:ln cap="flat" cmpd="sng" w="9525">
            <a:solidFill>
              <a:srgbClr val="FF7500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8"/>
          <p:cNvSpPr txBox="1"/>
          <p:nvPr/>
        </p:nvSpPr>
        <p:spPr>
          <a:xfrm>
            <a:off x="409420" y="3551302"/>
            <a:ext cx="8023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6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실행 관리</a:t>
            </a:r>
            <a:r>
              <a:rPr b="1" lang="en-US" sz="1000">
                <a:solidFill>
                  <a:srgbClr val="FF75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sz="1100"/>
          </a:p>
        </p:txBody>
      </p:sp>
      <p:sp>
        <p:nvSpPr>
          <p:cNvPr id="370" name="Google Shape;370;p28"/>
          <p:cNvSpPr/>
          <p:nvPr/>
        </p:nvSpPr>
        <p:spPr>
          <a:xfrm>
            <a:off x="443705" y="3805046"/>
            <a:ext cx="3909300" cy="20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7500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526006" y="3818352"/>
            <a:ext cx="960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7500"/>
                </a:solidFill>
                <a:latin typeface="Space Grotesk"/>
                <a:ea typeface="Space Grotesk"/>
                <a:cs typeface="Space Grotesk"/>
                <a:sym typeface="Space Grotesk"/>
              </a:rPr>
              <a:t>Launch runs</a:t>
            </a:r>
            <a:endParaRPr sz="1100"/>
          </a:p>
        </p:txBody>
      </p:sp>
      <p:sp>
        <p:nvSpPr>
          <p:cNvPr id="372" name="Google Shape;372;p28"/>
          <p:cNvSpPr txBox="1"/>
          <p:nvPr/>
        </p:nvSpPr>
        <p:spPr>
          <a:xfrm>
            <a:off x="1506700" y="3818352"/>
            <a:ext cx="274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모든 엔티티 유형에 대해 실행을 시작</a:t>
            </a:r>
            <a:r>
              <a:rPr b="0" i="0" lang="en-US" sz="6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 — agent, squad, or digital twin</a:t>
            </a:r>
            <a:endParaRPr sz="1100"/>
          </a:p>
        </p:txBody>
      </p:sp>
      <p:sp>
        <p:nvSpPr>
          <p:cNvPr id="373" name="Google Shape;373;p28"/>
          <p:cNvSpPr/>
          <p:nvPr/>
        </p:nvSpPr>
        <p:spPr>
          <a:xfrm>
            <a:off x="4558505" y="3805045"/>
            <a:ext cx="3909300" cy="22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7500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4640806" y="3818352"/>
            <a:ext cx="960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75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Stream progress</a:t>
            </a:r>
            <a:endParaRPr sz="1100"/>
          </a:p>
        </p:txBody>
      </p:sp>
      <p:sp>
        <p:nvSpPr>
          <p:cNvPr id="375" name="Google Shape;375;p28"/>
          <p:cNvSpPr txBox="1"/>
          <p:nvPr/>
        </p:nvSpPr>
        <p:spPr>
          <a:xfrm>
            <a:off x="5621500" y="3818352"/>
            <a:ext cx="274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WebSocket 또는 SSE를 통한 실시간 업데이트</a:t>
            </a:r>
            <a:endParaRPr sz="1100"/>
          </a:p>
        </p:txBody>
      </p:sp>
      <p:sp>
        <p:nvSpPr>
          <p:cNvPr id="376" name="Google Shape;376;p28"/>
          <p:cNvSpPr/>
          <p:nvPr/>
        </p:nvSpPr>
        <p:spPr>
          <a:xfrm>
            <a:off x="443705" y="4111598"/>
            <a:ext cx="3909300" cy="19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7500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 txBox="1"/>
          <p:nvPr/>
        </p:nvSpPr>
        <p:spPr>
          <a:xfrm>
            <a:off x="526006" y="4090905"/>
            <a:ext cx="960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75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Track history</a:t>
            </a:r>
            <a:endParaRPr sz="1100"/>
          </a:p>
        </p:txBody>
      </p:sp>
      <p:sp>
        <p:nvSpPr>
          <p:cNvPr id="378" name="Google Shape;378;p28"/>
          <p:cNvSpPr txBox="1"/>
          <p:nvPr/>
        </p:nvSpPr>
        <p:spPr>
          <a:xfrm>
            <a:off x="1506700" y="4115634"/>
            <a:ext cx="274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실행의 상태와 결과 그리고 전체 이력을 추적할 수 있는 기능</a:t>
            </a:r>
            <a:endParaRPr sz="1100"/>
          </a:p>
        </p:txBody>
      </p:sp>
      <p:sp>
        <p:nvSpPr>
          <p:cNvPr id="379" name="Google Shape;379;p28"/>
          <p:cNvSpPr/>
          <p:nvPr/>
        </p:nvSpPr>
        <p:spPr>
          <a:xfrm>
            <a:off x="4558505" y="4111598"/>
            <a:ext cx="3909300" cy="21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7500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4640806" y="4130471"/>
            <a:ext cx="960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7500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Handle failures</a:t>
            </a:r>
            <a:endParaRPr sz="1100"/>
          </a:p>
        </p:txBody>
      </p:sp>
      <p:sp>
        <p:nvSpPr>
          <p:cNvPr id="381" name="Google Shape;381;p28"/>
          <p:cNvSpPr txBox="1"/>
          <p:nvPr/>
        </p:nvSpPr>
        <p:spPr>
          <a:xfrm>
            <a:off x="5621500" y="4130471"/>
            <a:ext cx="274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444444"/>
                </a:solidFill>
                <a:latin typeface="Proxima Nova"/>
                <a:ea typeface="Proxima Nova"/>
                <a:cs typeface="Proxima Nova"/>
                <a:sym typeface="Proxima Nova"/>
              </a:rPr>
              <a:t>작업 중 오류가 발생할 경우 이를 원활하게 복구하고 관찰</a:t>
            </a:r>
            <a:endParaRPr sz="1100"/>
          </a:p>
        </p:txBody>
      </p:sp>
      <p:sp>
        <p:nvSpPr>
          <p:cNvPr id="382" name="Google Shape;382;p28"/>
          <p:cNvSpPr/>
          <p:nvPr/>
        </p:nvSpPr>
        <p:spPr>
          <a:xfrm>
            <a:off x="306555" y="4485671"/>
            <a:ext cx="8229600" cy="459600"/>
          </a:xfrm>
          <a:prstGeom prst="rect">
            <a:avLst/>
          </a:prstGeom>
          <a:solidFill>
            <a:srgbClr val="1130FF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4464380" y="4608418"/>
            <a:ext cx="1308000" cy="223200"/>
          </a:xfrm>
          <a:prstGeom prst="flowChartAlternateProcess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Mission Orchestrator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5918305" y="4608419"/>
            <a:ext cx="1075500" cy="223200"/>
          </a:xfrm>
          <a:prstGeom prst="flowChartAlternateProcess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Memory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7139705" y="4608419"/>
            <a:ext cx="1246800" cy="223200"/>
          </a:xfrm>
          <a:prstGeom prst="flowChartAlternateProcess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Metering &amp; Scorping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952277" y="4608431"/>
            <a:ext cx="1024800" cy="223200"/>
          </a:xfrm>
          <a:prstGeom prst="flowChartAlternateProcess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API Gateway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2122982" y="4608431"/>
            <a:ext cx="1024800" cy="223200"/>
          </a:xfrm>
          <a:prstGeom prst="flowChartAlternateProcess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Model Manager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3293687" y="4608431"/>
            <a:ext cx="1024800" cy="223200"/>
          </a:xfrm>
          <a:prstGeom prst="flowChartAlternateProcess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Tool Manager</a:t>
            </a:r>
            <a:endParaRPr sz="900">
              <a:solidFill>
                <a:schemeClr val="lt1"/>
              </a:solidFill>
            </a:endParaRPr>
          </a:p>
        </p:txBody>
      </p:sp>
      <p:cxnSp>
        <p:nvCxnSpPr>
          <p:cNvPr id="389" name="Google Shape;389;p28"/>
          <p:cNvCxnSpPr>
            <a:stCxn id="386" idx="3"/>
            <a:endCxn id="387" idx="1"/>
          </p:cNvCxnSpPr>
          <p:nvPr/>
        </p:nvCxnSpPr>
        <p:spPr>
          <a:xfrm>
            <a:off x="1977077" y="4720031"/>
            <a:ext cx="145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28"/>
          <p:cNvCxnSpPr>
            <a:stCxn id="387" idx="3"/>
            <a:endCxn id="388" idx="1"/>
          </p:cNvCxnSpPr>
          <p:nvPr/>
        </p:nvCxnSpPr>
        <p:spPr>
          <a:xfrm>
            <a:off x="3147782" y="4720031"/>
            <a:ext cx="145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28"/>
          <p:cNvCxnSpPr>
            <a:stCxn id="388" idx="3"/>
            <a:endCxn id="383" idx="1"/>
          </p:cNvCxnSpPr>
          <p:nvPr/>
        </p:nvCxnSpPr>
        <p:spPr>
          <a:xfrm>
            <a:off x="4318487" y="4720031"/>
            <a:ext cx="145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28"/>
          <p:cNvCxnSpPr>
            <a:stCxn id="383" idx="3"/>
            <a:endCxn id="384" idx="1"/>
          </p:cNvCxnSpPr>
          <p:nvPr/>
        </p:nvCxnSpPr>
        <p:spPr>
          <a:xfrm>
            <a:off x="5772380" y="4720018"/>
            <a:ext cx="145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28"/>
          <p:cNvCxnSpPr>
            <a:stCxn id="384" idx="3"/>
            <a:endCxn id="385" idx="1"/>
          </p:cNvCxnSpPr>
          <p:nvPr/>
        </p:nvCxnSpPr>
        <p:spPr>
          <a:xfrm>
            <a:off x="6993805" y="4720019"/>
            <a:ext cx="145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9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기술자료(Data Perception 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242563" y="631045"/>
            <a:ext cx="8314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이기종 데이터를 쿼리 가능한 지식 그래프로 변환합니다.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구조적, 의미론적, 활동적 인텔리전스 계층을 사용하여 데이터를 분석합니다.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25개 이상의 페더레이티드 커넥터를 통해 데이터를 원본 소스에 안전하게 유지합니다.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자율형 AI 에이전트가 데이터를 탐색하고 가설을 생성하여 지식 그래프를 구축합니다.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기업 데이터를 위한 통합 인텔리전스를 제공하여 AI 배포를 가속화합니다.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02" name="Google Shape;402;p29"/>
          <p:cNvGrpSpPr/>
          <p:nvPr/>
        </p:nvGrpSpPr>
        <p:grpSpPr>
          <a:xfrm>
            <a:off x="326650" y="1846830"/>
            <a:ext cx="8591675" cy="1973829"/>
            <a:chOff x="326650" y="1883125"/>
            <a:chExt cx="8591675" cy="1973829"/>
          </a:xfrm>
        </p:grpSpPr>
        <p:sp>
          <p:nvSpPr>
            <p:cNvPr id="403" name="Google Shape;403;p29"/>
            <p:cNvSpPr/>
            <p:nvPr/>
          </p:nvSpPr>
          <p:spPr>
            <a:xfrm>
              <a:off x="480625" y="2023266"/>
              <a:ext cx="1397400" cy="1814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0000">
              <a:solidFill>
                <a:srgbClr val="1130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582862" y="1909050"/>
              <a:ext cx="1158600" cy="195900"/>
            </a:xfrm>
            <a:prstGeom prst="roundRect">
              <a:avLst>
                <a:gd fmla="val 16667" name="adj"/>
              </a:avLst>
            </a:prstGeom>
            <a:solidFill>
              <a:srgbClr val="1130FF"/>
            </a:solidFill>
            <a:ln>
              <a:noFill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05" name="Google Shape;405;p29"/>
            <p:cNvSpPr txBox="1"/>
            <p:nvPr/>
          </p:nvSpPr>
          <p:spPr>
            <a:xfrm>
              <a:off x="582875" y="1893733"/>
              <a:ext cx="11172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43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RAW Data</a:t>
              </a:r>
              <a:endParaRPr sz="1100"/>
            </a:p>
          </p:txBody>
        </p:sp>
        <p:sp>
          <p:nvSpPr>
            <p:cNvPr id="406" name="Google Shape;406;p29"/>
            <p:cNvSpPr txBox="1"/>
            <p:nvPr/>
          </p:nvSpPr>
          <p:spPr>
            <a:xfrm>
              <a:off x="326650" y="2287717"/>
              <a:ext cx="1632900" cy="6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포트폴리오 자산 (Exel)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거래 기록 (CSV)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펀드 투자설명서 (PDF)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시장 시세정보 (JSON)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리스크 보고서 (Excel)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582886" y="3106551"/>
              <a:ext cx="1194900" cy="653100"/>
            </a:xfrm>
            <a:prstGeom prst="roundRect">
              <a:avLst>
                <a:gd fmla="val 16667" name="adj"/>
              </a:avLst>
            </a:prstGeom>
            <a:solidFill>
              <a:srgbClr val="E8EEFF"/>
            </a:solidFill>
            <a:ln>
              <a:noFill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08" name="Google Shape;408;p29"/>
            <p:cNvSpPr txBox="1"/>
            <p:nvPr/>
          </p:nvSpPr>
          <p:spPr>
            <a:xfrm>
              <a:off x="658356" y="3103251"/>
              <a:ext cx="10398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64">
                  <a:solidFill>
                    <a:srgbClr val="1130FF"/>
                  </a:solidFill>
                  <a:latin typeface="Verdana"/>
                  <a:ea typeface="Verdana"/>
                  <a:cs typeface="Verdana"/>
                  <a:sym typeface="Verdana"/>
                </a:rPr>
                <a:t>25</a:t>
              </a:r>
              <a:r>
                <a:rPr b="1" i="0" lang="en-US" sz="764" u="none" cap="none" strike="noStrike">
                  <a:solidFill>
                    <a:srgbClr val="1130FF"/>
                  </a:solidFill>
                  <a:latin typeface="Verdana"/>
                  <a:ea typeface="Verdana"/>
                  <a:cs typeface="Verdana"/>
                  <a:sym typeface="Verdana"/>
                </a:rPr>
                <a:t>+ connectors</a:t>
              </a:r>
              <a:endParaRPr b="0" i="0" sz="764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2218681" y="2022149"/>
              <a:ext cx="1397400" cy="1814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0000">
              <a:solidFill>
                <a:srgbClr val="FF75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2321027" y="1914463"/>
              <a:ext cx="1148400" cy="195900"/>
            </a:xfrm>
            <a:prstGeom prst="roundRect">
              <a:avLst>
                <a:gd fmla="val 16667" name="adj"/>
              </a:avLst>
            </a:prstGeom>
            <a:solidFill>
              <a:srgbClr val="FF7500"/>
            </a:solidFill>
            <a:ln>
              <a:noFill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11" name="Google Shape;411;p29"/>
            <p:cNvSpPr txBox="1"/>
            <p:nvPr/>
          </p:nvSpPr>
          <p:spPr>
            <a:xfrm>
              <a:off x="2320927" y="1883125"/>
              <a:ext cx="11484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43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탐지 분류</a:t>
              </a:r>
              <a:endParaRPr sz="1100"/>
            </a:p>
          </p:txBody>
        </p:sp>
        <p:sp>
          <p:nvSpPr>
            <p:cNvPr id="412" name="Google Shape;412;p29"/>
            <p:cNvSpPr txBox="1"/>
            <p:nvPr/>
          </p:nvSpPr>
          <p:spPr>
            <a:xfrm>
              <a:off x="2067238" y="2287720"/>
              <a:ext cx="1581000" cy="8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File Type 감지 (Excel, CSV등 11개 형식 감지)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Schema 추출 (컬럼 이름, 데이터 형식등)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도메인 구분 (Financial 도메인 자동 로드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시계열 감지후 L3 구체화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2320922" y="3507055"/>
              <a:ext cx="1194900" cy="252600"/>
            </a:xfrm>
            <a:prstGeom prst="roundRect">
              <a:avLst>
                <a:gd fmla="val 16667" name="adj"/>
              </a:avLst>
            </a:prstGeom>
            <a:solidFill>
              <a:srgbClr val="E8EEFF"/>
            </a:solidFill>
            <a:ln>
              <a:noFill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64" u="none" cap="none" strike="noStrike">
                  <a:solidFill>
                    <a:srgbClr val="1130FF"/>
                  </a:solidFill>
                  <a:latin typeface="Verdana"/>
                  <a:ea typeface="Verdana"/>
                  <a:cs typeface="Verdana"/>
                  <a:sym typeface="Verdana"/>
                </a:rPr>
                <a:t>Schema Mapping</a:t>
              </a:r>
              <a:endParaRPr b="1" i="0" sz="864" u="none" cap="none" strike="noStrike">
                <a:solidFill>
                  <a:srgbClr val="113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3956713" y="2022149"/>
              <a:ext cx="1397400" cy="1814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0000">
              <a:solidFill>
                <a:srgbClr val="00F4C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4058945" y="1910698"/>
              <a:ext cx="1117200" cy="195900"/>
            </a:xfrm>
            <a:prstGeom prst="roundRect">
              <a:avLst>
                <a:gd fmla="val 16667" name="adj"/>
              </a:avLst>
            </a:prstGeom>
            <a:solidFill>
              <a:srgbClr val="00F4C5"/>
            </a:solidFill>
            <a:ln>
              <a:noFill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16" name="Google Shape;416;p29"/>
            <p:cNvSpPr txBox="1"/>
            <p:nvPr/>
          </p:nvSpPr>
          <p:spPr>
            <a:xfrm>
              <a:off x="4058945" y="1883125"/>
              <a:ext cx="11172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43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그래프 생성</a:t>
              </a:r>
              <a:endParaRPr sz="1100"/>
            </a:p>
          </p:txBody>
        </p:sp>
        <p:sp>
          <p:nvSpPr>
            <p:cNvPr id="417" name="Google Shape;417;p29"/>
            <p:cNvSpPr txBox="1"/>
            <p:nvPr/>
          </p:nvSpPr>
          <p:spPr>
            <a:xfrm>
              <a:off x="3976252" y="2287717"/>
              <a:ext cx="1397400" cy="8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L1:구조적 데이터 처리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그래프 노드/엣지 생성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L2:의미론적 처리 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임베딩 생성, Cross-modal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L3:시계열 데이터 실체화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기준가 추이, 변동성 지표 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 sz="700"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4058956" y="3507055"/>
              <a:ext cx="1194900" cy="252600"/>
            </a:xfrm>
            <a:prstGeom prst="roundRect">
              <a:avLst>
                <a:gd fmla="val 16667" name="adj"/>
              </a:avLst>
            </a:prstGeom>
            <a:solidFill>
              <a:srgbClr val="E8EEFF"/>
            </a:solidFill>
            <a:ln>
              <a:noFill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64" u="none" cap="none" strike="noStrike">
                  <a:solidFill>
                    <a:srgbClr val="1130FF"/>
                  </a:solidFill>
                  <a:latin typeface="Verdana"/>
                  <a:ea typeface="Verdana"/>
                  <a:cs typeface="Verdana"/>
                  <a:sym typeface="Verdana"/>
                </a:rPr>
                <a:t>Pattern Detection</a:t>
              </a:r>
              <a:endParaRPr b="1" i="0" sz="864" u="none" cap="none" strike="noStrike">
                <a:solidFill>
                  <a:srgbClr val="113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5694744" y="2022149"/>
              <a:ext cx="1397400" cy="1814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0000">
              <a:solidFill>
                <a:srgbClr val="FF75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5796986" y="1914473"/>
              <a:ext cx="1148400" cy="195900"/>
            </a:xfrm>
            <a:prstGeom prst="roundRect">
              <a:avLst>
                <a:gd fmla="val 16667" name="adj"/>
              </a:avLst>
            </a:prstGeom>
            <a:solidFill>
              <a:srgbClr val="FF7500"/>
            </a:solidFill>
            <a:ln>
              <a:noFill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1" name="Google Shape;421;p29"/>
            <p:cNvSpPr txBox="1"/>
            <p:nvPr/>
          </p:nvSpPr>
          <p:spPr>
            <a:xfrm>
              <a:off x="5796986" y="1883125"/>
              <a:ext cx="11484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43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Enrich</a:t>
              </a:r>
              <a:endParaRPr sz="1100"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5796988" y="3507055"/>
              <a:ext cx="1194900" cy="252600"/>
            </a:xfrm>
            <a:prstGeom prst="roundRect">
              <a:avLst>
                <a:gd fmla="val 16667" name="adj"/>
              </a:avLst>
            </a:prstGeom>
            <a:solidFill>
              <a:srgbClr val="E8EEFF"/>
            </a:solidFill>
            <a:ln>
              <a:noFill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3" name="Google Shape;423;p29"/>
            <p:cNvSpPr txBox="1"/>
            <p:nvPr/>
          </p:nvSpPr>
          <p:spPr>
            <a:xfrm>
              <a:off x="5806039" y="3450686"/>
              <a:ext cx="12264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64">
                  <a:solidFill>
                    <a:srgbClr val="1130FF"/>
                  </a:solidFill>
                  <a:latin typeface="Verdana"/>
                  <a:ea typeface="Verdana"/>
                  <a:cs typeface="Verdana"/>
                  <a:sym typeface="Verdana"/>
                </a:rPr>
                <a:t>Cross-layer Enrich</a:t>
              </a:r>
              <a:endParaRPr b="0" i="0" sz="864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7432776" y="2022149"/>
              <a:ext cx="1397400" cy="1814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0000">
              <a:solidFill>
                <a:srgbClr val="1130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7535051" y="1914463"/>
              <a:ext cx="1117200" cy="195900"/>
            </a:xfrm>
            <a:prstGeom prst="roundRect">
              <a:avLst>
                <a:gd fmla="val 16667" name="adj"/>
              </a:avLst>
            </a:prstGeom>
            <a:solidFill>
              <a:srgbClr val="1130FF"/>
            </a:solidFill>
            <a:ln>
              <a:noFill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6" name="Google Shape;426;p29"/>
            <p:cNvSpPr txBox="1"/>
            <p:nvPr/>
          </p:nvSpPr>
          <p:spPr>
            <a:xfrm>
              <a:off x="7535045" y="1883125"/>
              <a:ext cx="11172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43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    조회 &amp; 탐색  </a:t>
              </a:r>
              <a:endParaRPr sz="1100"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7535022" y="3507055"/>
              <a:ext cx="1194900" cy="252600"/>
            </a:xfrm>
            <a:prstGeom prst="roundRect">
              <a:avLst>
                <a:gd fmla="val 16667" name="adj"/>
              </a:avLst>
            </a:prstGeom>
            <a:solidFill>
              <a:srgbClr val="E8EEFF"/>
            </a:solidFill>
            <a:ln>
              <a:noFill/>
            </a:ln>
          </p:spPr>
          <p:txBody>
            <a:bodyPr anchorCtr="0" anchor="ctr" bIns="35900" lIns="71850" spcFirstLastPara="1" rIns="71850" wrap="square" tIns="3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14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8" name="Google Shape;428;p29"/>
            <p:cNvSpPr txBox="1"/>
            <p:nvPr/>
          </p:nvSpPr>
          <p:spPr>
            <a:xfrm>
              <a:off x="7612575" y="3446454"/>
              <a:ext cx="1039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64">
                  <a:solidFill>
                    <a:srgbClr val="1130FF"/>
                  </a:solidFill>
                  <a:latin typeface="Verdana"/>
                  <a:ea typeface="Verdana"/>
                  <a:cs typeface="Verdana"/>
                  <a:sym typeface="Verdana"/>
                </a:rPr>
                <a:t>Queryable Intelligence</a:t>
              </a:r>
              <a:endParaRPr b="0" i="0" sz="864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429" name="Google Shape;429;p29"/>
            <p:cNvCxnSpPr>
              <a:stCxn id="403" idx="3"/>
              <a:endCxn id="409" idx="1"/>
            </p:cNvCxnSpPr>
            <p:nvPr/>
          </p:nvCxnSpPr>
          <p:spPr>
            <a:xfrm flipH="1" rot="10800000">
              <a:off x="1878025" y="2929266"/>
              <a:ext cx="340800" cy="1200"/>
            </a:xfrm>
            <a:prstGeom prst="straightConnector1">
              <a:avLst/>
            </a:prstGeom>
            <a:noFill/>
            <a:ln cap="flat" cmpd="sng" w="29925">
              <a:solidFill>
                <a:srgbClr val="0000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430" name="Google Shape;430;p29"/>
            <p:cNvCxnSpPr>
              <a:stCxn id="409" idx="3"/>
              <a:endCxn id="414" idx="1"/>
            </p:cNvCxnSpPr>
            <p:nvPr/>
          </p:nvCxnSpPr>
          <p:spPr>
            <a:xfrm>
              <a:off x="3616081" y="2929349"/>
              <a:ext cx="340500" cy="0"/>
            </a:xfrm>
            <a:prstGeom prst="straightConnector1">
              <a:avLst/>
            </a:prstGeom>
            <a:noFill/>
            <a:ln cap="flat" cmpd="sng" w="29925">
              <a:solidFill>
                <a:srgbClr val="0000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431" name="Google Shape;431;p29"/>
            <p:cNvCxnSpPr>
              <a:stCxn id="414" idx="3"/>
              <a:endCxn id="419" idx="1"/>
            </p:cNvCxnSpPr>
            <p:nvPr/>
          </p:nvCxnSpPr>
          <p:spPr>
            <a:xfrm>
              <a:off x="5354113" y="2929349"/>
              <a:ext cx="340500" cy="0"/>
            </a:xfrm>
            <a:prstGeom prst="straightConnector1">
              <a:avLst/>
            </a:prstGeom>
            <a:noFill/>
            <a:ln cap="flat" cmpd="sng" w="29925">
              <a:solidFill>
                <a:srgbClr val="0000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432" name="Google Shape;432;p29"/>
            <p:cNvCxnSpPr>
              <a:stCxn id="419" idx="3"/>
              <a:endCxn id="424" idx="1"/>
            </p:cNvCxnSpPr>
            <p:nvPr/>
          </p:nvCxnSpPr>
          <p:spPr>
            <a:xfrm>
              <a:off x="7092144" y="2929349"/>
              <a:ext cx="340500" cy="0"/>
            </a:xfrm>
            <a:prstGeom prst="straightConnector1">
              <a:avLst/>
            </a:prstGeom>
            <a:noFill/>
            <a:ln cap="flat" cmpd="sng" w="29925">
              <a:solidFill>
                <a:srgbClr val="0000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433" name="Google Shape;433;p29"/>
            <p:cNvSpPr txBox="1"/>
            <p:nvPr/>
          </p:nvSpPr>
          <p:spPr>
            <a:xfrm>
              <a:off x="603281" y="3302854"/>
              <a:ext cx="1308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/>
                <a:t>Snowflake, S3, 내부 시스템으로부터 업로드되거나 연합됨</a:t>
              </a:r>
              <a:endParaRPr sz="800"/>
            </a:p>
          </p:txBody>
        </p:sp>
        <p:sp>
          <p:nvSpPr>
            <p:cNvPr id="434" name="Google Shape;434;p29"/>
            <p:cNvSpPr txBox="1"/>
            <p:nvPr/>
          </p:nvSpPr>
          <p:spPr>
            <a:xfrm>
              <a:off x="5694753" y="2287717"/>
              <a:ext cx="1397400" cy="7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레이어 간 데이터 보강: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서로 다른 데이터 레이어(L3에서 L2로)의 정보를 결합하여 데이터를 풍부하게 만드는 과정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35" name="Google Shape;435;p29"/>
            <p:cNvSpPr txBox="1"/>
            <p:nvPr/>
          </p:nvSpPr>
          <p:spPr>
            <a:xfrm>
              <a:off x="7285425" y="2287720"/>
              <a:ext cx="1632900" cy="8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875" lIns="59875" spcFirstLastPara="1" rIns="59875" wrap="square" tIns="59875">
              <a:spAutoFit/>
            </a:bodyPr>
            <a:lstStyle/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자연어 검색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그래프 탐색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시맨틱 검색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에이전트 기반 탐색: 자율 에이전트의 패턴 발견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30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700"/>
                <a:buFont typeface="Verdana"/>
                <a:buChar char="●"/>
              </a:pPr>
              <a:r>
                <a:rPr lang="en-US" sz="700">
                  <a:solidFill>
                    <a:srgbClr val="444444"/>
                  </a:solidFill>
                  <a:latin typeface="Verdana"/>
                  <a:ea typeface="Verdana"/>
                  <a:cs typeface="Verdana"/>
                  <a:sym typeface="Verdana"/>
                </a:rPr>
                <a:t>적대적 토론 : 증거 기반의 상호 검증 및 반박</a:t>
              </a:r>
              <a:endParaRPr sz="7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436" name="Google Shape;4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00" y="3905050"/>
            <a:ext cx="8290774" cy="11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0"/>
          <p:cNvSpPr/>
          <p:nvPr/>
        </p:nvSpPr>
        <p:spPr>
          <a:xfrm>
            <a:off x="365748" y="228600"/>
            <a:ext cx="2336700" cy="198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0"/>
          <p:cNvSpPr/>
          <p:nvPr/>
        </p:nvSpPr>
        <p:spPr>
          <a:xfrm>
            <a:off x="403448" y="203462"/>
            <a:ext cx="233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기술자료(Model Training as a Service)  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242563" y="631045"/>
            <a:ext cx="83142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Articul8이 28개 이상 도메인 특화 모델을 만들어온 것과 동일한 플랫폼으로, 고객사 도메인에 맞는 프로덕션급 모델을 구축, 조정하며 검증하여 고객이 소유하는 형태로 제공합니다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데이터 수집과 거버넌스, 코퍼스가 부족한 영역의 합성 데이터 생성, 지도, 미세조정과 선호도 정렬, 그리고 출시 전 독립적인 품질 게이트 평가에 이르는 전 과정을 하나의 파이프라인으로 수행합니다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통상 50억에서 200억 파라미터 규모로 적정하게 설계되어, 해당 분야 실무자처럼 정확한 용어와 실제 업무 흐름을 이해하고 도메인 특유의 오류를 잡아냅니다</a:t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b="1" lang="en-US" sz="12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[배포 형식]</a:t>
            </a:r>
            <a:endParaRPr b="1" sz="12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5" name="Google Shape;4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475" y="2509907"/>
            <a:ext cx="6716600" cy="25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1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1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질의 답변(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요약)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1"/>
          <p:cNvSpPr txBox="1"/>
          <p:nvPr/>
        </p:nvSpPr>
        <p:spPr>
          <a:xfrm>
            <a:off x="365750" y="719961"/>
            <a:ext cx="8067300" cy="289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0. Q&amp;A 요약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b="1"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T-Box/A-Box 생성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사용자 정의 온톨로지를 지식 그래프에 매핑하여 그래프를 확장(Augment)할 수 있습니다. 단, Articul8 플랫폼은 고객의 온톨로지 제약 조건을 강제로 검증(Validation/Conformance)하는 역할은 수행하지 않으며, 어휘 매핑 시 서로 간섭하지 않는 독립적인 구조로 운영됩니다.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b="1"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검증 및 신뢰성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SHACL/OWL 기반의 형태 검증 대신 지표 기반의 검증을 수행합니다. 모든 노드와 엣지는 추출 종류, 신뢰 점수(0~1), 출처 정보가 포함되어 완벽한 추적성(Provenance)을 보장합니다.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b="1"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이식성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Articul8은 RDF를 사용하지 않는 Labeled Property Graph(LPG) 형태를 출력합니다. 고객은 내보낸 JSON/JSONL 데이터를 Neo4j 등 LPG 저장소와 연동하여 독립적으로 운영할 수 있습니다.</a:t>
            </a:r>
            <a:endParaRPr b="1"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질의 답변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2"/>
          <p:cNvSpPr txBox="1"/>
          <p:nvPr/>
        </p:nvSpPr>
        <p:spPr>
          <a:xfrm>
            <a:off x="365750" y="719961"/>
            <a:ext cx="8067300" cy="378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1. 사용자 정의 T-Box와 A-Box 생성 및 추론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연계 가능 여부: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예. 사용자 정의 온톨로지를 A8 지식 그래프 노드 및 엣지에 매핑하여 A8이 생성한 그래프를 확장(augment)할 수 있습니다.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지원 모드: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확장/증강(Extend/Augment):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지원 (기본).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부트스트랩(Bootstrap):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지원 (발생적 스키마를 드래프트로 내보내기 가능).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준수(Conform):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미지원.</a:t>
            </a:r>
            <a:r>
              <a:rPr lang="en-US" sz="1050">
                <a:solidFill>
                  <a:srgbClr val="1F1F1F"/>
                </a:solidFill>
                <a:highlight>
                  <a:srgbClr val="F0F4F9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u="sng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Articul8의 지식 그래프 구축 방식이 고객의 온톨로지 제약 조건을 강제하거나 검증하는(Validation/Conformance) 역할은 수행하지 않습니다.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온톨로지 수집: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기본적으로 JSON/JSONL, XML, Parquet, CSV, Text, 압축 형식(gzip/tar)을 지원하며, OWL/RDFS/SKOS와 같은 개방형 형식은 사례별(case-by-case)로 논의 가능합니다.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데이터 추출: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고객의 온톨로지는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A8 자체 지식 그래프 상단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에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추가적인 연결성을 제공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하는 역할을 합니다.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어휘 매핑: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A8 플랫폼의 다운스트림 요구사항을 위해 설계된 A8 어휘와 별개로, 고객의 어휘를 추가하는 방식이며 상호 간섭하지 않습니다.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추론 방식: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전통적인 Triple-store 기반의 온톨로지 추론 미사용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050" u="sng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A8의 독점적인 멀티모달 에이전트 흐름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을 통해 </a:t>
            </a:r>
            <a:r>
              <a:rPr b="1" lang="en-US" sz="1050" u="sng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추론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합니다.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 T-Box 편집, 매핑 관리 및 거버넌스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관리 방식: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연합 커넥터(federated connector)를 통해 연결되며,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고객 데이터 저장소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와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A8 간의 데이터 동기화 주기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를 설정할 수 있습니다.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수정 및 반영: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A8 지식 그래프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는 고객이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API, SDK, UI를 통해 직접 편집/확장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할 수 있습니다.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변경 사항 관리: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Git 스타일의 Diff를 통한 증분 델타(incremental delta) 방식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으로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매핑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이 수행되며, 충돌 관리는 고객의 설정에 따릅니다.</a:t>
            </a:r>
            <a:endParaRPr sz="105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안정성: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모든 노드와 엣지는 완전한 멱등성(idempotency)을 자동으로 유지하므로 재실행 시에도 깔끔하게 병합됩니다.</a:t>
            </a:r>
            <a:endParaRPr b="1" sz="1050">
              <a:solidFill>
                <a:schemeClr val="dk1"/>
              </a:solidFill>
            </a:endParaRPr>
          </a:p>
        </p:txBody>
      </p:sp>
      <p:sp>
        <p:nvSpPr>
          <p:cNvPr id="461" name="Google Shape;461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3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질의 답변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3"/>
          <p:cNvSpPr txBox="1"/>
          <p:nvPr/>
        </p:nvSpPr>
        <p:spPr>
          <a:xfrm>
            <a:off x="365750" y="719961"/>
            <a:ext cx="8067300" cy="39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3. 검증 및 품질 신뢰성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검증 방식: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SHACL이나 OWL/DL 기반의 형태 검증이 아닌,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지표 기반의 검증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을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수행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합니다. 초기 구축 및 지속적인 실행 과정에서 그래프 지표, 클러스터링 지표, 순회 지표 등이 평가에 활용됩니다.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추적성(Provenance):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모든 노드와 엣지에는 (1) 추출 종류(직접 추출, 추론, 에이전트 발견, 모호함), (2) 신뢰 점수(0~1), (3) 출처 정보(소스 문서, 위치, 실행 세션 등)가 포함되어 완벽한 추적성을 제공합니다.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정확도 확인: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그래프 구축 시점에는 노드/엣지 품질 지표를 확인하고, 질의 시점에는 답변의 신뢰성(Faithfulness, Groundedness 등)을 다차원적으로 평가하여 고객이 신뢰할 수 있는 구조인지 확인할 수 있습니다.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4. 그래프 모델, 이식성 및 온프레미스화(In-housing)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그래프 모델: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RDF를 사용하지 않으며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노드와 엣지, 매니페스트로 구성된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Labeled Property Graph(LPG)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형태를 출력합니다.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데이터 내보내기: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JSON/JSONL 형식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으로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내보내기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가 가능하며, 이는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Neo4j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와 같은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LPG 저장소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와 자연스럽게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매핑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독립성: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고객은 내보낸 그래프를 독립적으로 소유하고 운영할 수 있습니다. 다만, Articul8 플랫폼은 외부 소스에서 직접 운영되지 않으므로, 이식 후에는 고객 환경에서 독자적인 추론이 가능합니다.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5. 라이선스 및 비용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기본 기능: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지식 그래프 내보내기 기능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은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기본 구독료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에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포함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되어 제공됩니다.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추가 비용: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사용자 정의 포맷 지원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이나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특정 데이터 저장소 연동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등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맞춤화 작업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은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사례별로 비용과 일정이 산정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됩니다. 또한, 사용자 정의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T-Box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연계 기능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사용 시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별도의 애드온 모듈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이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필요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하며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비용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은 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커스터마이징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범위에 따라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달라집니다.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469" name="Google Shape;46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4"/>
          <p:cNvSpPr/>
          <p:nvPr/>
        </p:nvSpPr>
        <p:spPr>
          <a:xfrm>
            <a:off x="365760" y="228600"/>
            <a:ext cx="2011800" cy="255300"/>
          </a:xfrm>
          <a:prstGeom prst="roundRect">
            <a:avLst>
              <a:gd fmla="val 14925" name="adj"/>
            </a:avLst>
          </a:prstGeom>
          <a:solidFill>
            <a:srgbClr val="00A8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4"/>
          <p:cNvSpPr txBox="1"/>
          <p:nvPr/>
        </p:nvSpPr>
        <p:spPr>
          <a:xfrm>
            <a:off x="365760" y="228600"/>
            <a:ext cx="20118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ASME Press Release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4"/>
          <p:cNvSpPr txBox="1"/>
          <p:nvPr/>
        </p:nvSpPr>
        <p:spPr>
          <a:xfrm>
            <a:off x="365760" y="714375"/>
            <a:ext cx="84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3">
                <a:solidFill>
                  <a:srgbClr val="00A8B5"/>
                </a:solidFill>
                <a:latin typeface="Arial"/>
                <a:ea typeface="Arial"/>
                <a:cs typeface="Arial"/>
                <a:sym typeface="Arial"/>
              </a:rPr>
              <a:t>ASME의 파트너 선정 결과 및 핵심 요인</a:t>
            </a:r>
            <a:endParaRPr b="1" sz="1203">
              <a:solidFill>
                <a:srgbClr val="00A8B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Articul8, 글로벌 14개 경쟁사를 제치고 최종 파트너 선정</a:t>
            </a:r>
            <a:endParaRPr b="1" sz="222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7" name="Google Shape;477;p34"/>
          <p:cNvGrpSpPr/>
          <p:nvPr/>
        </p:nvGrpSpPr>
        <p:grpSpPr>
          <a:xfrm>
            <a:off x="365760" y="1762125"/>
            <a:ext cx="4048200" cy="2762400"/>
            <a:chOff x="0" y="0"/>
            <a:chExt cx="4048200" cy="2762400"/>
          </a:xfrm>
        </p:grpSpPr>
        <p:sp>
          <p:nvSpPr>
            <p:cNvPr id="478" name="Google Shape;478;p34"/>
            <p:cNvSpPr/>
            <p:nvPr/>
          </p:nvSpPr>
          <p:spPr>
            <a:xfrm>
              <a:off x="0" y="0"/>
              <a:ext cx="4048200" cy="27624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0" y="0"/>
              <a:ext cx="4048200" cy="476400"/>
            </a:xfrm>
            <a:prstGeom prst="roundRect">
              <a:avLst>
                <a:gd fmla="val 32000" name="adj"/>
              </a:avLst>
            </a:prstGeom>
            <a:solidFill>
              <a:srgbClr val="00A8B5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4"/>
            <p:cNvSpPr txBox="1"/>
            <p:nvPr/>
          </p:nvSpPr>
          <p:spPr>
            <a:xfrm>
              <a:off x="228600" y="142875"/>
              <a:ext cx="35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88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왜 Articul8인가? (선정 핵심 이유)</a:t>
              </a:r>
              <a:endParaRPr b="1" sz="1388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4"/>
            <p:cNvSpPr txBox="1"/>
            <p:nvPr/>
          </p:nvSpPr>
          <p:spPr>
            <a:xfrm>
              <a:off x="228600" y="714375"/>
              <a:ext cx="3591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0A8B5"/>
                  </a:solidFill>
                  <a:latin typeface="Arial"/>
                  <a:ea typeface="Arial"/>
                  <a:cs typeface="Arial"/>
                  <a:sym typeface="Arial"/>
                </a:rPr>
                <a:t>"독보적인 융합 배경"</a:t>
              </a:r>
              <a:endParaRPr b="0" sz="11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ASME가 Articul8을 최종 선택한 핵심적인 요인은 단순한 IT/AI 솔루션 제공을 넘어, </a:t>
              </a:r>
              <a:r>
                <a:rPr b="1" lang="en-US" sz="1150">
                  <a:solidFill>
                    <a:srgbClr val="00A8B5"/>
                  </a:solidFill>
                  <a:latin typeface="Arial"/>
                  <a:ea typeface="Arial"/>
                  <a:cs typeface="Arial"/>
                  <a:sym typeface="Arial"/>
                </a:rPr>
                <a:t>엔지니어링 분야의 깊이 있는 전문 지식</a:t>
              </a:r>
              <a:r>
                <a:rPr b="0" lang="en-US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을 동시에 갖추고 있었기 때문입니다 </a:t>
              </a:r>
              <a:endParaRPr sz="1150">
                <a:solidFill>
                  <a:srgbClr val="475569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IT/AI 벤더로서의 선도적인 기술력과 실질적인 기계공학 기반의 이해도가 결합되어 가장 신뢰할 수 있는 기술 파트너로 인정받았습니다 </a:t>
              </a:r>
              <a:endParaRPr b="0" sz="11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34"/>
          <p:cNvGrpSpPr/>
          <p:nvPr/>
        </p:nvGrpSpPr>
        <p:grpSpPr>
          <a:xfrm>
            <a:off x="4730115" y="1762125"/>
            <a:ext cx="4048200" cy="2762400"/>
            <a:chOff x="0" y="0"/>
            <a:chExt cx="4048200" cy="2762400"/>
          </a:xfrm>
        </p:grpSpPr>
        <p:sp>
          <p:nvSpPr>
            <p:cNvPr id="483" name="Google Shape;483;p34"/>
            <p:cNvSpPr/>
            <p:nvPr/>
          </p:nvSpPr>
          <p:spPr>
            <a:xfrm>
              <a:off x="0" y="0"/>
              <a:ext cx="4048200" cy="27624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0" y="0"/>
              <a:ext cx="4048200" cy="476400"/>
            </a:xfrm>
            <a:prstGeom prst="roundRect">
              <a:avLst>
                <a:gd fmla="val 32000" name="adj"/>
              </a:avLst>
            </a:prstGeom>
            <a:solidFill>
              <a:srgbClr val="0F172A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 txBox="1"/>
            <p:nvPr/>
          </p:nvSpPr>
          <p:spPr>
            <a:xfrm>
              <a:off x="228600" y="142875"/>
              <a:ext cx="35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88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타 경쟁사 대비 차별화 포인트</a:t>
              </a:r>
              <a:endParaRPr b="1" sz="1388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4"/>
            <p:cNvSpPr txBox="1"/>
            <p:nvPr/>
          </p:nvSpPr>
          <p:spPr>
            <a:xfrm>
              <a:off x="228600" y="714375"/>
              <a:ext cx="3591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"경쟁사들의 치명적인 한계"</a:t>
              </a:r>
              <a:endParaRPr b="1" sz="115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OpenAI, Anthropic 등 </a:t>
              </a: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글로벌 거대 AI 기업들을 포함한 14개의 경쟁사</a:t>
              </a:r>
              <a:r>
                <a:rPr b="0" lang="en-US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가 본 입찰에서 탈락하였습니다].</a:t>
              </a:r>
              <a:endParaRPr b="0" sz="11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타 경쟁사들은 단순 범용 AI 모델 기술만을 강조했을 뿐, ASME가 필수적으로 요구했던 </a:t>
              </a: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기계공학 및 중공업 산업 분야에 대한 깊은 이해도와 내력</a:t>
              </a:r>
              <a:r>
                <a:rPr b="0" lang="en-US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을 전혀 입증하지 못했습니다 </a:t>
              </a:r>
              <a:endParaRPr b="0" sz="11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7" name="Google Shape;487;p34"/>
          <p:cNvSpPr txBox="1"/>
          <p:nvPr/>
        </p:nvSpPr>
        <p:spPr>
          <a:xfrm>
            <a:off x="418950" y="4470150"/>
            <a:ext cx="835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관련 자료: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Articul8 AI and ASME Announce Industry-First Domain-Specific GenAI Model for Engineering Standards</a:t>
            </a:r>
            <a:endParaRPr sz="12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ASME and Articul8 Introduce Industry-First Domain-Specific GenAI Model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