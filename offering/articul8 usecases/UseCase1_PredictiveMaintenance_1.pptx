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64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7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32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3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활용 사례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유지보수 &amp; 자율 원인 분석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 &amp; Autonomous Root-Cause Analysis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제조업 (Manufacturing)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3403F5-6964-B94B-82FC-5330E68744B3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OVERVIEW · </a:t>
            </a:r>
            <a:r>
              <a:rPr lang="ko-KR" altLang="en-US" sz="1300" b="1">
                <a:solidFill>
                  <a:srgbClr val="E8622C"/>
                </a:solidFill>
                <a:latin typeface="맑은 고딕"/>
                <a:ea typeface="맑은 고딕"/>
              </a:rPr>
              <a:t>한눈에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727C6-FBB2-CC4B-95BB-8A037846716C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예측 유지보수 </a:t>
            </a:r>
            <a:r>
              <a:rPr lang="en-US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&amp; </a:t>
            </a:r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자율 원인 분석</a:t>
            </a:r>
            <a:r>
              <a:rPr lang="en-US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: </a:t>
            </a:r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전체 흐름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38AF16-82FD-A346-A3BF-66F04162AD8E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0CCB5E-EC2C-BA49-A8A7-D89EFD0D6B03}"/>
              </a:ext>
            </a:extLst>
          </p:cNvPr>
          <p:cNvSpPr/>
          <p:nvPr/>
        </p:nvSpPr>
        <p:spPr>
          <a:xfrm>
            <a:off x="508000" y="1270000"/>
            <a:ext cx="31496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BCDFC-52FE-F54F-901F-B551294DF671}"/>
              </a:ext>
            </a:extLst>
          </p:cNvPr>
          <p:cNvSpPr/>
          <p:nvPr/>
        </p:nvSpPr>
        <p:spPr>
          <a:xfrm>
            <a:off x="4013200" y="1270000"/>
            <a:ext cx="39370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C47B5-24B5-F143-A27E-02208FBA54F5}"/>
              </a:ext>
            </a:extLst>
          </p:cNvPr>
          <p:cNvSpPr/>
          <p:nvPr/>
        </p:nvSpPr>
        <p:spPr>
          <a:xfrm>
            <a:off x="508000" y="1270000"/>
            <a:ext cx="3149600" cy="457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제조업의 과제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514325-B234-2945-991C-89FB286E3B3C}"/>
              </a:ext>
            </a:extLst>
          </p:cNvPr>
          <p:cNvSpPr/>
          <p:nvPr/>
        </p:nvSpPr>
        <p:spPr>
          <a:xfrm>
            <a:off x="4013200" y="1270000"/>
            <a:ext cx="3937000" cy="457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Articul8 · AgentMesh</a:t>
            </a:r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AEA9D31E-6955-6346-BC63-E099A3951B6A}"/>
              </a:ext>
            </a:extLst>
          </p:cNvPr>
          <p:cNvSpPr/>
          <p:nvPr/>
        </p:nvSpPr>
        <p:spPr>
          <a:xfrm>
            <a:off x="36830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D4DDA0F0-70C9-7D4F-9934-96FAF609FF30}"/>
              </a:ext>
            </a:extLst>
          </p:cNvPr>
          <p:cNvSpPr/>
          <p:nvPr/>
        </p:nvSpPr>
        <p:spPr>
          <a:xfrm>
            <a:off x="79756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AC0C2-EF9E-394D-8F6F-F7EAA4846CD3}"/>
              </a:ext>
            </a:extLst>
          </p:cNvPr>
          <p:cNvSpPr txBox="1"/>
          <p:nvPr/>
        </p:nvSpPr>
        <p:spPr>
          <a:xfrm>
            <a:off x="609600" y="1854200"/>
            <a:ext cx="2946400" cy="304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비계획 가동중지로 연 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$50</a:t>
            </a:r>
            <a:r>
              <a:rPr lang="en" altLang="ko-KR" sz="1300">
                <a:solidFill>
                  <a:srgbClr val="1F2A37"/>
                </a:solidFill>
                <a:latin typeface="맑은 고딕"/>
                <a:ea typeface="맑은 고딕"/>
              </a:rPr>
              <a:t>B+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손실
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대형 플랜트 평균 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$250</a:t>
            </a:r>
            <a:r>
              <a:rPr lang="en" altLang="ko-KR" sz="1300">
                <a:solidFill>
                  <a:srgbClr val="1F2A37"/>
                </a:solidFill>
                <a:latin typeface="맑은 고딕"/>
                <a:ea typeface="맑은 고딕"/>
              </a:rPr>
              <a:t>M /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년
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고장의 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40%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는 예방 가능
     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베어링 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· </a:t>
            </a:r>
            <a:r>
              <a:rPr lang="en" altLang="ko-KR" sz="1300">
                <a:solidFill>
                  <a:srgbClr val="1F2A37"/>
                </a:solidFill>
                <a:latin typeface="맑은 고딕"/>
                <a:ea typeface="맑은 고딕"/>
              </a:rPr>
              <a:t>PLC ·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과열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)
•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기존 도구는 이상 감지만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,
   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원인 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해결책은 미제시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7B09E2-F4DC-3748-B030-54646FA4C960}"/>
              </a:ext>
            </a:extLst>
          </p:cNvPr>
          <p:cNvSpPr/>
          <p:nvPr/>
        </p:nvSpPr>
        <p:spPr>
          <a:xfrm>
            <a:off x="4114800" y="18542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0423E0D-57A0-D242-B263-980E28087706}"/>
              </a:ext>
            </a:extLst>
          </p:cNvPr>
          <p:cNvSpPr/>
          <p:nvPr/>
        </p:nvSpPr>
        <p:spPr>
          <a:xfrm>
            <a:off x="4241800" y="21463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F578B4-AD60-0649-BBBE-7C929DFE0286}"/>
              </a:ext>
            </a:extLst>
          </p:cNvPr>
          <p:cNvSpPr txBox="1"/>
          <p:nvPr/>
        </p:nvSpPr>
        <p:spPr>
          <a:xfrm>
            <a:off x="4673600" y="19685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데이터 인지 에이전트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F21492-F8EE-0344-84CD-C10A76D2EF3F}"/>
              </a:ext>
            </a:extLst>
          </p:cNvPr>
          <p:cNvSpPr txBox="1"/>
          <p:nvPr/>
        </p:nvSpPr>
        <p:spPr>
          <a:xfrm>
            <a:off x="4673600" y="22479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정형</a:t>
            </a:r>
            <a:r>
              <a:rPr lang="en-US" altLang="ko-KR" sz="1150">
                <a:solidFill>
                  <a:srgbClr val="5A647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비정형 운영</a:t>
            </a:r>
            <a:r>
              <a:rPr lang="en-US" altLang="ko-KR" sz="1150">
                <a:solidFill>
                  <a:srgbClr val="5A647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정비 데이터를 자율 수집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AAA913-08FD-9F48-93D1-FB04B93A6883}"/>
              </a:ext>
            </a:extLst>
          </p:cNvPr>
          <p:cNvSpPr/>
          <p:nvPr/>
        </p:nvSpPr>
        <p:spPr>
          <a:xfrm>
            <a:off x="4114800" y="28448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E01B4C9-0B5A-5047-B047-F246F1C3A4CD}"/>
              </a:ext>
            </a:extLst>
          </p:cNvPr>
          <p:cNvSpPr/>
          <p:nvPr/>
        </p:nvSpPr>
        <p:spPr>
          <a:xfrm>
            <a:off x="4241800" y="31369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9695A-AA57-F848-8FC4-91D41A77C28F}"/>
              </a:ext>
            </a:extLst>
          </p:cNvPr>
          <p:cNvSpPr txBox="1"/>
          <p:nvPr/>
        </p:nvSpPr>
        <p:spPr>
          <a:xfrm>
            <a:off x="4673600" y="29591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제조 도메인 특화 에이전트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7A78-F4FB-6246-AF0E-ECE2A3CF1E70}"/>
              </a:ext>
            </a:extLst>
          </p:cNvPr>
          <p:cNvSpPr txBox="1"/>
          <p:nvPr/>
        </p:nvSpPr>
        <p:spPr>
          <a:xfrm>
            <a:off x="4673600" y="32385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성능 저하 예측 </a:t>
            </a:r>
            <a:r>
              <a:rPr lang="en-US" altLang="ko-KR" sz="1150">
                <a:solidFill>
                  <a:srgbClr val="5A6472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인과 사슬 재구성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3E190F-E1FE-DE41-855E-73921208A5B4}"/>
              </a:ext>
            </a:extLst>
          </p:cNvPr>
          <p:cNvSpPr/>
          <p:nvPr/>
        </p:nvSpPr>
        <p:spPr>
          <a:xfrm>
            <a:off x="4114800" y="38354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0A012D0-5AAB-A141-8CF8-16A1CDBCA3A9}"/>
              </a:ext>
            </a:extLst>
          </p:cNvPr>
          <p:cNvSpPr/>
          <p:nvPr/>
        </p:nvSpPr>
        <p:spPr>
          <a:xfrm>
            <a:off x="4241800" y="41275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BC454-5D10-D14C-981D-82B7E30509BD}"/>
              </a:ext>
            </a:extLst>
          </p:cNvPr>
          <p:cNvSpPr txBox="1"/>
          <p:nvPr/>
        </p:nvSpPr>
        <p:spPr>
          <a:xfrm>
            <a:off x="4673600" y="39497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보고서 생성 에이전트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1F9E0B-E16E-3245-99F5-ED85A7644EC7}"/>
              </a:ext>
            </a:extLst>
          </p:cNvPr>
          <p:cNvSpPr txBox="1"/>
          <p:nvPr/>
        </p:nvSpPr>
        <p:spPr>
          <a:xfrm>
            <a:off x="4673600" y="42291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단계별 진단 </a:t>
            </a:r>
            <a:r>
              <a:rPr lang="en-US" altLang="ko-KR" sz="1150">
                <a:solidFill>
                  <a:srgbClr val="5A6472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권장 조치 요약 보고서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19EBB7-ADC8-0B40-A5BB-DB996B24A76A}"/>
              </a:ext>
            </a:extLst>
          </p:cNvPr>
          <p:cNvSpPr txBox="1"/>
          <p:nvPr/>
        </p:nvSpPr>
        <p:spPr>
          <a:xfrm>
            <a:off x="508000" y="50546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16324F"/>
                </a:solidFill>
                <a:latin typeface="맑은 고딕"/>
                <a:ea typeface="맑은 고딕"/>
              </a:rPr>
              <a:t>Articul8 </a:t>
            </a:r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차별점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E7228F7-7B64-C941-9011-B055216B6272}"/>
              </a:ext>
            </a:extLst>
          </p:cNvPr>
          <p:cNvSpPr/>
          <p:nvPr/>
        </p:nvSpPr>
        <p:spPr>
          <a:xfrm>
            <a:off x="5080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멀티모달 원인 분석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0C42031-B678-2442-BD5C-BE8D40E4E742}"/>
              </a:ext>
            </a:extLst>
          </p:cNvPr>
          <p:cNvSpPr/>
          <p:nvPr/>
        </p:nvSpPr>
        <p:spPr>
          <a:xfrm>
            <a:off x="33528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도메인별 추론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79BAA779-6646-954A-A66D-2E52323E41C5}"/>
              </a:ext>
            </a:extLst>
          </p:cNvPr>
          <p:cNvSpPr/>
          <p:nvPr/>
        </p:nvSpPr>
        <p:spPr>
          <a:xfrm>
            <a:off x="61976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증거 기반 보고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5B104DA1-5C58-524A-83CC-E884B6197714}"/>
              </a:ext>
            </a:extLst>
          </p:cNvPr>
          <p:cNvSpPr/>
          <p:nvPr/>
        </p:nvSpPr>
        <p:spPr>
          <a:xfrm>
            <a:off x="90424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유연한 배포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CAB46-6440-1C4E-8E1E-5A6B4EDB2273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1 — </a:t>
            </a:r>
            <a:r>
              <a:rPr lang="ko-KR" altLang="en-US" sz="1000">
                <a:solidFill>
                  <a:srgbClr val="5A6472"/>
                </a:solidFill>
                <a:latin typeface="맑은 고딕"/>
                <a:ea typeface="맑은 고딕"/>
              </a:rPr>
              <a:t>예측 유지보수 </a:t>
            </a:r>
            <a:r>
              <a:rPr lang="en-US" altLang="ko-KR" sz="1000">
                <a:solidFill>
                  <a:srgbClr val="5A6472"/>
                </a:solidFill>
                <a:latin typeface="맑은 고딕"/>
                <a:ea typeface="맑은 고딕"/>
              </a:rPr>
              <a:t>&amp; </a:t>
            </a:r>
            <a:r>
              <a:rPr lang="ko-KR" altLang="en-US" sz="1000">
                <a:solidFill>
                  <a:srgbClr val="5A6472"/>
                </a:solidFill>
                <a:latin typeface="맑은 고딕"/>
                <a:ea typeface="맑은 고딕"/>
              </a:rPr>
              <a:t>자율 원인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775C15-71EC-ACB6-EC27-7126964D5142}"/>
              </a:ext>
            </a:extLst>
          </p:cNvPr>
          <p:cNvSpPr/>
          <p:nvPr/>
        </p:nvSpPr>
        <p:spPr>
          <a:xfrm>
            <a:off x="8331200" y="1271846"/>
            <a:ext cx="3365500" cy="3706553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C42C13-DAE2-F3E8-670A-261FF710D695}"/>
              </a:ext>
            </a:extLst>
          </p:cNvPr>
          <p:cNvSpPr/>
          <p:nvPr/>
        </p:nvSpPr>
        <p:spPr>
          <a:xfrm>
            <a:off x="8331200" y="1271847"/>
            <a:ext cx="3365500" cy="431800"/>
          </a:xfrm>
          <a:prstGeom prst="rect">
            <a:avLst/>
          </a:prstGeom>
          <a:solidFill>
            <a:srgbClr val="2E9E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핵심 성과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8174B-0037-3263-B01B-F47E15B205D2}"/>
              </a:ext>
            </a:extLst>
          </p:cNvPr>
          <p:cNvSpPr txBox="1"/>
          <p:nvPr/>
        </p:nvSpPr>
        <p:spPr>
          <a:xfrm>
            <a:off x="8456428" y="2121592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 dirty="0">
                <a:solidFill>
                  <a:srgbClr val="2E9E5B"/>
                </a:solidFill>
                <a:latin typeface="맑은 고딕"/>
                <a:ea typeface="맑은 고딕"/>
              </a:rPr>
              <a:t>20–40% ↓</a:t>
            </a:r>
            <a:endParaRPr lang="ko-KR" altLang="en-US" sz="2400" b="1" dirty="0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987A5-BDE4-7C88-043E-1CC16A067B6F}"/>
              </a:ext>
            </a:extLst>
          </p:cNvPr>
          <p:cNvSpPr txBox="1"/>
          <p:nvPr/>
        </p:nvSpPr>
        <p:spPr>
          <a:xfrm>
            <a:off x="9974816" y="2172392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계획되지 않은 가동 중단 감소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1341B-6208-6897-1D90-80F844B18190}"/>
              </a:ext>
            </a:extLst>
          </p:cNvPr>
          <p:cNvSpPr txBox="1"/>
          <p:nvPr/>
        </p:nvSpPr>
        <p:spPr>
          <a:xfrm>
            <a:off x="8456428" y="3082636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>
                <a:solidFill>
                  <a:srgbClr val="2E9E5B"/>
                </a:solidFill>
                <a:latin typeface="맑은 고딕"/>
                <a:ea typeface="맑은 고딕"/>
              </a:rPr>
              <a:t>2–5×</a:t>
            </a:r>
            <a:endParaRPr lang="ko-KR" altLang="en-US" sz="2400" b="1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9C64D-9CDC-D0CE-2777-C937696AE98E}"/>
              </a:ext>
            </a:extLst>
          </p:cNvPr>
          <p:cNvSpPr txBox="1"/>
          <p:nvPr/>
        </p:nvSpPr>
        <p:spPr>
          <a:xfrm>
            <a:off x="9974816" y="3133436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문제 해결 속도 향상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DBC24-9C59-6AB7-64EB-95BAF28EC98F}"/>
              </a:ext>
            </a:extLst>
          </p:cNvPr>
          <p:cNvSpPr txBox="1"/>
          <p:nvPr/>
        </p:nvSpPr>
        <p:spPr>
          <a:xfrm>
            <a:off x="8456428" y="4168371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2400" b="1" dirty="0">
                <a:solidFill>
                  <a:srgbClr val="2E9E5B"/>
                </a:solidFill>
                <a:latin typeface="맑은 고딕"/>
                <a:ea typeface="맑은 고딕"/>
              </a:rPr>
              <a:t>재고 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4D86-3DF5-7B16-D1BE-E727283D551C}"/>
              </a:ext>
            </a:extLst>
          </p:cNvPr>
          <p:cNvSpPr txBox="1"/>
          <p:nvPr/>
        </p:nvSpPr>
        <p:spPr>
          <a:xfrm>
            <a:off x="9974816" y="4219171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예비 부품 재고 비용 절감</a:t>
            </a:r>
          </a:p>
        </p:txBody>
      </p:sp>
    </p:spTree>
    <p:extLst>
      <p:ext uri="{BB962C8B-B14F-4D97-AF65-F5344CB8AC3E}">
        <p14:creationId xmlns:p14="http://schemas.microsoft.com/office/powerpoint/2010/main" val="28456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565A6-7C04-D94E-B53B-85C5D720F0DD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Articul8 </a:t>
            </a:r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솔루션 요약</a:t>
            </a:r>
            <a:r>
              <a:rPr lang="en-US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: </a:t>
            </a:r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에이전트 </a:t>
            </a:r>
            <a:r>
              <a:rPr lang="en-US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포지셔닝 </a:t>
            </a:r>
            <a:r>
              <a:rPr lang="en-US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성과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926657-4550-A444-92A4-6DD56FEC7340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1D138-851D-5D49-A2A1-51E6BCA8FD21}"/>
              </a:ext>
            </a:extLst>
          </p:cNvPr>
          <p:cNvSpPr txBox="1"/>
          <p:nvPr/>
        </p:nvSpPr>
        <p:spPr>
          <a:xfrm>
            <a:off x="508000" y="12446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핵심 에이전트 파이프라인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D81286-6DE4-3046-8ECA-0A33F76E4916}"/>
              </a:ext>
            </a:extLst>
          </p:cNvPr>
          <p:cNvSpPr/>
          <p:nvPr/>
        </p:nvSpPr>
        <p:spPr>
          <a:xfrm>
            <a:off x="5080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ED26F5-5366-724A-9182-E5B3F061C69A}"/>
              </a:ext>
            </a:extLst>
          </p:cNvPr>
          <p:cNvSpPr/>
          <p:nvPr/>
        </p:nvSpPr>
        <p:spPr>
          <a:xfrm>
            <a:off x="5080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94C52D-BEE1-5B44-8D7E-1B46E31AAAD2}"/>
              </a:ext>
            </a:extLst>
          </p:cNvPr>
          <p:cNvSpPr/>
          <p:nvPr/>
        </p:nvSpPr>
        <p:spPr>
          <a:xfrm>
            <a:off x="6858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4D0AB-3454-B04A-9BEB-AFF331840824}"/>
              </a:ext>
            </a:extLst>
          </p:cNvPr>
          <p:cNvSpPr txBox="1"/>
          <p:nvPr/>
        </p:nvSpPr>
        <p:spPr>
          <a:xfrm>
            <a:off x="11430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데이터 인지 에이전트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66BDB-A279-AF48-A1B9-7D4D32BC8D38}"/>
              </a:ext>
            </a:extLst>
          </p:cNvPr>
          <p:cNvSpPr txBox="1"/>
          <p:nvPr/>
        </p:nvSpPr>
        <p:spPr>
          <a:xfrm>
            <a:off x="11430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Data-Aware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26644-2EB5-1145-A0AD-DA81185CAC58}"/>
              </a:ext>
            </a:extLst>
          </p:cNvPr>
          <p:cNvSpPr txBox="1"/>
          <p:nvPr/>
        </p:nvSpPr>
        <p:spPr>
          <a:xfrm>
            <a:off x="7112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이기종 데이터를 자동 통합해 분석 기반 마련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8BDCF0-8366-8E47-AB46-7AE6B7537B17}"/>
              </a:ext>
            </a:extLst>
          </p:cNvPr>
          <p:cNvSpPr/>
          <p:nvPr/>
        </p:nvSpPr>
        <p:spPr>
          <a:xfrm>
            <a:off x="43942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E26EEF-18DC-3C4A-BAA9-3BB4F7FF7CBB}"/>
              </a:ext>
            </a:extLst>
          </p:cNvPr>
          <p:cNvSpPr/>
          <p:nvPr/>
        </p:nvSpPr>
        <p:spPr>
          <a:xfrm>
            <a:off x="43942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E8AE27-7B5B-EC4C-9A5E-4EE7046A35AC}"/>
              </a:ext>
            </a:extLst>
          </p:cNvPr>
          <p:cNvSpPr/>
          <p:nvPr/>
        </p:nvSpPr>
        <p:spPr>
          <a:xfrm>
            <a:off x="45720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A37FD-AA91-9748-9884-36A6B517A41F}"/>
              </a:ext>
            </a:extLst>
          </p:cNvPr>
          <p:cNvSpPr txBox="1"/>
          <p:nvPr/>
        </p:nvSpPr>
        <p:spPr>
          <a:xfrm>
            <a:off x="50292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제조 도메인 특화 에이전트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B96F5-B392-7345-97E4-E447E770FF6D}"/>
              </a:ext>
            </a:extLst>
          </p:cNvPr>
          <p:cNvSpPr txBox="1"/>
          <p:nvPr/>
        </p:nvSpPr>
        <p:spPr>
          <a:xfrm>
            <a:off x="50292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Manufacturing Domain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91A5D-8ADC-1A45-B37D-2D673FF6569A}"/>
              </a:ext>
            </a:extLst>
          </p:cNvPr>
          <p:cNvSpPr txBox="1"/>
          <p:nvPr/>
        </p:nvSpPr>
        <p:spPr>
          <a:xfrm>
            <a:off x="45974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예측과 인과 재구성으로 근본 원인까지 규명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B68D14-7992-6E43-9656-B863A48C88CB}"/>
              </a:ext>
            </a:extLst>
          </p:cNvPr>
          <p:cNvSpPr/>
          <p:nvPr/>
        </p:nvSpPr>
        <p:spPr>
          <a:xfrm>
            <a:off x="82804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904039-4B31-D549-9345-C9F92E309883}"/>
              </a:ext>
            </a:extLst>
          </p:cNvPr>
          <p:cNvSpPr/>
          <p:nvPr/>
        </p:nvSpPr>
        <p:spPr>
          <a:xfrm>
            <a:off x="82804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51FBB03-71D4-3B4D-BDF4-DC4AEEF5927D}"/>
              </a:ext>
            </a:extLst>
          </p:cNvPr>
          <p:cNvSpPr/>
          <p:nvPr/>
        </p:nvSpPr>
        <p:spPr>
          <a:xfrm>
            <a:off x="84582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F8D71-EF1E-E843-A4EF-28A568371717}"/>
              </a:ext>
            </a:extLst>
          </p:cNvPr>
          <p:cNvSpPr txBox="1"/>
          <p:nvPr/>
        </p:nvSpPr>
        <p:spPr>
          <a:xfrm>
            <a:off x="89154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보고서 생성 에이전트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4587B-7045-0848-A894-9C8FE8071BA8}"/>
              </a:ext>
            </a:extLst>
          </p:cNvPr>
          <p:cNvSpPr txBox="1"/>
          <p:nvPr/>
        </p:nvSpPr>
        <p:spPr>
          <a:xfrm>
            <a:off x="89154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Report Generation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BA5D4-6542-7C4F-B3C3-5E494633AB0E}"/>
              </a:ext>
            </a:extLst>
          </p:cNvPr>
          <p:cNvSpPr txBox="1"/>
          <p:nvPr/>
        </p:nvSpPr>
        <p:spPr>
          <a:xfrm>
            <a:off x="84836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증거 기반 실행 보고서로 현장 대응 시간 단축</a:t>
            </a: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B7B5D4A8-791D-CC49-B5FB-7B7F13BE1FBA}"/>
              </a:ext>
            </a:extLst>
          </p:cNvPr>
          <p:cNvSpPr/>
          <p:nvPr/>
        </p:nvSpPr>
        <p:spPr>
          <a:xfrm>
            <a:off x="39624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2390B8C5-7293-B645-B3CD-531CE6E73892}"/>
              </a:ext>
            </a:extLst>
          </p:cNvPr>
          <p:cNvSpPr/>
          <p:nvPr/>
        </p:nvSpPr>
        <p:spPr>
          <a:xfrm>
            <a:off x="78486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32696C-89E1-3943-B45B-BB53FEC47216}"/>
              </a:ext>
            </a:extLst>
          </p:cNvPr>
          <p:cNvSpPr/>
          <p:nvPr/>
        </p:nvSpPr>
        <p:spPr>
          <a:xfrm>
            <a:off x="508000" y="2997200"/>
            <a:ext cx="11176000" cy="330200"/>
          </a:xfrm>
          <a:prstGeom prst="rect">
            <a:avLst/>
          </a:prstGeom>
          <a:solidFill>
            <a:srgbClr val="EEF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예측 유지보수 대시보드  </a:t>
            </a:r>
            <a:r>
              <a:rPr lang="en-US" altLang="ko-KR" sz="1200">
                <a:solidFill>
                  <a:srgbClr val="16324F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이상 징후 자동 탐지 </a:t>
            </a:r>
            <a:r>
              <a:rPr lang="en-US" altLang="ko-KR" sz="1200">
                <a:solidFill>
                  <a:srgbClr val="16324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근본 원인 재구성 </a:t>
            </a:r>
            <a:r>
              <a:rPr lang="en-US" altLang="ko-KR" sz="1200">
                <a:solidFill>
                  <a:srgbClr val="16324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실행 가능한 진단 요약 제공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8E6047-236C-0849-99C4-4D1B0B397FE2}"/>
              </a:ext>
            </a:extLst>
          </p:cNvPr>
          <p:cNvSpPr/>
          <p:nvPr/>
        </p:nvSpPr>
        <p:spPr>
          <a:xfrm>
            <a:off x="508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D5C0A3-B348-A948-9D23-7332344B7F76}"/>
              </a:ext>
            </a:extLst>
          </p:cNvPr>
          <p:cNvSpPr/>
          <p:nvPr/>
        </p:nvSpPr>
        <p:spPr>
          <a:xfrm>
            <a:off x="508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독보적 포지셔닝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94C1F-2475-BA4E-BC7C-CA3028479198}"/>
              </a:ext>
            </a:extLst>
          </p:cNvPr>
          <p:cNvSpPr txBox="1"/>
          <p:nvPr/>
        </p:nvSpPr>
        <p:spPr>
          <a:xfrm>
            <a:off x="685800" y="4064000"/>
            <a:ext cx="5130800" cy="218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멀티모달 근본 원인 분석 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단순 경고가 아닌 원인 규명
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도메인 추론으로 기계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전기 고장 연쇄 분석
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규정 준수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감사 지원 증거 기반 보고서
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클라우드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온프레미스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에어갭 유연한 배포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4AD9C-4B11-934A-828E-553E9FEF0A34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1 — </a:t>
            </a:r>
            <a:r>
              <a:rPr lang="ko-KR" altLang="en-US" sz="1000">
                <a:solidFill>
                  <a:srgbClr val="5A6472"/>
                </a:solidFill>
                <a:latin typeface="맑은 고딕"/>
                <a:ea typeface="맑은 고딕"/>
              </a:rPr>
              <a:t>예측 유지보수 </a:t>
            </a:r>
            <a:r>
              <a:rPr lang="en-US" altLang="ko-KR" sz="1000">
                <a:solidFill>
                  <a:srgbClr val="5A6472"/>
                </a:solidFill>
                <a:latin typeface="맑은 고딕"/>
                <a:ea typeface="맑은 고딕"/>
              </a:rPr>
              <a:t>&amp; </a:t>
            </a:r>
            <a:r>
              <a:rPr lang="ko-KR" altLang="en-US" sz="1000">
                <a:solidFill>
                  <a:srgbClr val="5A6472"/>
                </a:solidFill>
                <a:latin typeface="맑은 고딕"/>
                <a:ea typeface="맑은 고딕"/>
              </a:rPr>
              <a:t>자율 원인 분석</a:t>
            </a:r>
          </a:p>
        </p:txBody>
      </p:sp>
      <p:sp>
        <p:nvSpPr>
          <p:cNvPr id="39" name="Rectangle RightPanel BG">
            <a:extLst>
              <a:ext uri="{FF2B5EF4-FFF2-40B4-BE49-F238E27FC236}">
                <a16:creationId xmlns:a16="http://schemas.microsoft.com/office/drawing/2014/main" id="{A97A084E-703B-764C-8E68-C3EE1F8C5ED1}"/>
              </a:ext>
            </a:extLst>
          </p:cNvPr>
          <p:cNvSpPr/>
          <p:nvPr/>
        </p:nvSpPr>
        <p:spPr>
          <a:xfrm>
            <a:off x="6223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Rectangle RightPanel Header">
            <a:extLst>
              <a:ext uri="{FF2B5EF4-FFF2-40B4-BE49-F238E27FC236}">
                <a16:creationId xmlns:a16="http://schemas.microsoft.com/office/drawing/2014/main" id="{A097E8A4-CAA5-3B4F-969A-A7DD33F01FDC}"/>
              </a:ext>
            </a:extLst>
          </p:cNvPr>
          <p:cNvSpPr/>
          <p:nvPr/>
        </p:nvSpPr>
        <p:spPr>
          <a:xfrm>
            <a:off x="6223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기대 도입 효과</a:t>
            </a:r>
          </a:p>
        </p:txBody>
      </p:sp>
      <p:sp>
        <p:nvSpPr>
          <p:cNvPr id="41" name="TextBox RightPanel Body">
            <a:extLst>
              <a:ext uri="{FF2B5EF4-FFF2-40B4-BE49-F238E27FC236}">
                <a16:creationId xmlns:a16="http://schemas.microsoft.com/office/drawing/2014/main" id="{0813CE03-395A-F94F-BD47-0F3106FCA296}"/>
              </a:ext>
            </a:extLst>
          </p:cNvPr>
          <p:cNvSpPr txBox="1"/>
          <p:nvPr/>
        </p:nvSpPr>
        <p:spPr>
          <a:xfrm>
            <a:off x="6400800" y="4064000"/>
            <a:ext cx="5130800" cy="218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운영 연속성 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돌발 가동 중단을 사전 예방해 생산 계획의 안정성 확보
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정비 생산성 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근본 원인 중심 대응으로 반복 고장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과잉 정비 감소
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안전 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규정 대응 </a:t>
            </a:r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300">
                <a:solidFill>
                  <a:srgbClr val="1F2A37"/>
                </a:solidFill>
                <a:latin typeface="맑은 고딕"/>
                <a:ea typeface="맑은 고딕"/>
              </a:rPr>
              <a:t>증거 기반 진단 기록으로 감사 대응과 현장 안전 강화</a:t>
            </a:r>
          </a:p>
        </p:txBody>
      </p:sp>
    </p:spTree>
    <p:extLst>
      <p:ext uri="{BB962C8B-B14F-4D97-AF65-F5344CB8AC3E}">
        <p14:creationId xmlns:p14="http://schemas.microsoft.com/office/powerpoint/2010/main" val="308339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4EC1E-4C33-FD49-B024-5AEC883E3CA4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A8 </a:t>
            </a:r>
            <a:r>
              <a:rPr lang="ko-KR" altLang="en-US" sz="1300" b="1">
                <a:solidFill>
                  <a:srgbClr val="E8622C"/>
                </a:solidFill>
                <a:latin typeface="맑은 고딕"/>
                <a:ea typeface="맑은 고딕"/>
              </a:rPr>
              <a:t>솔루션 </a:t>
            </a:r>
            <a:r>
              <a:rPr lang="en-US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300" b="1">
                <a:solidFill>
                  <a:srgbClr val="E8622C"/>
                </a:solidFill>
                <a:latin typeface="맑은 고딕"/>
                <a:ea typeface="맑은 고딕"/>
              </a:rPr>
              <a:t>에이전트 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ACCC9-57C9-184D-ABC5-9FACF114F585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세 가지 핵심 에이전트 상세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03A311-B387-5940-B499-DCB29B702CC3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F28D8D-12F9-574B-8637-DF33D61C9D31}"/>
              </a:ext>
            </a:extLst>
          </p:cNvPr>
          <p:cNvSpPr/>
          <p:nvPr/>
        </p:nvSpPr>
        <p:spPr>
          <a:xfrm>
            <a:off x="50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9B84D6-C3B1-BB43-A8DE-F614D34BFD37}"/>
              </a:ext>
            </a:extLst>
          </p:cNvPr>
          <p:cNvSpPr/>
          <p:nvPr/>
        </p:nvSpPr>
        <p:spPr>
          <a:xfrm>
            <a:off x="50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2B82E6-7FE5-6640-A31D-2965661A64BC}"/>
              </a:ext>
            </a:extLst>
          </p:cNvPr>
          <p:cNvSpPr/>
          <p:nvPr/>
        </p:nvSpPr>
        <p:spPr>
          <a:xfrm>
            <a:off x="68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DEDAE-7F71-3249-A77F-102A5545CDBC}"/>
              </a:ext>
            </a:extLst>
          </p:cNvPr>
          <p:cNvSpPr txBox="1"/>
          <p:nvPr/>
        </p:nvSpPr>
        <p:spPr>
          <a:xfrm>
            <a:off x="116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데이터 인지 에이전트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74A9F-FAF6-AD4A-8960-87809465B7BF}"/>
              </a:ext>
            </a:extLst>
          </p:cNvPr>
          <p:cNvSpPr txBox="1"/>
          <p:nvPr/>
        </p:nvSpPr>
        <p:spPr>
          <a:xfrm>
            <a:off x="116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Data-Aware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3EFAC-7ECC-F44D-B09A-D1CBB2A62670}"/>
              </a:ext>
            </a:extLst>
          </p:cNvPr>
          <p:cNvSpPr txBox="1"/>
          <p:nvPr/>
        </p:nvSpPr>
        <p:spPr>
          <a:xfrm>
            <a:off x="71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962D-AC33-074B-861B-75E20F90E81E}"/>
              </a:ext>
            </a:extLst>
          </p:cNvPr>
          <p:cNvSpPr txBox="1"/>
          <p:nvPr/>
        </p:nvSpPr>
        <p:spPr>
          <a:xfrm>
            <a:off x="71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여러 소스의 운영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정비 데이터를 자율적으로 수집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통합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43F42-7096-B040-92BE-6F3927A07E95}"/>
              </a:ext>
            </a:extLst>
          </p:cNvPr>
          <p:cNvSpPr txBox="1"/>
          <p:nvPr/>
        </p:nvSpPr>
        <p:spPr>
          <a:xfrm>
            <a:off x="71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FA338-FF5B-3C4A-8250-B6E32AD94287}"/>
              </a:ext>
            </a:extLst>
          </p:cNvPr>
          <p:cNvSpPr txBox="1"/>
          <p:nvPr/>
        </p:nvSpPr>
        <p:spPr>
          <a:xfrm>
            <a:off x="71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센서 로그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정비 이력 등 정형 데이터 수집
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매뉴얼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도면 등 비정형 데이터 해석
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이기종 데이터를 분석 가능한 형태로 통합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12133-DAAC-1B4C-87FA-98A96E254DDE}"/>
              </a:ext>
            </a:extLst>
          </p:cNvPr>
          <p:cNvSpPr txBox="1"/>
          <p:nvPr/>
        </p:nvSpPr>
        <p:spPr>
          <a:xfrm>
            <a:off x="71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B47E-9757-3E4F-BC90-E331E2300098}"/>
              </a:ext>
            </a:extLst>
          </p:cNvPr>
          <p:cNvSpPr txBox="1"/>
          <p:nvPr/>
        </p:nvSpPr>
        <p:spPr>
          <a:xfrm>
            <a:off x="71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정제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구조화된 통합 데이터셋을 도메인 에이전트로 전달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93FCF-858E-AD4B-9F94-C7BDDF2AFA8C}"/>
              </a:ext>
            </a:extLst>
          </p:cNvPr>
          <p:cNvSpPr/>
          <p:nvPr/>
        </p:nvSpPr>
        <p:spPr>
          <a:xfrm>
            <a:off x="431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B8F692-BC64-FC48-89F9-866871FE9613}"/>
              </a:ext>
            </a:extLst>
          </p:cNvPr>
          <p:cNvSpPr/>
          <p:nvPr/>
        </p:nvSpPr>
        <p:spPr>
          <a:xfrm>
            <a:off x="431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0BC93EA-69F1-444C-8053-577FABC94352}"/>
              </a:ext>
            </a:extLst>
          </p:cNvPr>
          <p:cNvSpPr/>
          <p:nvPr/>
        </p:nvSpPr>
        <p:spPr>
          <a:xfrm>
            <a:off x="449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16BD6-1C42-ED47-8A3F-DF1B3FF9B61F}"/>
              </a:ext>
            </a:extLst>
          </p:cNvPr>
          <p:cNvSpPr txBox="1"/>
          <p:nvPr/>
        </p:nvSpPr>
        <p:spPr>
          <a:xfrm>
            <a:off x="497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제조 도메인 특화 에이전트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67AE8-27B1-5042-B3DC-D07BC9B65AB2}"/>
              </a:ext>
            </a:extLst>
          </p:cNvPr>
          <p:cNvSpPr txBox="1"/>
          <p:nvPr/>
        </p:nvSpPr>
        <p:spPr>
          <a:xfrm>
            <a:off x="497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Manufacturing Domain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4BB3E-19A9-8C48-8458-8E59F16AE739}"/>
              </a:ext>
            </a:extLst>
          </p:cNvPr>
          <p:cNvSpPr txBox="1"/>
          <p:nvPr/>
        </p:nvSpPr>
        <p:spPr>
          <a:xfrm>
            <a:off x="452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AF20D-0B9D-F74A-9764-48D14D70460C}"/>
              </a:ext>
            </a:extLst>
          </p:cNvPr>
          <p:cNvSpPr txBox="1"/>
          <p:nvPr/>
        </p:nvSpPr>
        <p:spPr>
          <a:xfrm>
            <a:off x="452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제조 도메인 지식 기반으로 고장을 예측하고 근본 원인을 규명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DC5FC-A174-3244-97AF-20FD49CAF355}"/>
              </a:ext>
            </a:extLst>
          </p:cNvPr>
          <p:cNvSpPr txBox="1"/>
          <p:nvPr/>
        </p:nvSpPr>
        <p:spPr>
          <a:xfrm>
            <a:off x="452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43624-3CD4-564B-B14C-62E05F89AB9E}"/>
              </a:ext>
            </a:extLst>
          </p:cNvPr>
          <p:cNvSpPr txBox="1"/>
          <p:nvPr/>
        </p:nvSpPr>
        <p:spPr>
          <a:xfrm>
            <a:off x="452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장비 성능 저하를 사전 예측
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이전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알려진 고장 모드와 일치하는 패턴 식별
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인과 관계를 재구성해 근본 원인 파악
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기계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전기 고장 연쇄를 도메인 추론으로 분석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69C0C-E8DD-5E4D-ACD0-487DA33BE911}"/>
              </a:ext>
            </a:extLst>
          </p:cNvPr>
          <p:cNvSpPr txBox="1"/>
          <p:nvPr/>
        </p:nvSpPr>
        <p:spPr>
          <a:xfrm>
            <a:off x="452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56CF18-1527-1848-85D2-EA8AB12562CD}"/>
              </a:ext>
            </a:extLst>
          </p:cNvPr>
          <p:cNvSpPr txBox="1"/>
          <p:nvPr/>
        </p:nvSpPr>
        <p:spPr>
          <a:xfrm>
            <a:off x="452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근본 원인 진단과 고장 연쇄 경로 제공 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단순 경고가 아님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)</a:t>
            </a:r>
            <a:endParaRPr lang="ko-KR" altLang="en-US" sz="1200">
              <a:solidFill>
                <a:srgbClr val="1F2A37"/>
              </a:solidFill>
              <a:latin typeface="맑은 고딕"/>
              <a:ea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0CF6F3-1BA7-B440-998D-BFFA068F184A}"/>
              </a:ext>
            </a:extLst>
          </p:cNvPr>
          <p:cNvSpPr/>
          <p:nvPr/>
        </p:nvSpPr>
        <p:spPr>
          <a:xfrm>
            <a:off x="812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AC2C20-9C4D-404D-B110-2CEA6FE2187F}"/>
              </a:ext>
            </a:extLst>
          </p:cNvPr>
          <p:cNvSpPr/>
          <p:nvPr/>
        </p:nvSpPr>
        <p:spPr>
          <a:xfrm>
            <a:off x="812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4F99B9B-AE94-7240-87AC-70B2955FFE08}"/>
              </a:ext>
            </a:extLst>
          </p:cNvPr>
          <p:cNvSpPr/>
          <p:nvPr/>
        </p:nvSpPr>
        <p:spPr>
          <a:xfrm>
            <a:off x="830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5ED692-A754-344F-91D9-6B6BE2997A55}"/>
              </a:ext>
            </a:extLst>
          </p:cNvPr>
          <p:cNvSpPr txBox="1"/>
          <p:nvPr/>
        </p:nvSpPr>
        <p:spPr>
          <a:xfrm>
            <a:off x="878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보고서 생성 에이전트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5259D-CDB8-F14C-8927-244605B9F0A3}"/>
              </a:ext>
            </a:extLst>
          </p:cNvPr>
          <p:cNvSpPr txBox="1"/>
          <p:nvPr/>
        </p:nvSpPr>
        <p:spPr>
          <a:xfrm>
            <a:off x="878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Report Generation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63359-C938-A848-9C03-ABE0ABE86FE7}"/>
              </a:ext>
            </a:extLst>
          </p:cNvPr>
          <p:cNvSpPr txBox="1"/>
          <p:nvPr/>
        </p:nvSpPr>
        <p:spPr>
          <a:xfrm>
            <a:off x="833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C1FFF-B113-FF4F-A29E-5AF4AA464E64}"/>
              </a:ext>
            </a:extLst>
          </p:cNvPr>
          <p:cNvSpPr txBox="1"/>
          <p:nvPr/>
        </p:nvSpPr>
        <p:spPr>
          <a:xfrm>
            <a:off x="833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진단 결과를 현장에서 실행 가능한 보고서로 변환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0716D-20E5-6444-8B06-A4BF74D88952}"/>
              </a:ext>
            </a:extLst>
          </p:cNvPr>
          <p:cNvSpPr txBox="1"/>
          <p:nvPr/>
        </p:nvSpPr>
        <p:spPr>
          <a:xfrm>
            <a:off x="833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E2AA44-253D-904F-B7F2-751C791BB5B8}"/>
              </a:ext>
            </a:extLst>
          </p:cNvPr>
          <p:cNvSpPr txBox="1"/>
          <p:nvPr/>
        </p:nvSpPr>
        <p:spPr>
          <a:xfrm>
            <a:off x="833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권장 조치가 포함된 단계별 진단 요약 생성
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증거 기반 서술로 신뢰성 확보
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규정 준수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감사 요구사항 지원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C31B2-C1A2-974D-A1D2-6CD601DE5972}"/>
              </a:ext>
            </a:extLst>
          </p:cNvPr>
          <p:cNvSpPr txBox="1"/>
          <p:nvPr/>
        </p:nvSpPr>
        <p:spPr>
          <a:xfrm>
            <a:off x="833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C22AD-26AB-684D-98FD-6E65CAF37817}"/>
              </a:ext>
            </a:extLst>
          </p:cNvPr>
          <p:cNvSpPr txBox="1"/>
          <p:nvPr/>
        </p:nvSpPr>
        <p:spPr>
          <a:xfrm>
            <a:off x="833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바로 실행 가능한 진단</a:t>
            </a:r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조치 보고서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5437C-0CD5-5B44-9576-B0D21A22C7EE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1 — </a:t>
            </a:r>
            <a:r>
              <a:rPr lang="ko-KR" altLang="en-US" sz="1000">
                <a:solidFill>
                  <a:srgbClr val="5A6472"/>
                </a:solidFill>
                <a:latin typeface="맑은 고딕"/>
                <a:ea typeface="맑은 고딕"/>
              </a:rPr>
              <a:t>예측 유지보수 </a:t>
            </a:r>
            <a:r>
              <a:rPr lang="en-US" altLang="ko-KR" sz="1000">
                <a:solidFill>
                  <a:srgbClr val="5A6472"/>
                </a:solidFill>
                <a:latin typeface="맑은 고딕"/>
                <a:ea typeface="맑은 고딕"/>
              </a:rPr>
              <a:t>&amp; </a:t>
            </a:r>
            <a:r>
              <a:rPr lang="ko-KR" altLang="en-US" sz="1000">
                <a:solidFill>
                  <a:srgbClr val="5A6472"/>
                </a:solidFill>
                <a:latin typeface="맑은 고딕"/>
                <a:ea typeface="맑은 고딕"/>
              </a:rPr>
              <a:t>자율 원인 분석</a:t>
            </a:r>
          </a:p>
        </p:txBody>
      </p:sp>
    </p:spTree>
    <p:extLst>
      <p:ext uri="{BB962C8B-B14F-4D97-AF65-F5344CB8AC3E}">
        <p14:creationId xmlns:p14="http://schemas.microsoft.com/office/powerpoint/2010/main" val="183966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유지보수 대시보드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72684" y="1481328"/>
            <a:ext cx="624078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52400" dist="38100" dir="5400000" algn="bl" rotWithShape="0">
              <a:srgbClr val="1B2456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uc_img/uc1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1554480"/>
            <a:ext cx="6094476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5506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52704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징후 자동 탐지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정형·비정형 운영 데이터를 실시간으로 분석해 성능 저하 초기 신호를 포착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 원인 재구성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 고장 이력 및 고장 모드와 대조해 인과 관계를 자동으로 재구성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58114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445312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가능한 진단 요약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조치가 포함된 단계별 보고서를 자동 생성해 대응 속도를 단축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 |  Use Case 1 — 예측 유지보수 &amp; 자율 원인 분석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계획되지 않은 가동 중단을 예측 가능한 인텔리전스로 전환합니다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43EDC7-6B64-3341-B9AD-8A561A6FDEE5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68655e05-f342-45ec-8ec7-f5cedb54c2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638</Words>
  <Application>Microsoft Macintosh PowerPoint</Application>
  <PresentationFormat>와이드스크린</PresentationFormat>
  <Paragraphs>99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신준용</cp:lastModifiedBy>
  <cp:revision>3</cp:revision>
  <dcterms:created xsi:type="dcterms:W3CDTF">2026-07-22T15:42:35Z</dcterms:created>
  <dcterms:modified xsi:type="dcterms:W3CDTF">2026-07-23T00:33:03Z</dcterms:modified>
</cp:coreProperties>
</file>