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5143500" cy="9144000"/>
  <p:embeddedFontLst>
    <p:embeddedFont>
      <p:font typeface="Noto Sans KR"/>
      <p:bold r:id="rId28"/>
    </p:embeddedFont>
    <p:embeddedFont>
      <p:font typeface="Proxima Nova"/>
      <p:regular r:id="rId29"/>
      <p:bold r:id="rId30"/>
      <p:italic r:id="rId31"/>
      <p:boldItalic r:id="rId32"/>
    </p:embeddedFont>
    <p:embeddedFont>
      <p:font typeface="Roboto"/>
      <p:regular r:id="rId33"/>
      <p:bold r:id="rId34"/>
      <p:italic r:id="rId35"/>
      <p:boldItalic r:id="rId36"/>
    </p:embeddedFont>
    <p:embeddedFont>
      <p:font typeface="Space Grotesk Medium"/>
      <p:regular r:id="rId37"/>
      <p:bold r:id="rId38"/>
    </p:embeddedFont>
    <p:embeddedFont>
      <p:font typeface="Roboto Mon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CC9364-7CEE-4092-BB44-D1A95806D531}">
  <a:tblStyle styleId="{79CC9364-7CEE-4092-BB44-D1A95806D53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.fntdata"/><Relationship Id="rId20" Type="http://schemas.openxmlformats.org/officeDocument/2006/relationships/slide" Target="slides/slide14.xml"/><Relationship Id="rId42" Type="http://schemas.openxmlformats.org/officeDocument/2006/relationships/font" Target="fonts/RobotoMono-boldItalic.fntdata"/><Relationship Id="rId41" Type="http://schemas.openxmlformats.org/officeDocument/2006/relationships/font" Target="fonts/RobotoMono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NotoSansKR-bold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roximaNova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roximaNova-italic.fntdata"/><Relationship Id="rId30" Type="http://schemas.openxmlformats.org/officeDocument/2006/relationships/font" Target="fonts/ProximaNova-bold.fntdata"/><Relationship Id="rId11" Type="http://schemas.openxmlformats.org/officeDocument/2006/relationships/slide" Target="slides/slide5.xml"/><Relationship Id="rId33" Type="http://schemas.openxmlformats.org/officeDocument/2006/relationships/font" Target="fonts/Roboto-regular.fntdata"/><Relationship Id="rId10" Type="http://schemas.openxmlformats.org/officeDocument/2006/relationships/slide" Target="slides/slide4.xml"/><Relationship Id="rId32" Type="http://schemas.openxmlformats.org/officeDocument/2006/relationships/font" Target="fonts/ProximaNova-boldItalic.fntdata"/><Relationship Id="rId13" Type="http://schemas.openxmlformats.org/officeDocument/2006/relationships/slide" Target="slides/slide7.xml"/><Relationship Id="rId35" Type="http://schemas.openxmlformats.org/officeDocument/2006/relationships/font" Target="fonts/Roboto-italic.fntdata"/><Relationship Id="rId12" Type="http://schemas.openxmlformats.org/officeDocument/2006/relationships/slide" Target="slides/slide6.xml"/><Relationship Id="rId34" Type="http://schemas.openxmlformats.org/officeDocument/2006/relationships/font" Target="fonts/Roboto-bold.fntdata"/><Relationship Id="rId15" Type="http://schemas.openxmlformats.org/officeDocument/2006/relationships/slide" Target="slides/slide9.xml"/><Relationship Id="rId37" Type="http://schemas.openxmlformats.org/officeDocument/2006/relationships/font" Target="fonts/SpaceGroteskMedium-regular.fntdata"/><Relationship Id="rId14" Type="http://schemas.openxmlformats.org/officeDocument/2006/relationships/slide" Target="slides/slide8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1.xml"/><Relationship Id="rId39" Type="http://schemas.openxmlformats.org/officeDocument/2006/relationships/font" Target="fonts/RobotoMono-regular.fntdata"/><Relationship Id="rId16" Type="http://schemas.openxmlformats.org/officeDocument/2006/relationships/slide" Target="slides/slide10.xml"/><Relationship Id="rId38" Type="http://schemas.openxmlformats.org/officeDocument/2006/relationships/font" Target="fonts/SpaceGroteskMedium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1371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" name="Google Shape;62;p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" name="Google Shape;76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" name="Google Shape;83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816daa689_0_18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g3f816daa689_0_18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" name="Google Shape;94;g3f816daa689_0_18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816daa689_0_19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g3f816daa689_0_19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g3f816daa689_0_19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816daa689_0_1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g3f816daa689_0_1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" name="Google Shape;117;g3f816daa689_0_1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816daa689_0_1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g3f816daa689_0_1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" name="Google Shape;129;g3f816daa689_0_1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816daa689_0_16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g3f816daa689_0_16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" name="Google Shape;140;g3f816daa689_0_16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528e5c9f6_0_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g3f528e5c9f6_0_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" name="Google Shape;160;g3f528e5c9f6_0_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3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816daa689_0_2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f816daa689_0_2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816daa689_0_8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f816daa689_0_8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816daa689_0_17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f816daa689_0_17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816daa689_0_2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f816daa689_0_25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816daa689_0_34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f816daa689_0_34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816daa689_0_4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f816daa689_0_41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816daa689_0_46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f816daa689_0_46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816daa689_0_383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f816daa689_0_383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816daa689_0_5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f816daa689_0_51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4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816daa689_0_86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f816daa689_0_86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3"/>
          <p:cNvSpPr/>
          <p:nvPr/>
        </p:nvSpPr>
        <p:spPr>
          <a:xfrm>
            <a:off x="333913" y="288259"/>
            <a:ext cx="2712428" cy="0"/>
          </a:xfrm>
          <a:custGeom>
            <a:rect b="b" l="l" r="r" t="t"/>
            <a:pathLst>
              <a:path extrusionOk="0" h="120000" w="5961380">
                <a:moveTo>
                  <a:pt x="0" y="0"/>
                </a:moveTo>
                <a:lnTo>
                  <a:pt x="596076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3"/>
          <p:cNvSpPr/>
          <p:nvPr/>
        </p:nvSpPr>
        <p:spPr>
          <a:xfrm>
            <a:off x="3740711" y="288259"/>
            <a:ext cx="5405498" cy="0"/>
          </a:xfrm>
          <a:custGeom>
            <a:rect b="b" l="l" r="r" t="t"/>
            <a:pathLst>
              <a:path extrusionOk="0" h="120000" w="11880215">
                <a:moveTo>
                  <a:pt x="0" y="0"/>
                </a:moveTo>
                <a:lnTo>
                  <a:pt x="11879732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oogle Shape;10;p3"/>
          <p:cNvGrpSpPr/>
          <p:nvPr/>
        </p:nvGrpSpPr>
        <p:grpSpPr>
          <a:xfrm>
            <a:off x="333775" y="99958"/>
            <a:ext cx="493617" cy="105010"/>
            <a:chOff x="733894" y="219784"/>
            <a:chExt cx="1085349" cy="230893"/>
          </a:xfrm>
        </p:grpSpPr>
        <p:pic>
          <p:nvPicPr>
            <p:cNvPr id="11" name="Google Shape;11;p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61937" y="243153"/>
              <a:ext cx="94457" cy="2074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2;p3"/>
            <p:cNvSpPr/>
            <p:nvPr/>
          </p:nvSpPr>
          <p:spPr>
            <a:xfrm>
              <a:off x="1180962" y="224642"/>
              <a:ext cx="43815" cy="222884"/>
            </a:xfrm>
            <a:custGeom>
              <a:rect b="b" l="l" r="r" t="t"/>
              <a:pathLst>
                <a:path extrusionOk="0" h="222884" w="43815">
                  <a:moveTo>
                    <a:pt x="40522" y="65422"/>
                  </a:moveTo>
                  <a:lnTo>
                    <a:pt x="3193" y="65422"/>
                  </a:lnTo>
                  <a:lnTo>
                    <a:pt x="2230" y="66060"/>
                  </a:lnTo>
                  <a:lnTo>
                    <a:pt x="2230" y="221783"/>
                  </a:lnTo>
                  <a:lnTo>
                    <a:pt x="3193" y="222747"/>
                  </a:lnTo>
                  <a:lnTo>
                    <a:pt x="40522" y="222747"/>
                  </a:lnTo>
                  <a:lnTo>
                    <a:pt x="41161" y="222108"/>
                  </a:lnTo>
                  <a:lnTo>
                    <a:pt x="41161" y="65736"/>
                  </a:lnTo>
                  <a:lnTo>
                    <a:pt x="40522" y="65422"/>
                  </a:lnTo>
                  <a:close/>
                </a:path>
                <a:path extrusionOk="0" h="222884" w="43815">
                  <a:moveTo>
                    <a:pt x="22009" y="0"/>
                  </a:moveTo>
                  <a:lnTo>
                    <a:pt x="12938" y="1645"/>
                  </a:lnTo>
                  <a:lnTo>
                    <a:pt x="13119" y="1645"/>
                  </a:lnTo>
                  <a:lnTo>
                    <a:pt x="6142" y="6223"/>
                  </a:lnTo>
                  <a:lnTo>
                    <a:pt x="1645" y="13057"/>
                  </a:lnTo>
                  <a:lnTo>
                    <a:pt x="0" y="22020"/>
                  </a:lnTo>
                  <a:lnTo>
                    <a:pt x="1550" y="30978"/>
                  </a:lnTo>
                  <a:lnTo>
                    <a:pt x="5943" y="37934"/>
                  </a:lnTo>
                  <a:lnTo>
                    <a:pt x="12788" y="42438"/>
                  </a:lnTo>
                  <a:lnTo>
                    <a:pt x="21695" y="44040"/>
                  </a:lnTo>
                  <a:lnTo>
                    <a:pt x="30790" y="42438"/>
                  </a:lnTo>
                  <a:lnTo>
                    <a:pt x="37731" y="37934"/>
                  </a:lnTo>
                  <a:lnTo>
                    <a:pt x="42160" y="30978"/>
                  </a:lnTo>
                  <a:lnTo>
                    <a:pt x="43715" y="22020"/>
                  </a:lnTo>
                  <a:lnTo>
                    <a:pt x="42254" y="13194"/>
                  </a:lnTo>
                  <a:lnTo>
                    <a:pt x="38010" y="6223"/>
                  </a:lnTo>
                  <a:lnTo>
                    <a:pt x="31192" y="1645"/>
                  </a:lnTo>
                  <a:lnTo>
                    <a:pt x="22009" y="0"/>
                  </a:lnTo>
                  <a:close/>
                </a:path>
              </a:pathLst>
            </a:custGeom>
            <a:solidFill>
              <a:srgbClr val="0000C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" name="Google Shape;13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52437" y="286869"/>
              <a:ext cx="119347" cy="163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99864" y="290065"/>
              <a:ext cx="135618" cy="160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15;p3"/>
            <p:cNvSpPr/>
            <p:nvPr/>
          </p:nvSpPr>
          <p:spPr>
            <a:xfrm>
              <a:off x="733894" y="220173"/>
              <a:ext cx="897255" cy="230504"/>
            </a:xfrm>
            <a:custGeom>
              <a:rect b="b" l="l" r="r" t="t"/>
              <a:pathLst>
                <a:path extrusionOk="0" h="230504" w="897255">
                  <a:moveTo>
                    <a:pt x="191477" y="226263"/>
                  </a:moveTo>
                  <a:lnTo>
                    <a:pt x="191312" y="225310"/>
                  </a:lnTo>
                  <a:lnTo>
                    <a:pt x="191262" y="225005"/>
                  </a:lnTo>
                  <a:lnTo>
                    <a:pt x="191147" y="224345"/>
                  </a:lnTo>
                  <a:lnTo>
                    <a:pt x="167119" y="157543"/>
                  </a:lnTo>
                  <a:lnTo>
                    <a:pt x="164579" y="150495"/>
                  </a:lnTo>
                  <a:lnTo>
                    <a:pt x="128231" y="49466"/>
                  </a:lnTo>
                  <a:lnTo>
                    <a:pt x="118249" y="21742"/>
                  </a:lnTo>
                  <a:lnTo>
                    <a:pt x="118249" y="126898"/>
                  </a:lnTo>
                  <a:lnTo>
                    <a:pt x="106553" y="130048"/>
                  </a:lnTo>
                  <a:lnTo>
                    <a:pt x="66916" y="147434"/>
                  </a:lnTo>
                  <a:lnTo>
                    <a:pt x="61849" y="150495"/>
                  </a:lnTo>
                  <a:lnTo>
                    <a:pt x="65735" y="137223"/>
                  </a:lnTo>
                  <a:lnTo>
                    <a:pt x="73342" y="114274"/>
                  </a:lnTo>
                  <a:lnTo>
                    <a:pt x="81140" y="90474"/>
                  </a:lnTo>
                  <a:lnTo>
                    <a:pt x="88087" y="68122"/>
                  </a:lnTo>
                  <a:lnTo>
                    <a:pt x="93179" y="49466"/>
                  </a:lnTo>
                  <a:lnTo>
                    <a:pt x="93497" y="49466"/>
                  </a:lnTo>
                  <a:lnTo>
                    <a:pt x="98628" y="66421"/>
                  </a:lnTo>
                  <a:lnTo>
                    <a:pt x="105130" y="86753"/>
                  </a:lnTo>
                  <a:lnTo>
                    <a:pt x="118249" y="126898"/>
                  </a:lnTo>
                  <a:lnTo>
                    <a:pt x="118249" y="21742"/>
                  </a:lnTo>
                  <a:lnTo>
                    <a:pt x="117551" y="19799"/>
                  </a:lnTo>
                  <a:lnTo>
                    <a:pt x="117436" y="19481"/>
                  </a:lnTo>
                  <a:lnTo>
                    <a:pt x="117246" y="18516"/>
                  </a:lnTo>
                  <a:lnTo>
                    <a:pt x="117119" y="17881"/>
                  </a:lnTo>
                  <a:lnTo>
                    <a:pt x="116801" y="17564"/>
                  </a:lnTo>
                  <a:lnTo>
                    <a:pt x="69570" y="17564"/>
                  </a:lnTo>
                  <a:lnTo>
                    <a:pt x="68935" y="18516"/>
                  </a:lnTo>
                  <a:lnTo>
                    <a:pt x="68935" y="19799"/>
                  </a:lnTo>
                  <a:lnTo>
                    <a:pt x="68300" y="30645"/>
                  </a:lnTo>
                  <a:lnTo>
                    <a:pt x="67335" y="33832"/>
                  </a:lnTo>
                  <a:lnTo>
                    <a:pt x="66052" y="37033"/>
                  </a:lnTo>
                  <a:lnTo>
                    <a:pt x="317" y="224028"/>
                  </a:lnTo>
                  <a:lnTo>
                    <a:pt x="0" y="226263"/>
                  </a:lnTo>
                  <a:lnTo>
                    <a:pt x="647" y="227215"/>
                  </a:lnTo>
                  <a:lnTo>
                    <a:pt x="36245" y="227215"/>
                  </a:lnTo>
                  <a:lnTo>
                    <a:pt x="37185" y="226618"/>
                  </a:lnTo>
                  <a:lnTo>
                    <a:pt x="37706" y="225310"/>
                  </a:lnTo>
                  <a:lnTo>
                    <a:pt x="37820" y="225005"/>
                  </a:lnTo>
                  <a:lnTo>
                    <a:pt x="48806" y="207010"/>
                  </a:lnTo>
                  <a:lnTo>
                    <a:pt x="83070" y="174955"/>
                  </a:lnTo>
                  <a:lnTo>
                    <a:pt x="127546" y="157543"/>
                  </a:lnTo>
                  <a:lnTo>
                    <a:pt x="131800" y="172008"/>
                  </a:lnTo>
                  <a:lnTo>
                    <a:pt x="150202" y="225005"/>
                  </a:lnTo>
                  <a:lnTo>
                    <a:pt x="150304" y="225310"/>
                  </a:lnTo>
                  <a:lnTo>
                    <a:pt x="150774" y="226263"/>
                  </a:lnTo>
                  <a:lnTo>
                    <a:pt x="151003" y="226618"/>
                  </a:lnTo>
                  <a:lnTo>
                    <a:pt x="151904" y="227215"/>
                  </a:lnTo>
                  <a:lnTo>
                    <a:pt x="191147" y="227215"/>
                  </a:lnTo>
                  <a:lnTo>
                    <a:pt x="191350" y="226618"/>
                  </a:lnTo>
                  <a:lnTo>
                    <a:pt x="191477" y="226263"/>
                  </a:lnTo>
                  <a:close/>
                </a:path>
                <a:path extrusionOk="0" h="230504" w="897255">
                  <a:moveTo>
                    <a:pt x="897001" y="198818"/>
                  </a:moveTo>
                  <a:lnTo>
                    <a:pt x="896683" y="198183"/>
                  </a:lnTo>
                  <a:lnTo>
                    <a:pt x="895718" y="198501"/>
                  </a:lnTo>
                  <a:lnTo>
                    <a:pt x="892848" y="198818"/>
                  </a:lnTo>
                  <a:lnTo>
                    <a:pt x="882002" y="198818"/>
                  </a:lnTo>
                  <a:lnTo>
                    <a:pt x="878484" y="195618"/>
                  </a:lnTo>
                  <a:lnTo>
                    <a:pt x="878484" y="965"/>
                  </a:lnTo>
                  <a:lnTo>
                    <a:pt x="877531" y="0"/>
                  </a:lnTo>
                  <a:lnTo>
                    <a:pt x="840841" y="0"/>
                  </a:lnTo>
                  <a:lnTo>
                    <a:pt x="839876" y="965"/>
                  </a:lnTo>
                  <a:lnTo>
                    <a:pt x="839876" y="2565"/>
                  </a:lnTo>
                  <a:lnTo>
                    <a:pt x="839876" y="189242"/>
                  </a:lnTo>
                  <a:lnTo>
                    <a:pt x="842784" y="209816"/>
                  </a:lnTo>
                  <a:lnTo>
                    <a:pt x="850722" y="222389"/>
                  </a:lnTo>
                  <a:lnTo>
                    <a:pt x="862495" y="228688"/>
                  </a:lnTo>
                  <a:lnTo>
                    <a:pt x="876896" y="230403"/>
                  </a:lnTo>
                  <a:lnTo>
                    <a:pt x="885837" y="230403"/>
                  </a:lnTo>
                  <a:lnTo>
                    <a:pt x="891565" y="229450"/>
                  </a:lnTo>
                  <a:lnTo>
                    <a:pt x="895083" y="227850"/>
                  </a:lnTo>
                  <a:lnTo>
                    <a:pt x="897001" y="226580"/>
                  </a:lnTo>
                  <a:lnTo>
                    <a:pt x="897001" y="198818"/>
                  </a:lnTo>
                  <a:close/>
                </a:path>
              </a:pathLst>
            </a:custGeom>
            <a:solidFill>
              <a:srgbClr val="0000C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" name="Google Shape;1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48228" y="288301"/>
              <a:ext cx="90635" cy="1590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3"/>
            <p:cNvSpPr/>
            <p:nvPr/>
          </p:nvSpPr>
          <p:spPr>
            <a:xfrm>
              <a:off x="733894" y="237724"/>
              <a:ext cx="191769" cy="210184"/>
            </a:xfrm>
            <a:custGeom>
              <a:rect b="b" l="l" r="r" t="t"/>
              <a:pathLst>
                <a:path extrusionOk="0" h="210184" w="191769">
                  <a:moveTo>
                    <a:pt x="191477" y="208711"/>
                  </a:moveTo>
                  <a:lnTo>
                    <a:pt x="191312" y="207759"/>
                  </a:lnTo>
                  <a:lnTo>
                    <a:pt x="191262" y="207454"/>
                  </a:lnTo>
                  <a:lnTo>
                    <a:pt x="191147" y="206794"/>
                  </a:lnTo>
                  <a:lnTo>
                    <a:pt x="167119" y="139992"/>
                  </a:lnTo>
                  <a:lnTo>
                    <a:pt x="164579" y="132956"/>
                  </a:lnTo>
                  <a:lnTo>
                    <a:pt x="128231" y="31915"/>
                  </a:lnTo>
                  <a:lnTo>
                    <a:pt x="118249" y="4191"/>
                  </a:lnTo>
                  <a:lnTo>
                    <a:pt x="118249" y="109347"/>
                  </a:lnTo>
                  <a:lnTo>
                    <a:pt x="106553" y="112496"/>
                  </a:lnTo>
                  <a:lnTo>
                    <a:pt x="66916" y="129882"/>
                  </a:lnTo>
                  <a:lnTo>
                    <a:pt x="62458" y="132575"/>
                  </a:lnTo>
                  <a:lnTo>
                    <a:pt x="61861" y="132943"/>
                  </a:lnTo>
                  <a:lnTo>
                    <a:pt x="65735" y="119672"/>
                  </a:lnTo>
                  <a:lnTo>
                    <a:pt x="73342" y="96723"/>
                  </a:lnTo>
                  <a:lnTo>
                    <a:pt x="81140" y="72923"/>
                  </a:lnTo>
                  <a:lnTo>
                    <a:pt x="88087" y="50571"/>
                  </a:lnTo>
                  <a:lnTo>
                    <a:pt x="93179" y="31915"/>
                  </a:lnTo>
                  <a:lnTo>
                    <a:pt x="93497" y="31915"/>
                  </a:lnTo>
                  <a:lnTo>
                    <a:pt x="98628" y="48869"/>
                  </a:lnTo>
                  <a:lnTo>
                    <a:pt x="105117" y="69202"/>
                  </a:lnTo>
                  <a:lnTo>
                    <a:pt x="118249" y="109347"/>
                  </a:lnTo>
                  <a:lnTo>
                    <a:pt x="118249" y="4191"/>
                  </a:lnTo>
                  <a:lnTo>
                    <a:pt x="117551" y="2247"/>
                  </a:lnTo>
                  <a:lnTo>
                    <a:pt x="117436" y="1930"/>
                  </a:lnTo>
                  <a:lnTo>
                    <a:pt x="117246" y="965"/>
                  </a:lnTo>
                  <a:lnTo>
                    <a:pt x="117119" y="330"/>
                  </a:lnTo>
                  <a:lnTo>
                    <a:pt x="116801" y="12"/>
                  </a:lnTo>
                  <a:lnTo>
                    <a:pt x="69570" y="0"/>
                  </a:lnTo>
                  <a:lnTo>
                    <a:pt x="68935" y="965"/>
                  </a:lnTo>
                  <a:lnTo>
                    <a:pt x="68935" y="2247"/>
                  </a:lnTo>
                  <a:lnTo>
                    <a:pt x="68300" y="13093"/>
                  </a:lnTo>
                  <a:lnTo>
                    <a:pt x="67335" y="16281"/>
                  </a:lnTo>
                  <a:lnTo>
                    <a:pt x="66052" y="19481"/>
                  </a:lnTo>
                  <a:lnTo>
                    <a:pt x="317" y="206476"/>
                  </a:lnTo>
                  <a:lnTo>
                    <a:pt x="0" y="208711"/>
                  </a:lnTo>
                  <a:lnTo>
                    <a:pt x="381" y="209296"/>
                  </a:lnTo>
                  <a:lnTo>
                    <a:pt x="647" y="209677"/>
                  </a:lnTo>
                  <a:lnTo>
                    <a:pt x="36233" y="209677"/>
                  </a:lnTo>
                  <a:lnTo>
                    <a:pt x="37185" y="209080"/>
                  </a:lnTo>
                  <a:lnTo>
                    <a:pt x="37706" y="207759"/>
                  </a:lnTo>
                  <a:lnTo>
                    <a:pt x="37820" y="207454"/>
                  </a:lnTo>
                  <a:lnTo>
                    <a:pt x="69138" y="166624"/>
                  </a:lnTo>
                  <a:lnTo>
                    <a:pt x="106654" y="146151"/>
                  </a:lnTo>
                  <a:lnTo>
                    <a:pt x="127546" y="139992"/>
                  </a:lnTo>
                  <a:lnTo>
                    <a:pt x="131800" y="154457"/>
                  </a:lnTo>
                  <a:lnTo>
                    <a:pt x="150202" y="207454"/>
                  </a:lnTo>
                  <a:lnTo>
                    <a:pt x="151904" y="209677"/>
                  </a:lnTo>
                  <a:lnTo>
                    <a:pt x="191147" y="209677"/>
                  </a:lnTo>
                  <a:lnTo>
                    <a:pt x="191350" y="209080"/>
                  </a:lnTo>
                  <a:lnTo>
                    <a:pt x="191477" y="208711"/>
                  </a:lnTo>
                  <a:close/>
                </a:path>
              </a:pathLst>
            </a:custGeom>
            <a:solidFill>
              <a:srgbClr val="0000C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" name="Google Shape;1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656054" y="219784"/>
              <a:ext cx="163189" cy="2308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8712715" y="53083"/>
            <a:ext cx="350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775" lIns="41575" spcFirstLastPara="1" rIns="41575" wrap="square" tIns="207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roxima Nova"/>
              <a:buNone/>
              <a:defRPr b="0" i="0" sz="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type="title"/>
          </p:nvPr>
        </p:nvSpPr>
        <p:spPr>
          <a:xfrm>
            <a:off x="333799" y="560450"/>
            <a:ext cx="46542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775" lIns="41575" spcFirstLastPara="1" rIns="41575" wrap="square" tIns="207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31FF"/>
              </a:buClr>
              <a:buSzPts val="3000"/>
              <a:buFont typeface="Space Grotesk Medium"/>
              <a:buChar char="●"/>
              <a:defRPr b="0" i="0" sz="3000" u="none" cap="none" strike="noStrike">
                <a:solidFill>
                  <a:srgbClr val="0231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9pPr>
          </a:lstStyle>
          <a:p/>
        </p:txBody>
      </p:sp>
      <p:sp>
        <p:nvSpPr>
          <p:cNvPr id="21" name="Google Shape;21;p3"/>
          <p:cNvSpPr txBox="1"/>
          <p:nvPr/>
        </p:nvSpPr>
        <p:spPr>
          <a:xfrm>
            <a:off x="3734942" y="85668"/>
            <a:ext cx="1450500" cy="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roxima Nova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Articul8 Confidential - Shared under NDA</a:t>
            </a:r>
            <a:endParaRPr b="0" i="0" sz="6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299028" y="523688"/>
            <a:ext cx="49242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31FF"/>
              </a:buClr>
              <a:buSzPts val="3100"/>
              <a:buFont typeface="Space Grotesk Medium"/>
              <a:buNone/>
              <a:defRPr b="0" i="0" sz="3100" u="none" cap="none" strike="noStrike">
                <a:solidFill>
                  <a:srgbClr val="0231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328020" y="1699862"/>
            <a:ext cx="54249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9400" lvl="0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rgbClr val="757575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79400" lvl="5" marL="27432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79400" lvl="6" marL="3200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79400" lvl="7" marL="3657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79400" lvl="8" marL="41148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028986" y="4767340"/>
            <a:ext cx="30861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628903" y="4767340"/>
            <a:ext cx="20571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457986" y="4767340"/>
            <a:ext cx="20571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5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idx="11" type="ftr"/>
          </p:nvPr>
        </p:nvSpPr>
        <p:spPr>
          <a:xfrm>
            <a:off x="3920490" y="4981229"/>
            <a:ext cx="1295700" cy="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  <a:defRPr b="0" i="0" sz="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820626" y="4937736"/>
            <a:ext cx="195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635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333913" y="288259"/>
            <a:ext cx="2712428" cy="0"/>
          </a:xfrm>
          <a:custGeom>
            <a:rect b="b" l="l" r="r" t="t"/>
            <a:pathLst>
              <a:path extrusionOk="0" h="120000" w="5961380">
                <a:moveTo>
                  <a:pt x="0" y="0"/>
                </a:moveTo>
                <a:lnTo>
                  <a:pt x="596076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8"/>
          <p:cNvSpPr/>
          <p:nvPr/>
        </p:nvSpPr>
        <p:spPr>
          <a:xfrm>
            <a:off x="3740711" y="288259"/>
            <a:ext cx="5405498" cy="0"/>
          </a:xfrm>
          <a:custGeom>
            <a:rect b="b" l="l" r="r" t="t"/>
            <a:pathLst>
              <a:path extrusionOk="0" h="120000" w="11880215">
                <a:moveTo>
                  <a:pt x="0" y="0"/>
                </a:moveTo>
                <a:lnTo>
                  <a:pt x="11879732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" name="Google Shape;37;p8"/>
          <p:cNvGrpSpPr/>
          <p:nvPr/>
        </p:nvGrpSpPr>
        <p:grpSpPr>
          <a:xfrm>
            <a:off x="333775" y="99958"/>
            <a:ext cx="493617" cy="105010"/>
            <a:chOff x="733894" y="219784"/>
            <a:chExt cx="1085349" cy="230893"/>
          </a:xfrm>
        </p:grpSpPr>
        <p:pic>
          <p:nvPicPr>
            <p:cNvPr id="38" name="Google Shape;38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061937" y="243153"/>
              <a:ext cx="94457" cy="2074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" name="Google Shape;39;p8"/>
            <p:cNvSpPr/>
            <p:nvPr/>
          </p:nvSpPr>
          <p:spPr>
            <a:xfrm>
              <a:off x="1180962" y="224642"/>
              <a:ext cx="43815" cy="222884"/>
            </a:xfrm>
            <a:custGeom>
              <a:rect b="b" l="l" r="r" t="t"/>
              <a:pathLst>
                <a:path extrusionOk="0" h="222884" w="43815">
                  <a:moveTo>
                    <a:pt x="40522" y="65422"/>
                  </a:moveTo>
                  <a:lnTo>
                    <a:pt x="3193" y="65422"/>
                  </a:lnTo>
                  <a:lnTo>
                    <a:pt x="2230" y="66060"/>
                  </a:lnTo>
                  <a:lnTo>
                    <a:pt x="2230" y="221783"/>
                  </a:lnTo>
                  <a:lnTo>
                    <a:pt x="3193" y="222747"/>
                  </a:lnTo>
                  <a:lnTo>
                    <a:pt x="40522" y="222747"/>
                  </a:lnTo>
                  <a:lnTo>
                    <a:pt x="41161" y="222108"/>
                  </a:lnTo>
                  <a:lnTo>
                    <a:pt x="41161" y="65736"/>
                  </a:lnTo>
                  <a:lnTo>
                    <a:pt x="40522" y="65422"/>
                  </a:lnTo>
                  <a:close/>
                </a:path>
                <a:path extrusionOk="0" h="222884" w="43815">
                  <a:moveTo>
                    <a:pt x="22009" y="0"/>
                  </a:moveTo>
                  <a:lnTo>
                    <a:pt x="12938" y="1645"/>
                  </a:lnTo>
                  <a:lnTo>
                    <a:pt x="13119" y="1645"/>
                  </a:lnTo>
                  <a:lnTo>
                    <a:pt x="6142" y="6223"/>
                  </a:lnTo>
                  <a:lnTo>
                    <a:pt x="1645" y="13057"/>
                  </a:lnTo>
                  <a:lnTo>
                    <a:pt x="0" y="22020"/>
                  </a:lnTo>
                  <a:lnTo>
                    <a:pt x="1550" y="30978"/>
                  </a:lnTo>
                  <a:lnTo>
                    <a:pt x="5943" y="37934"/>
                  </a:lnTo>
                  <a:lnTo>
                    <a:pt x="12788" y="42438"/>
                  </a:lnTo>
                  <a:lnTo>
                    <a:pt x="21695" y="44040"/>
                  </a:lnTo>
                  <a:lnTo>
                    <a:pt x="30790" y="42438"/>
                  </a:lnTo>
                  <a:lnTo>
                    <a:pt x="37731" y="37934"/>
                  </a:lnTo>
                  <a:lnTo>
                    <a:pt x="42160" y="30978"/>
                  </a:lnTo>
                  <a:lnTo>
                    <a:pt x="43715" y="22020"/>
                  </a:lnTo>
                  <a:lnTo>
                    <a:pt x="42254" y="13194"/>
                  </a:lnTo>
                  <a:lnTo>
                    <a:pt x="38010" y="6223"/>
                  </a:lnTo>
                  <a:lnTo>
                    <a:pt x="31192" y="1645"/>
                  </a:lnTo>
                  <a:lnTo>
                    <a:pt x="22009" y="0"/>
                  </a:lnTo>
                  <a:close/>
                </a:path>
              </a:pathLst>
            </a:custGeom>
            <a:solidFill>
              <a:srgbClr val="0000C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0" name="Google Shape;40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52437" y="286869"/>
              <a:ext cx="119347" cy="163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99864" y="290065"/>
              <a:ext cx="135618" cy="1605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8"/>
            <p:cNvSpPr/>
            <p:nvPr/>
          </p:nvSpPr>
          <p:spPr>
            <a:xfrm>
              <a:off x="733894" y="220173"/>
              <a:ext cx="897255" cy="230504"/>
            </a:xfrm>
            <a:custGeom>
              <a:rect b="b" l="l" r="r" t="t"/>
              <a:pathLst>
                <a:path extrusionOk="0" h="230504" w="897255">
                  <a:moveTo>
                    <a:pt x="191477" y="226263"/>
                  </a:moveTo>
                  <a:lnTo>
                    <a:pt x="191312" y="225310"/>
                  </a:lnTo>
                  <a:lnTo>
                    <a:pt x="191262" y="225005"/>
                  </a:lnTo>
                  <a:lnTo>
                    <a:pt x="191147" y="224345"/>
                  </a:lnTo>
                  <a:lnTo>
                    <a:pt x="167119" y="157543"/>
                  </a:lnTo>
                  <a:lnTo>
                    <a:pt x="164579" y="150495"/>
                  </a:lnTo>
                  <a:lnTo>
                    <a:pt x="128231" y="49466"/>
                  </a:lnTo>
                  <a:lnTo>
                    <a:pt x="118249" y="21742"/>
                  </a:lnTo>
                  <a:lnTo>
                    <a:pt x="118249" y="126898"/>
                  </a:lnTo>
                  <a:lnTo>
                    <a:pt x="106553" y="130048"/>
                  </a:lnTo>
                  <a:lnTo>
                    <a:pt x="66916" y="147434"/>
                  </a:lnTo>
                  <a:lnTo>
                    <a:pt x="61849" y="150495"/>
                  </a:lnTo>
                  <a:lnTo>
                    <a:pt x="65735" y="137223"/>
                  </a:lnTo>
                  <a:lnTo>
                    <a:pt x="73342" y="114274"/>
                  </a:lnTo>
                  <a:lnTo>
                    <a:pt x="81140" y="90474"/>
                  </a:lnTo>
                  <a:lnTo>
                    <a:pt x="88087" y="68122"/>
                  </a:lnTo>
                  <a:lnTo>
                    <a:pt x="93179" y="49466"/>
                  </a:lnTo>
                  <a:lnTo>
                    <a:pt x="93497" y="49466"/>
                  </a:lnTo>
                  <a:lnTo>
                    <a:pt x="98628" y="66421"/>
                  </a:lnTo>
                  <a:lnTo>
                    <a:pt x="105130" y="86753"/>
                  </a:lnTo>
                  <a:lnTo>
                    <a:pt x="118249" y="126898"/>
                  </a:lnTo>
                  <a:lnTo>
                    <a:pt x="118249" y="21742"/>
                  </a:lnTo>
                  <a:lnTo>
                    <a:pt x="117551" y="19799"/>
                  </a:lnTo>
                  <a:lnTo>
                    <a:pt x="117436" y="19481"/>
                  </a:lnTo>
                  <a:lnTo>
                    <a:pt x="117246" y="18516"/>
                  </a:lnTo>
                  <a:lnTo>
                    <a:pt x="117119" y="17881"/>
                  </a:lnTo>
                  <a:lnTo>
                    <a:pt x="116801" y="17564"/>
                  </a:lnTo>
                  <a:lnTo>
                    <a:pt x="69570" y="17564"/>
                  </a:lnTo>
                  <a:lnTo>
                    <a:pt x="68935" y="18516"/>
                  </a:lnTo>
                  <a:lnTo>
                    <a:pt x="68935" y="19799"/>
                  </a:lnTo>
                  <a:lnTo>
                    <a:pt x="68300" y="30645"/>
                  </a:lnTo>
                  <a:lnTo>
                    <a:pt x="67335" y="33832"/>
                  </a:lnTo>
                  <a:lnTo>
                    <a:pt x="66052" y="37033"/>
                  </a:lnTo>
                  <a:lnTo>
                    <a:pt x="317" y="224028"/>
                  </a:lnTo>
                  <a:lnTo>
                    <a:pt x="0" y="226263"/>
                  </a:lnTo>
                  <a:lnTo>
                    <a:pt x="647" y="227215"/>
                  </a:lnTo>
                  <a:lnTo>
                    <a:pt x="36245" y="227215"/>
                  </a:lnTo>
                  <a:lnTo>
                    <a:pt x="37185" y="226618"/>
                  </a:lnTo>
                  <a:lnTo>
                    <a:pt x="37706" y="225310"/>
                  </a:lnTo>
                  <a:lnTo>
                    <a:pt x="37820" y="225005"/>
                  </a:lnTo>
                  <a:lnTo>
                    <a:pt x="48806" y="207010"/>
                  </a:lnTo>
                  <a:lnTo>
                    <a:pt x="83070" y="174955"/>
                  </a:lnTo>
                  <a:lnTo>
                    <a:pt x="127546" y="157543"/>
                  </a:lnTo>
                  <a:lnTo>
                    <a:pt x="131800" y="172008"/>
                  </a:lnTo>
                  <a:lnTo>
                    <a:pt x="150202" y="225005"/>
                  </a:lnTo>
                  <a:lnTo>
                    <a:pt x="150304" y="225310"/>
                  </a:lnTo>
                  <a:lnTo>
                    <a:pt x="150774" y="226263"/>
                  </a:lnTo>
                  <a:lnTo>
                    <a:pt x="151003" y="226618"/>
                  </a:lnTo>
                  <a:lnTo>
                    <a:pt x="151904" y="227215"/>
                  </a:lnTo>
                  <a:lnTo>
                    <a:pt x="191147" y="227215"/>
                  </a:lnTo>
                  <a:lnTo>
                    <a:pt x="191350" y="226618"/>
                  </a:lnTo>
                  <a:lnTo>
                    <a:pt x="191477" y="226263"/>
                  </a:lnTo>
                  <a:close/>
                </a:path>
                <a:path extrusionOk="0" h="230504" w="897255">
                  <a:moveTo>
                    <a:pt x="897001" y="198818"/>
                  </a:moveTo>
                  <a:lnTo>
                    <a:pt x="896683" y="198183"/>
                  </a:lnTo>
                  <a:lnTo>
                    <a:pt x="895718" y="198501"/>
                  </a:lnTo>
                  <a:lnTo>
                    <a:pt x="892848" y="198818"/>
                  </a:lnTo>
                  <a:lnTo>
                    <a:pt x="882002" y="198818"/>
                  </a:lnTo>
                  <a:lnTo>
                    <a:pt x="878484" y="195618"/>
                  </a:lnTo>
                  <a:lnTo>
                    <a:pt x="878484" y="965"/>
                  </a:lnTo>
                  <a:lnTo>
                    <a:pt x="877531" y="0"/>
                  </a:lnTo>
                  <a:lnTo>
                    <a:pt x="840841" y="0"/>
                  </a:lnTo>
                  <a:lnTo>
                    <a:pt x="839876" y="965"/>
                  </a:lnTo>
                  <a:lnTo>
                    <a:pt x="839876" y="2565"/>
                  </a:lnTo>
                  <a:lnTo>
                    <a:pt x="839876" y="189242"/>
                  </a:lnTo>
                  <a:lnTo>
                    <a:pt x="842784" y="209816"/>
                  </a:lnTo>
                  <a:lnTo>
                    <a:pt x="850722" y="222389"/>
                  </a:lnTo>
                  <a:lnTo>
                    <a:pt x="862495" y="228688"/>
                  </a:lnTo>
                  <a:lnTo>
                    <a:pt x="876896" y="230403"/>
                  </a:lnTo>
                  <a:lnTo>
                    <a:pt x="885837" y="230403"/>
                  </a:lnTo>
                  <a:lnTo>
                    <a:pt x="891565" y="229450"/>
                  </a:lnTo>
                  <a:lnTo>
                    <a:pt x="895083" y="227850"/>
                  </a:lnTo>
                  <a:lnTo>
                    <a:pt x="897001" y="226580"/>
                  </a:lnTo>
                  <a:lnTo>
                    <a:pt x="897001" y="198818"/>
                  </a:lnTo>
                  <a:close/>
                </a:path>
              </a:pathLst>
            </a:custGeom>
            <a:solidFill>
              <a:srgbClr val="0000C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3" name="Google Shape;43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48228" y="288301"/>
              <a:ext cx="90635" cy="1590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" name="Google Shape;44;p8"/>
            <p:cNvSpPr/>
            <p:nvPr/>
          </p:nvSpPr>
          <p:spPr>
            <a:xfrm>
              <a:off x="733894" y="237724"/>
              <a:ext cx="191769" cy="210184"/>
            </a:xfrm>
            <a:custGeom>
              <a:rect b="b" l="l" r="r" t="t"/>
              <a:pathLst>
                <a:path extrusionOk="0" h="210184" w="191769">
                  <a:moveTo>
                    <a:pt x="191477" y="208711"/>
                  </a:moveTo>
                  <a:lnTo>
                    <a:pt x="191312" y="207759"/>
                  </a:lnTo>
                  <a:lnTo>
                    <a:pt x="191262" y="207454"/>
                  </a:lnTo>
                  <a:lnTo>
                    <a:pt x="191147" y="206794"/>
                  </a:lnTo>
                  <a:lnTo>
                    <a:pt x="167119" y="139992"/>
                  </a:lnTo>
                  <a:lnTo>
                    <a:pt x="164579" y="132956"/>
                  </a:lnTo>
                  <a:lnTo>
                    <a:pt x="128231" y="31915"/>
                  </a:lnTo>
                  <a:lnTo>
                    <a:pt x="118249" y="4191"/>
                  </a:lnTo>
                  <a:lnTo>
                    <a:pt x="118249" y="109347"/>
                  </a:lnTo>
                  <a:lnTo>
                    <a:pt x="106553" y="112496"/>
                  </a:lnTo>
                  <a:lnTo>
                    <a:pt x="66916" y="129882"/>
                  </a:lnTo>
                  <a:lnTo>
                    <a:pt x="62458" y="132575"/>
                  </a:lnTo>
                  <a:lnTo>
                    <a:pt x="61861" y="132943"/>
                  </a:lnTo>
                  <a:lnTo>
                    <a:pt x="65735" y="119672"/>
                  </a:lnTo>
                  <a:lnTo>
                    <a:pt x="73342" y="96723"/>
                  </a:lnTo>
                  <a:lnTo>
                    <a:pt x="81140" y="72923"/>
                  </a:lnTo>
                  <a:lnTo>
                    <a:pt x="88087" y="50571"/>
                  </a:lnTo>
                  <a:lnTo>
                    <a:pt x="93179" y="31915"/>
                  </a:lnTo>
                  <a:lnTo>
                    <a:pt x="93497" y="31915"/>
                  </a:lnTo>
                  <a:lnTo>
                    <a:pt x="98628" y="48869"/>
                  </a:lnTo>
                  <a:lnTo>
                    <a:pt x="105117" y="69202"/>
                  </a:lnTo>
                  <a:lnTo>
                    <a:pt x="118249" y="109347"/>
                  </a:lnTo>
                  <a:lnTo>
                    <a:pt x="118249" y="4191"/>
                  </a:lnTo>
                  <a:lnTo>
                    <a:pt x="117551" y="2247"/>
                  </a:lnTo>
                  <a:lnTo>
                    <a:pt x="117436" y="1930"/>
                  </a:lnTo>
                  <a:lnTo>
                    <a:pt x="117246" y="965"/>
                  </a:lnTo>
                  <a:lnTo>
                    <a:pt x="117119" y="330"/>
                  </a:lnTo>
                  <a:lnTo>
                    <a:pt x="116801" y="12"/>
                  </a:lnTo>
                  <a:lnTo>
                    <a:pt x="69570" y="0"/>
                  </a:lnTo>
                  <a:lnTo>
                    <a:pt x="68935" y="965"/>
                  </a:lnTo>
                  <a:lnTo>
                    <a:pt x="68935" y="2247"/>
                  </a:lnTo>
                  <a:lnTo>
                    <a:pt x="68300" y="13093"/>
                  </a:lnTo>
                  <a:lnTo>
                    <a:pt x="67335" y="16281"/>
                  </a:lnTo>
                  <a:lnTo>
                    <a:pt x="66052" y="19481"/>
                  </a:lnTo>
                  <a:lnTo>
                    <a:pt x="317" y="206476"/>
                  </a:lnTo>
                  <a:lnTo>
                    <a:pt x="0" y="208711"/>
                  </a:lnTo>
                  <a:lnTo>
                    <a:pt x="381" y="209296"/>
                  </a:lnTo>
                  <a:lnTo>
                    <a:pt x="647" y="209677"/>
                  </a:lnTo>
                  <a:lnTo>
                    <a:pt x="36233" y="209677"/>
                  </a:lnTo>
                  <a:lnTo>
                    <a:pt x="37185" y="209080"/>
                  </a:lnTo>
                  <a:lnTo>
                    <a:pt x="37706" y="207759"/>
                  </a:lnTo>
                  <a:lnTo>
                    <a:pt x="37820" y="207454"/>
                  </a:lnTo>
                  <a:lnTo>
                    <a:pt x="69138" y="166624"/>
                  </a:lnTo>
                  <a:lnTo>
                    <a:pt x="106654" y="146151"/>
                  </a:lnTo>
                  <a:lnTo>
                    <a:pt x="127546" y="139992"/>
                  </a:lnTo>
                  <a:lnTo>
                    <a:pt x="131800" y="154457"/>
                  </a:lnTo>
                  <a:lnTo>
                    <a:pt x="150202" y="207454"/>
                  </a:lnTo>
                  <a:lnTo>
                    <a:pt x="151904" y="209677"/>
                  </a:lnTo>
                  <a:lnTo>
                    <a:pt x="191147" y="209677"/>
                  </a:lnTo>
                  <a:lnTo>
                    <a:pt x="191350" y="209080"/>
                  </a:lnTo>
                  <a:lnTo>
                    <a:pt x="191477" y="208711"/>
                  </a:lnTo>
                  <a:close/>
                </a:path>
              </a:pathLst>
            </a:custGeom>
            <a:solidFill>
              <a:srgbClr val="0000C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Calibri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5" name="Google Shape;45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656054" y="219784"/>
              <a:ext cx="163189" cy="2308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712715" y="53083"/>
            <a:ext cx="350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775" lIns="41575" spcFirstLastPara="1" rIns="41575" wrap="square" tIns="207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roxima Nova"/>
              <a:buNone/>
              <a:defRPr b="0" i="0" sz="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type="title"/>
          </p:nvPr>
        </p:nvSpPr>
        <p:spPr>
          <a:xfrm>
            <a:off x="333799" y="560450"/>
            <a:ext cx="46542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775" lIns="41575" spcFirstLastPara="1" rIns="41575" wrap="square" tIns="207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31FF"/>
              </a:buClr>
              <a:buSzPts val="3000"/>
              <a:buFont typeface="Space Grotesk Medium"/>
              <a:buChar char="●"/>
              <a:defRPr b="0" i="0" sz="3000" u="none" cap="none" strike="noStrike">
                <a:solidFill>
                  <a:srgbClr val="0231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600"/>
            </a:lvl9pPr>
          </a:lstStyle>
          <a:p/>
        </p:txBody>
      </p:sp>
      <p:sp>
        <p:nvSpPr>
          <p:cNvPr id="48" name="Google Shape;48;p8"/>
          <p:cNvSpPr txBox="1"/>
          <p:nvPr/>
        </p:nvSpPr>
        <p:spPr>
          <a:xfrm>
            <a:off x="3734942" y="85668"/>
            <a:ext cx="1450500" cy="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Proxima Nova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Articul8 Confidential - Shared under NDA</a:t>
            </a:r>
            <a:endParaRPr b="0" i="0" sz="6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 type="obj">
  <p:cSld name="OBJEC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299028" y="523688"/>
            <a:ext cx="49242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31FF"/>
              </a:buClr>
              <a:buSzPts val="3100"/>
              <a:buFont typeface="Space Grotesk Medium"/>
              <a:buNone/>
              <a:defRPr b="0" i="0" sz="3100" u="none" cap="none" strike="noStrike">
                <a:solidFill>
                  <a:srgbClr val="0231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  <a:defRPr sz="1800"/>
            </a:lvl9pPr>
          </a:lstStyle>
          <a:p/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3328020" y="1699862"/>
            <a:ext cx="54249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9400" lvl="0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rgbClr val="757575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794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79400" lvl="2" marL="1371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79400" lvl="3" marL="18288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79400" lvl="4" marL="22860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79400" lvl="5" marL="27432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79400" lvl="6" marL="3200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79400" lvl="7" marL="3657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79400" lvl="8" marL="41148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86" y="4767340"/>
            <a:ext cx="30861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0" type="dt"/>
          </p:nvPr>
        </p:nvSpPr>
        <p:spPr>
          <a:xfrm>
            <a:off x="628903" y="4767340"/>
            <a:ext cx="20571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6457986" y="4767340"/>
            <a:ext cx="20571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5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3920490" y="4981229"/>
            <a:ext cx="1295700" cy="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  <a:defRPr b="0" i="0" sz="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820626" y="4937736"/>
            <a:ext cx="195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63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Verdana"/>
              <a:buNone/>
              <a:defRPr b="0" i="0" sz="7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635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google.com/presentation/d/1lwEggC_Hl1_qnYruNpF-ZiZpuSWFBNacx6QZydfnOJM/edi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google.com/presentation/d/1lwEggC_Hl1_qnYruNpF-ZiZpuSWFBNacx6QZydfnOJM/edit" TargetMode="External"/><Relationship Id="rId4" Type="http://schemas.openxmlformats.org/officeDocument/2006/relationships/hyperlink" Target="https://docs.google.com/presentation/d/1lwEggC_Hl1_qnYruNpF-ZiZpuSWFBNacx6QZydfnOJM/edit" TargetMode="External"/><Relationship Id="rId5" Type="http://schemas.openxmlformats.org/officeDocument/2006/relationships/hyperlink" Target="https://docs.google.com/presentation/d/1lwEggC_Hl1_qnYruNpF-ZiZpuSWFBNacx6QZydfnOJM/edit" TargetMode="External"/><Relationship Id="rId6" Type="http://schemas.openxmlformats.org/officeDocument/2006/relationships/hyperlink" Target="https://docs.google.com/presentation/d/1lwEggC_Hl1_qnYruNpF-ZiZpuSWFBNacx6QZydfnOJM/edit" TargetMode="External"/><Relationship Id="rId7" Type="http://schemas.openxmlformats.org/officeDocument/2006/relationships/hyperlink" Target="https://docs.google.com/presentation/d/1lwEggC_Hl1_qnYruNpF-ZiZpuSWFBNacx6QZydfnOJM/edit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0A1F44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1"/>
          <p:cNvSpPr/>
          <p:nvPr/>
        </p:nvSpPr>
        <p:spPr>
          <a:xfrm>
            <a:off x="0" y="0"/>
            <a:ext cx="9143700" cy="5143500"/>
          </a:xfrm>
          <a:prstGeom prst="rect">
            <a:avLst/>
          </a:prstGeom>
          <a:solidFill>
            <a:srgbClr val="0A1F44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1"/>
          <p:cNvSpPr/>
          <p:nvPr/>
        </p:nvSpPr>
        <p:spPr>
          <a:xfrm>
            <a:off x="4857521" y="-1071905"/>
            <a:ext cx="6072000" cy="6072000"/>
          </a:xfrm>
          <a:prstGeom prst="ellipse">
            <a:avLst/>
          </a:prstGeom>
          <a:solidFill>
            <a:srgbClr val="1E3A6F">
              <a:alpha val="4000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1"/>
          <p:cNvSpPr/>
          <p:nvPr/>
        </p:nvSpPr>
        <p:spPr>
          <a:xfrm>
            <a:off x="7501280" y="2857729"/>
            <a:ext cx="3215100" cy="3215100"/>
          </a:xfrm>
          <a:prstGeom prst="ellipse">
            <a:avLst/>
          </a:prstGeom>
          <a:solidFill>
            <a:srgbClr val="F5A623">
              <a:alpha val="2000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en-dedup-27e0ca3fe75f859297eb49bd49ce1cf3.png" id="68" name="Google Shape;68;p11"/>
          <p:cNvPicPr preferRelativeResize="0"/>
          <p:nvPr/>
        </p:nvPicPr>
        <p:blipFill rotWithShape="1">
          <a:blip r:embed="rId3">
            <a:alphaModFix/>
          </a:blip>
          <a:srcRect b="-393" l="0" r="0" t="-403"/>
          <a:stretch/>
        </p:blipFill>
        <p:spPr>
          <a:xfrm>
            <a:off x="571271" y="1571854"/>
            <a:ext cx="857250" cy="4320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1"/>
          <p:cNvSpPr txBox="1"/>
          <p:nvPr/>
        </p:nvSpPr>
        <p:spPr>
          <a:xfrm>
            <a:off x="571271" y="1785824"/>
            <a:ext cx="80013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KR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Articul8 Enterprise Full-Stack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 KR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GenAI Platform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1"/>
          <p:cNvSpPr txBox="1"/>
          <p:nvPr/>
        </p:nvSpPr>
        <p:spPr>
          <a:xfrm>
            <a:off x="571271" y="2929052"/>
            <a:ext cx="8001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400"/>
              </a:buClr>
              <a:buSzPts val="1600"/>
              <a:buFont typeface="Noto Sans KR"/>
              <a:buNone/>
            </a:pPr>
            <a:r>
              <a:rPr lang="en-US" sz="1600">
                <a:solidFill>
                  <a:srgbClr val="FFD400"/>
                </a:solidFill>
                <a:latin typeface="Noto Sans KR"/>
                <a:ea typeface="Noto Sans KR"/>
                <a:cs typeface="Noto Sans KR"/>
                <a:sym typeface="Noto Sans KR"/>
              </a:rPr>
              <a:t>한화 Q&amp;A 기술자료집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1"/>
          <p:cNvSpPr txBox="1"/>
          <p:nvPr/>
        </p:nvSpPr>
        <p:spPr>
          <a:xfrm>
            <a:off x="571271" y="3714979"/>
            <a:ext cx="428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제안:</a:t>
            </a:r>
            <a:r>
              <a:rPr b="0" i="0" lang="en-US" sz="9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MegazoneCloud × Articul8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11" title="MZC_슬로건_가로_화이트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7363" y="226087"/>
            <a:ext cx="1025705" cy="28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/>
          <p:nvPr/>
        </p:nvSpPr>
        <p:spPr>
          <a:xfrm>
            <a:off x="365760" y="228600"/>
            <a:ext cx="2011680" cy="256032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2"/>
          <p:cNvSpPr/>
          <p:nvPr/>
        </p:nvSpPr>
        <p:spPr>
          <a:xfrm>
            <a:off x="365760" y="22860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· </a:t>
            </a: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가격정책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365760" y="4853354"/>
            <a:ext cx="8357616" cy="78581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365760" y="228600"/>
            <a:ext cx="2011680" cy="256032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365760" y="22860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</a:t>
            </a: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사용사례 분석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42667" y="569955"/>
            <a:ext cx="11603400" cy="5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231FF"/>
                </a:solidFill>
                <a:latin typeface="Verdana"/>
                <a:ea typeface="Verdana"/>
                <a:cs typeface="Verdana"/>
                <a:sym typeface="Verdana"/>
              </a:rPr>
              <a:t>사례 분석</a:t>
            </a:r>
            <a:r>
              <a:rPr b="1" lang="en-US" sz="2000">
                <a:solidFill>
                  <a:srgbClr val="0231FF"/>
                </a:solidFill>
                <a:latin typeface="Verdana"/>
                <a:ea typeface="Verdana"/>
                <a:cs typeface="Verdana"/>
                <a:sym typeface="Verdana"/>
              </a:rPr>
              <a:t> : 디지털 트윈 (전기 + 기계 + 네트워크</a:t>
            </a:r>
            <a:r>
              <a:rPr b="1" lang="en-US" sz="2000">
                <a:solidFill>
                  <a:srgbClr val="0231FF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 sz="4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65750" y="1126750"/>
            <a:ext cx="3865200" cy="35232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113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00C7"/>
                </a:solidFill>
                <a:latin typeface="Verdana"/>
                <a:ea typeface="Verdana"/>
                <a:cs typeface="Verdana"/>
                <a:sym typeface="Verdana"/>
              </a:rPr>
              <a:t>왜 중요한가?</a:t>
            </a:r>
            <a:endParaRPr/>
          </a:p>
          <a:p>
            <a:pPr indent="-20320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제조 시설 이기종(heterogeneous) 설비 생태계 운영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설비 고장시, 상호 연결된 시스템 전반에 거친 인터록(</a:t>
            </a: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interlocks</a:t>
            </a: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), 신호 경로 및 부하 흐름에 대한 체계적인 분석 필요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00C7"/>
                </a:solidFill>
                <a:latin typeface="Verdana"/>
                <a:ea typeface="Verdana"/>
                <a:cs typeface="Verdana"/>
                <a:sym typeface="Verdana"/>
              </a:rPr>
              <a:t>Articul8 </a:t>
            </a:r>
            <a:r>
              <a:rPr b="1" lang="en-US" sz="1300">
                <a:solidFill>
                  <a:srgbClr val="FF00C7"/>
                </a:solidFill>
                <a:latin typeface="Verdana"/>
                <a:ea typeface="Verdana"/>
                <a:cs typeface="Verdana"/>
                <a:sym typeface="Verdana"/>
              </a:rPr>
              <a:t>해결안</a:t>
            </a:r>
            <a:r>
              <a:rPr b="1" i="0" lang="en-US" sz="1300" u="none" cap="none" strike="noStrike">
                <a:solidFill>
                  <a:srgbClr val="FF00C7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b="1" i="0" sz="1300" u="none" cap="none" strike="noStrike">
              <a:solidFill>
                <a:srgbClr val="FF00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00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도메인 특화 비전 에이전트</a:t>
            </a: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전기, 기계 및 엔지니어링 도면을 처리하여 시각적 기술정보를 추출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네트워크 토폴로지 에이전트 : 구성, 라우팅 테이블, 인터페이스 맵, MIB 및 장치 핑거프린트를 분석하여 시스템 아키텍처를 매핑하고 시스템의 디지털 트윈을 생성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도메인 특화 진단 에이전트: 잘못 구성된 노트, 과부하된 피더, 공정 병목 현상 및 드라이브 고장을 식별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472550" y="1126750"/>
            <a:ext cx="4000200" cy="35232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113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00C7"/>
                </a:solidFill>
                <a:latin typeface="Verdana"/>
                <a:ea typeface="Verdana"/>
                <a:cs typeface="Verdana"/>
                <a:sym typeface="Verdana"/>
              </a:rPr>
              <a:t>Articul8의 차별점: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도면 해석, 네트워크 추론 및 시계열 분석을 통합된 추론 프레임워크 내에서 수행.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단순한 표면적 경고가 아닌 도메인 특화된 근본 원인 분석(설명)을 제공.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클라우드, 온프레미스(사내 구축), 에어갭(폐쇄망) 등 유연한 배포 옵션을 지원.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FF00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00C7"/>
                </a:solidFill>
                <a:latin typeface="Verdana"/>
                <a:ea typeface="Verdana"/>
                <a:cs typeface="Verdana"/>
                <a:sym typeface="Verdana"/>
              </a:rPr>
              <a:t>성과</a:t>
            </a:r>
            <a:r>
              <a:rPr b="1" i="0" lang="en-US" sz="1400" u="none" cap="none" strike="noStrike">
                <a:solidFill>
                  <a:srgbClr val="FF00C7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시운전 및 트러블슈팅시간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30–50% </a:t>
            </a: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단축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생산 중단 시 연쇄 장애 발생 빈도 감소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>
                <a:latin typeface="Verdana"/>
                <a:ea typeface="Verdana"/>
                <a:cs typeface="Verdana"/>
                <a:sym typeface="Verdana"/>
              </a:rPr>
              <a:t>처리량 및 에너지 효율성 향상</a:t>
            </a:r>
            <a:endParaRPr b="1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463050" y="753050"/>
            <a:ext cx="8536800" cy="39474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113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sz="1300">
              <a:solidFill>
                <a:srgbClr val="FF00C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365760" y="4853354"/>
            <a:ext cx="8357700" cy="786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</a:t>
            </a: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사용사례 분석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95248" y="858550"/>
            <a:ext cx="7707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핵심 개념: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Articul8 솔루션 전기 설비 도면 분석 디지털 트윈  핵심 기술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800100" y="1295400"/>
            <a:ext cx="75438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주요 역할과 이점은 다음과 같습니다: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도면 분석 자동화: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A8 SLD 분석기(SLD Analyzer)가 전기 단선 결선도(SLD)를 자동 인식, 엔지니어가 수동으로 도면을 해석하는 번거로운 작업을 대체합니다.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계층 구조 정립: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단순 부품 인식을 넘어, 설비 간의 연결 관계와 전력 흐름을 파악하여 시스템의 네트워크 계층 구조를 자동으로 구성합니다.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디지털 트윈 신속 생성: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수동 작업 없이 전체 시스템의 디지털 트윈을 빠르게 생성하여 시스템 아키텍처를 시각화합니다.</a:t>
            </a:r>
            <a:r>
              <a:rPr lang="en-US" sz="700">
                <a:solidFill>
                  <a:srgbClr val="1F1F1F"/>
                </a:solidFill>
                <a:highlight>
                  <a:srgbClr val="F0F4F9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진단 효율성 극대화: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시스템 내 잠재적인 결함이나 병목 구간을 빠르게 진단하여 유지보수 및 트러블슈팅 시간을 획기적으로 줄입니다.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2. 활용 가치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인터랙티브 그래프로 설비 간 연결성을 시각화하여 근본 원인을 직관적으로 분석합니다.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문제 발생 시 즉각적인 진단으로 시운전 및 트러블슈팅 시간을 30~50% 단축합니다.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생산 중단 시 연쇄 장애 위험을 줄여 시스템 운영 안정성을 확보합니다.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전체 시스템의 처리량 향상 및 최적화된 에너지 효율성을 달성할 수 있습니다.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/>
          <p:nvPr/>
        </p:nvSpPr>
        <p:spPr>
          <a:xfrm>
            <a:off x="463050" y="753050"/>
            <a:ext cx="8536800" cy="39474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113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sz="1300">
              <a:solidFill>
                <a:srgbClr val="FF00C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365760" y="4853354"/>
            <a:ext cx="8357700" cy="786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</a:t>
            </a: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사용사례 분석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95252" y="858554"/>
            <a:ext cx="4404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Articul8 도메인 특화 에이전트 상세 역할</a:t>
            </a:r>
            <a:endParaRPr b="1"/>
          </a:p>
        </p:txBody>
      </p:sp>
      <p:graphicFrame>
        <p:nvGraphicFramePr>
          <p:cNvPr id="112" name="Google Shape;112;p15"/>
          <p:cNvGraphicFramePr/>
          <p:nvPr/>
        </p:nvGraphicFramePr>
        <p:xfrm>
          <a:off x="732850" y="11278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{79CC9364-7CEE-4092-BB44-D1A95806D531}</a:tableStyleId>
              </a:tblPr>
              <a:tblGrid>
                <a:gridCol w="2447925"/>
                <a:gridCol w="2447925"/>
                <a:gridCol w="2447925"/>
              </a:tblGrid>
              <a:tr h="314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에이전트 명칭</a:t>
                      </a:r>
                      <a:endParaRPr b="0" sz="10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핵심 역할 (What it does)</a:t>
                      </a:r>
                      <a:endParaRPr b="0" sz="10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주요 분석 데이터 (Input)</a:t>
                      </a:r>
                      <a:endParaRPr b="0" sz="10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76200" marB="76200" marR="76200" marL="76200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비전 에이전트 (Vision Agent)</a:t>
                      </a:r>
                      <a:endParaRPr b="1" sz="10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시각 정보의 디지털화: </a:t>
                      </a:r>
                      <a:r>
                        <a:rPr b="0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사람이 보는 도면을 기계가 이해할 수 있는 데이터로 변환합니다.</a:t>
                      </a:r>
                      <a:endParaRPr b="1" sz="10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전기/기계/엔지니어링 도면 (PDF, 이미지 등)</a:t>
                      </a:r>
                      <a:endParaRPr b="0" sz="10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네트워크 토폴로지 에이전트 (Network Topology Agent)</a:t>
                      </a:r>
                      <a:endParaRPr b="1" sz="10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시스템 구조도 구축: </a:t>
                      </a:r>
                      <a:r>
                        <a:rPr b="0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개별 부품 간의 연결성(논리적/물리적 관계)을 파악하여 아키텍처를 매핑합니다.</a:t>
                      </a:r>
                      <a:endParaRPr b="1" sz="10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구성 정보, 라우팅 테이블, 인터페이스 맵, MIB, 장치 핑거프린트</a:t>
                      </a:r>
                      <a:endParaRPr b="0" sz="10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 진단 에이전트 (Diagnosis Agent)</a:t>
                      </a:r>
                      <a:endParaRPr b="1" sz="10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지능형 문제 해결: </a:t>
                      </a:r>
                      <a:r>
                        <a:rPr b="0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매핑된 시스템 데이터를 바탕으로 이상 징후의 근본 원인을 분석합니다.</a:t>
                      </a:r>
                      <a:endParaRPr b="1" sz="10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시스템 아키텍처(위 에이전트 결과물), 시계열 데이터, 설정값</a:t>
                      </a:r>
                      <a:endParaRPr b="0" sz="10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76200" marL="76200">
                    <a:lnL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88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3" name="Google Shape;113;p15"/>
          <p:cNvSpPr txBox="1"/>
          <p:nvPr/>
        </p:nvSpPr>
        <p:spPr>
          <a:xfrm>
            <a:off x="712650" y="3036750"/>
            <a:ext cx="7718700" cy="16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AutoNum type="arabicPeriod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[비전 에이전트]가 기초 데이터를 추출합니다.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예: "이 도면에 300개의 차단기가 있고, 각각의 명칭이 무엇이다"라는 정보를 시각적으로 파악합니다.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AutoNum type="arabicPeriod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[네트워크 토폴로지 에이전트]가 그 부품들을 연결합니다.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예: "A 차단기가 B 변압기에 연결되어 있고, 그 아래에 C 모터가 있다"는 식으로 전력 흐름(Load Flow)과 신호 경로(Signal Path)를 지도로 그립니다. 이것이 '디지털 트윈'의 뼈대가 됩니다.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AutoNum type="arabicPeriod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[진단 에이전트]가 실시간으로 감시 및 분석합니다.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예: "전체 시스템의 흐름(디지털 트윈)을 보니, 지금 C 모터에서 과부하가 발생했는데 이는 상위 B 변압기의 설정 오류 때문일 가능성이 90%이다"라는 구체적인 **근본 원인(Root Cause)**을 제시합니다.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/>
          <p:nvPr/>
        </p:nvSpPr>
        <p:spPr>
          <a:xfrm>
            <a:off x="463050" y="753050"/>
            <a:ext cx="8536800" cy="39474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113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sz="1300">
              <a:solidFill>
                <a:srgbClr val="FF00C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365760" y="4853354"/>
            <a:ext cx="8357700" cy="786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</a:t>
            </a: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사용사례 분석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3780573" y="3205883"/>
            <a:ext cx="5219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Insights, Recommendations and Dive Deep Q&amp;A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95252" y="858554"/>
            <a:ext cx="4404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핵심 개념: 지식 그래프 - 인터랙티브 네트워크 토폴로지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85100" y="1112350"/>
            <a:ext cx="7543800" cy="38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1. 주요 구현 방식 (기술적 특징)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시각적 기술 정보 추출: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도메인 특화 비전 에이전트를 통해 전기, 기계, 엔지니어링 도면에서 시각적 정보를 추출합니다.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시스템 아키텍처 매핑: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네트워크 토폴로지 에이전트가 구성 정보(라우팅 테이블, 인터페이스 맵, MIB, 장치 핑거프린트 등)를 분석하여 전체 시스템 아키텍처를 매핑하고 디지털 트윈을 생성합니다.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통합 추론 프레임워크: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도면 해석, 네트워크 추론, 시계열 분석을 단일 프레임워크 내에서 통합 수행합니다.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2. 활용 가치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직관적인 문제 해결: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표면적인 경고(Alert)만 전달하는 것이 아니라, 인터랙티브 그래프를 통해 설비 간의 인터록(interlocks), 신호 경로, 부하 흐름 등을 시각적으로 확인하며 근본 원인을 분석할 수 있습니다.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진단 효율화: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잘못 구성된 노드, 과부하된 피더, 공정 병목 현상, 드라이브 고장 등을 즉각적으로 식별하여 시운전 및 트러블슈팅 시간을 30~50% 단축합니다.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안정적인 운영: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생산 중단 시 발생할 수 있는 연쇄 장애 위험을 줄이고, 전체 처리량과 에너지 효율을 최적화하는 데 기여합니다.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3. 기술적 확장성 (온톨로지 연계)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고객의 자체 온톨로지(T-Box)와 Articul8의 플랫폼 고유 어휘를 충돌 없이 병행 사용(이중 구조 지원)할 수 있습니다.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스키마 변경 시에도 Git 스타일의 점진적 델타 매핑을 통해 시스템 부하 없이 효율적인 거버넌스 및 자산 관리가 가능합니다.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/>
          <p:nvPr/>
        </p:nvSpPr>
        <p:spPr>
          <a:xfrm>
            <a:off x="463050" y="753050"/>
            <a:ext cx="8536800" cy="39474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113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sz="1300">
              <a:solidFill>
                <a:srgbClr val="FF00C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365760" y="4853354"/>
            <a:ext cx="8357700" cy="786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</a:t>
            </a: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사용사례 분석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95248" y="858550"/>
            <a:ext cx="8027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Insights, Recommendations and Dive Deep Q&amp;A" 핵심가치:  기술적 우수성과 도입 시 고려해야 할 온톨로지 연동 및 시스템 거버넌스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959550" y="1270579"/>
            <a:ext cx="7543800" cy="3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1. 지식 그래프 - 인터랙티브 네트워크 토폴로지 (Slide 5)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기술적 통합: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도면(전기, 기계, 엔지니어링) 분석과 시스템 구성 데이터(라우팅 테이블, MIB 등)를 결합하여 전체 시스템 아키텍처를 매핑하고 디지털 트윈을 생성합니다.</a:t>
            </a:r>
            <a:r>
              <a:rPr lang="en-US" sz="700">
                <a:solidFill>
                  <a:srgbClr val="1F1F1F"/>
                </a:solidFill>
                <a:highlight>
                  <a:srgbClr val="F0F4F9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통합 추론: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도면 해석, 네트워크 추론, 시계열 분석을 하나의 프레임워크 내에서 유기적으로 수행합니다.</a:t>
            </a:r>
            <a:r>
              <a:rPr lang="en-US" sz="700">
                <a:solidFill>
                  <a:srgbClr val="1F1F1F"/>
                </a:solidFill>
                <a:highlight>
                  <a:srgbClr val="F0F4F9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활용 가치: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단순 경고 알림을 넘어, 인터랙티브 그래프를 통해 설비 간 인터록과 신호 경로를 시각적으로 확인하여 근본 원인을 분석함으로써 트러블슈팅 시간을 30~50% 단축합니다.</a:t>
            </a:r>
            <a:r>
              <a:rPr lang="en-US" sz="700">
                <a:solidFill>
                  <a:srgbClr val="1F1F1F"/>
                </a:solidFill>
                <a:highlight>
                  <a:srgbClr val="F0F4F9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2. 기술 질의응답 (Q&amp;A): 온톨로지 및 거버넌스 (Slide 12-14)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이중 구조(Dual-Vocabulary) 지원: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고객의 고유 온톨로지(T-Box)와 Articul8 플랫폼 어휘가 서로 간섭 없이 공존하며, GraphDB에 즉시 로드 가능한 표준 데이터를 출력합니다.</a:t>
            </a:r>
            <a:r>
              <a:rPr lang="en-US" sz="700">
                <a:solidFill>
                  <a:srgbClr val="1F1F1F"/>
                </a:solidFill>
                <a:highlight>
                  <a:srgbClr val="F0F4F9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온톨로지 연동: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고객의 스키마를 가이드라인으로 활용하는 '스키마 가이드 추출' 방식을 통해 고객의 도메인 지식 구조를 준수합니다.</a:t>
            </a:r>
            <a:r>
              <a:rPr lang="en-US" sz="700">
                <a:solidFill>
                  <a:srgbClr val="1F1F1F"/>
                </a:solidFill>
                <a:highlight>
                  <a:srgbClr val="F0F4F9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효율적인 거버넌스: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스키마 변경 시 전체 데이터를 재생성하지 않고, Git 스타일의 '점진적 델타 매핑'을 적용하여 시스템 부하를 최소화하고 분석 환경의 안정성을 유지합니다.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/>
          <p:nvPr/>
        </p:nvSpPr>
        <p:spPr>
          <a:xfrm>
            <a:off x="4701800" y="753050"/>
            <a:ext cx="4298100" cy="3947400"/>
          </a:xfrm>
          <a:prstGeom prst="rect">
            <a:avLst/>
          </a:prstGeom>
          <a:solidFill>
            <a:srgbClr val="9BC3FF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365760" y="4853354"/>
            <a:ext cx="8357700" cy="786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</a:t>
            </a: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사용사례 분석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4379548" y="3205883"/>
            <a:ext cx="5219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Insights, Recommendations and Dive Deep Q&amp;A</a:t>
            </a:r>
            <a:endParaRPr/>
          </a:p>
        </p:txBody>
      </p:sp>
      <p:pic>
        <p:nvPicPr>
          <p:cNvPr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6037" y="3436563"/>
            <a:ext cx="3887876" cy="11576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100"/>
              </a:srgbClr>
            </a:outerShdw>
          </a:effectLst>
        </p:spPr>
      </p:pic>
      <p:pic>
        <p:nvPicPr>
          <p:cNvPr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6025" y="1316312"/>
            <a:ext cx="3750049" cy="15844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100"/>
              </a:srgbClr>
            </a:outerShdw>
          </a:effectLst>
        </p:spPr>
      </p:pic>
      <p:sp>
        <p:nvSpPr>
          <p:cNvPr id="149" name="Google Shape;149;p18"/>
          <p:cNvSpPr txBox="1"/>
          <p:nvPr/>
        </p:nvSpPr>
        <p:spPr>
          <a:xfrm>
            <a:off x="5198084" y="858559"/>
            <a:ext cx="272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Knowledge Graph - Interactive Network Topology</a:t>
            </a:r>
            <a:endParaRPr/>
          </a:p>
        </p:txBody>
      </p:sp>
      <p:grpSp>
        <p:nvGrpSpPr>
          <p:cNvPr id="150" name="Google Shape;150;p18"/>
          <p:cNvGrpSpPr/>
          <p:nvPr/>
        </p:nvGrpSpPr>
        <p:grpSpPr>
          <a:xfrm>
            <a:off x="100851" y="780570"/>
            <a:ext cx="4514101" cy="3919753"/>
            <a:chOff x="4485874" y="1118025"/>
            <a:chExt cx="4514101" cy="3582300"/>
          </a:xfrm>
        </p:grpSpPr>
        <p:sp>
          <p:nvSpPr>
            <p:cNvPr id="151" name="Google Shape;151;p18"/>
            <p:cNvSpPr/>
            <p:nvPr/>
          </p:nvSpPr>
          <p:spPr>
            <a:xfrm>
              <a:off x="4485875" y="1118025"/>
              <a:ext cx="4514100" cy="3582300"/>
            </a:xfrm>
            <a:prstGeom prst="rect">
              <a:avLst/>
            </a:prstGeom>
            <a:solidFill>
              <a:srgbClr val="9BC3FF">
                <a:alpha val="4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52" name="Google Shape;152;p18"/>
            <p:cNvSpPr txBox="1"/>
            <p:nvPr/>
          </p:nvSpPr>
          <p:spPr>
            <a:xfrm>
              <a:off x="4485874" y="1118025"/>
              <a:ext cx="4514100" cy="3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Verdana"/>
                <a:buNone/>
              </a:pPr>
              <a:r>
                <a:rPr b="1" lang="en-US" sz="1050">
                  <a:solidFill>
                    <a:srgbClr val="1F1F1F"/>
                  </a:solidFill>
                  <a:latin typeface="Roboto"/>
                  <a:ea typeface="Roboto"/>
                  <a:cs typeface="Roboto"/>
                  <a:sym typeface="Roboto"/>
                </a:rPr>
                <a:t>A8 SLD 분석기(Signal Line Diagram Analyzer)를 통해 생성된 전기 구성 요소 및 네트워크 계층 구조의 자동 감지/라벨링</a:t>
              </a:r>
              <a:endParaRPr/>
            </a:p>
          </p:txBody>
        </p:sp>
        <p:pic>
          <p:nvPicPr>
            <p:cNvPr id="153" name="Google Shape;153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19576" y="1537719"/>
              <a:ext cx="4142949" cy="1539250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5100"/>
                </a:srgbClr>
              </a:outerShdw>
            </a:effectLst>
          </p:spPr>
        </p:pic>
        <p:sp>
          <p:nvSpPr>
            <p:cNvPr id="154" name="Google Shape;154;p18"/>
            <p:cNvSpPr txBox="1"/>
            <p:nvPr/>
          </p:nvSpPr>
          <p:spPr>
            <a:xfrm>
              <a:off x="6577726" y="1537712"/>
              <a:ext cx="2284800" cy="21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SLD </a:t>
              </a:r>
              <a:r>
                <a:rPr b="1" lang="en-US" sz="900">
                  <a:latin typeface="Verdana"/>
                  <a:ea typeface="Verdana"/>
                  <a:cs typeface="Verdana"/>
                  <a:sym typeface="Verdana"/>
                </a:rPr>
                <a:t>분석 결과</a:t>
              </a:r>
              <a:endParaRPr/>
            </a:p>
          </p:txBody>
        </p:sp>
        <p:pic>
          <p:nvPicPr>
            <p:cNvPr id="155" name="Google Shape;155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19575" y="3182461"/>
              <a:ext cx="2253075" cy="1408474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5100"/>
                </a:srgbClr>
              </a:outerShdw>
            </a:effectLst>
          </p:spPr>
        </p:pic>
        <p:sp>
          <p:nvSpPr>
            <p:cNvPr id="156" name="Google Shape;156;p18"/>
            <p:cNvSpPr txBox="1"/>
            <p:nvPr/>
          </p:nvSpPr>
          <p:spPr>
            <a:xfrm>
              <a:off x="7020725" y="3225586"/>
              <a:ext cx="1794000" cy="67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latin typeface="Verdana"/>
                  <a:ea typeface="Verdana"/>
                  <a:cs typeface="Verdana"/>
                  <a:sym typeface="Verdana"/>
                </a:rPr>
                <a:t>복잡한 수동 도면 작업 없이도 전체 시스템의 디지털 트윈을 신속하게 생성하고, 잠재적인 결함이나 병목 구간을 빠르게 진단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/>
          <p:nvPr/>
        </p:nvSpPr>
        <p:spPr>
          <a:xfrm>
            <a:off x="4701800" y="753050"/>
            <a:ext cx="4298100" cy="3947400"/>
          </a:xfrm>
          <a:prstGeom prst="rect">
            <a:avLst/>
          </a:prstGeom>
          <a:solidFill>
            <a:srgbClr val="9BC3FF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365760" y="4853354"/>
            <a:ext cx="8357700" cy="786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· </a:t>
            </a: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사용사례 분석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4379548" y="3205883"/>
            <a:ext cx="5219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Insights</a:t>
            </a:r>
            <a:r>
              <a:rPr b="1" i="0" lang="en-US" sz="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b="1" i="0" lang="en-US" sz="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Recommendations and Dive Deep Q&amp;A</a:t>
            </a:r>
            <a:endParaRPr/>
          </a:p>
        </p:txBody>
      </p:sp>
      <p:pic>
        <p:nvPicPr>
          <p:cNvPr id="167" name="Google Shape;1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6037" y="3436563"/>
            <a:ext cx="3887876" cy="11576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100"/>
              </a:srgbClr>
            </a:outerShdw>
          </a:effectLst>
        </p:spPr>
      </p:pic>
      <p:pic>
        <p:nvPicPr>
          <p:cNvPr id="168" name="Google Shape;16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6025" y="1316312"/>
            <a:ext cx="3750049" cy="15844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100"/>
              </a:srgbClr>
            </a:outerShdw>
          </a:effectLst>
        </p:spPr>
      </p:pic>
      <p:sp>
        <p:nvSpPr>
          <p:cNvPr id="169" name="Google Shape;169;p19"/>
          <p:cNvSpPr txBox="1"/>
          <p:nvPr/>
        </p:nvSpPr>
        <p:spPr>
          <a:xfrm>
            <a:off x="5198084" y="858559"/>
            <a:ext cx="272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Knowledge Graph - Interactive Network Topology</a:t>
            </a:r>
            <a:endParaRPr/>
          </a:p>
        </p:txBody>
      </p:sp>
      <p:grpSp>
        <p:nvGrpSpPr>
          <p:cNvPr id="170" name="Google Shape;170;p19"/>
          <p:cNvGrpSpPr/>
          <p:nvPr/>
        </p:nvGrpSpPr>
        <p:grpSpPr>
          <a:xfrm>
            <a:off x="100851" y="780570"/>
            <a:ext cx="4514101" cy="3919753"/>
            <a:chOff x="4485874" y="1118025"/>
            <a:chExt cx="4514101" cy="3582300"/>
          </a:xfrm>
        </p:grpSpPr>
        <p:sp>
          <p:nvSpPr>
            <p:cNvPr id="171" name="Google Shape;171;p19"/>
            <p:cNvSpPr/>
            <p:nvPr/>
          </p:nvSpPr>
          <p:spPr>
            <a:xfrm>
              <a:off x="4485875" y="1118025"/>
              <a:ext cx="4514100" cy="3582300"/>
            </a:xfrm>
            <a:prstGeom prst="rect">
              <a:avLst/>
            </a:prstGeom>
            <a:solidFill>
              <a:srgbClr val="9BC3FF">
                <a:alpha val="4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2" name="Google Shape;172;p19"/>
            <p:cNvSpPr txBox="1"/>
            <p:nvPr/>
          </p:nvSpPr>
          <p:spPr>
            <a:xfrm>
              <a:off x="4485874" y="1118025"/>
              <a:ext cx="4514100" cy="3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Verdana"/>
                <a:buNone/>
              </a:pPr>
              <a:r>
                <a:rPr b="1" lang="en-US" sz="1050">
                  <a:solidFill>
                    <a:srgbClr val="1F1F1F"/>
                  </a:solidFill>
                  <a:latin typeface="Roboto"/>
                  <a:ea typeface="Roboto"/>
                  <a:cs typeface="Roboto"/>
                  <a:sym typeface="Roboto"/>
                </a:rPr>
                <a:t>A8 SLD 분석기(Signal Line Diagram Analyzer)를 통해 생성된 전기 구성 요소 및 네트워크 계층 구조의 자동 감지/라벨링</a:t>
              </a:r>
              <a:endParaRPr/>
            </a:p>
          </p:txBody>
        </p:sp>
        <p:pic>
          <p:nvPicPr>
            <p:cNvPr id="173" name="Google Shape;173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19576" y="1537719"/>
              <a:ext cx="4142949" cy="1539250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5100"/>
                </a:srgbClr>
              </a:outerShdw>
            </a:effectLst>
          </p:spPr>
        </p:pic>
        <p:sp>
          <p:nvSpPr>
            <p:cNvPr id="174" name="Google Shape;174;p19"/>
            <p:cNvSpPr txBox="1"/>
            <p:nvPr/>
          </p:nvSpPr>
          <p:spPr>
            <a:xfrm>
              <a:off x="6577726" y="1537712"/>
              <a:ext cx="2284800" cy="21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SLD </a:t>
              </a:r>
              <a:r>
                <a:rPr b="1" lang="en-US" sz="900">
                  <a:latin typeface="Verdana"/>
                  <a:ea typeface="Verdana"/>
                  <a:cs typeface="Verdana"/>
                  <a:sym typeface="Verdana"/>
                </a:rPr>
                <a:t>분석 결과</a:t>
              </a:r>
              <a:endParaRPr/>
            </a:p>
          </p:txBody>
        </p:sp>
        <p:pic>
          <p:nvPicPr>
            <p:cNvPr id="175" name="Google Shape;175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19575" y="3182461"/>
              <a:ext cx="2253075" cy="1408474"/>
            </a:xfrm>
            <a:prstGeom prst="rect">
              <a:avLst/>
            </a:prstGeom>
            <a:noFill/>
            <a:ln>
              <a:noFill/>
            </a:ln>
            <a:effectLst>
              <a:outerShdw blurRad="292100" rotWithShape="0" algn="tl" dir="2700000" dist="139700">
                <a:srgbClr val="333333">
                  <a:alpha val="65100"/>
                </a:srgbClr>
              </a:outerShdw>
            </a:effectLst>
          </p:spPr>
        </p:pic>
        <p:sp>
          <p:nvSpPr>
            <p:cNvPr id="176" name="Google Shape;176;p19"/>
            <p:cNvSpPr txBox="1"/>
            <p:nvPr/>
          </p:nvSpPr>
          <p:spPr>
            <a:xfrm>
              <a:off x="7020725" y="3225586"/>
              <a:ext cx="1794000" cy="67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latin typeface="Verdana"/>
                  <a:ea typeface="Verdana"/>
                  <a:cs typeface="Verdana"/>
                  <a:sym typeface="Verdana"/>
                </a:rPr>
                <a:t>복잡한 수동 도면 작업 없이도 전체 시스템의 디지털 트윈을 신속하게 생성하고, 잠재적인 결함이나 병목 구간을 빠르게 진단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/>
          <p:nvPr/>
        </p:nvSpPr>
        <p:spPr>
          <a:xfrm>
            <a:off x="365760" y="228600"/>
            <a:ext cx="2011680" cy="256032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365760" y="22860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· </a:t>
            </a: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기술자료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3">
            <a:alphaModFix/>
          </a:blip>
          <a:srcRect b="1043" l="-500" r="500" t="11307"/>
          <a:stretch/>
        </p:blipFill>
        <p:spPr>
          <a:xfrm>
            <a:off x="365750" y="795425"/>
            <a:ext cx="8206751" cy="337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· 기술자료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628825"/>
            <a:ext cx="8021325" cy="39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· 기술자료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628825"/>
            <a:ext cx="8166451" cy="41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· 기술자료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23"/>
          <p:cNvPicPr preferRelativeResize="0"/>
          <p:nvPr/>
        </p:nvPicPr>
        <p:blipFill rotWithShape="1">
          <a:blip r:embed="rId3">
            <a:alphaModFix/>
          </a:blip>
          <a:srcRect b="0" l="4678" r="1575" t="0"/>
          <a:stretch/>
        </p:blipFill>
        <p:spPr>
          <a:xfrm>
            <a:off x="365750" y="612850"/>
            <a:ext cx="8206751" cy="412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4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· 기술자료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650" y="537000"/>
            <a:ext cx="8314176" cy="442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5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· 기술자료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37025"/>
            <a:ext cx="6839974" cy="364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6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· 질의 답변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6"/>
          <p:cNvSpPr txBox="1"/>
          <p:nvPr/>
        </p:nvSpPr>
        <p:spPr>
          <a:xfrm>
            <a:off x="365750" y="719961"/>
            <a:ext cx="8067300" cy="452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1. 사용자 정의 T-Box와 A-Box 생성 및 추론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연계 가능 여부: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예. 사용자 정의 온톨로지를 A8 지식 그래프 노드 및 엣지에 매핑하여 A8이 생성한 그래프를 확장(augment)할 수 있습니다.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지원 모드:</a:t>
            </a:r>
            <a:endParaRPr b="1"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확장/증강(Extend/Augment):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지원 (기본).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부트스트랩(Bootstrap):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지원 (발생적 스키마를 드래프트로 내보내기 가능).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준수(Conform):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미지원.</a:t>
            </a:r>
            <a:r>
              <a:rPr lang="en-US" sz="700">
                <a:solidFill>
                  <a:srgbClr val="1F1F1F"/>
                </a:solidFill>
                <a:highlight>
                  <a:srgbClr val="F0F4F9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u="sng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Articul8의 지식 그래프 구축 방식이 고객의 온톨로지 제약 조건을 강제하거나 검증하는(Validation/Conformance) 역할은 수행하지 않습니다.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온톨로지 수집: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기본적으로 JSON/JSONL, XML, Parquet, CSV, Text, 압축 형식(gzip/tar)을 지원하며, OWL/RDFS/SKOS와 같은 개방형 형식은 사례별(case-by-case)로 논의 가능합니다.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데이터 추출: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고객의 온톨로지는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A8 자체 지식 그래프 상단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에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추가적인 연결성을 제공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하는 역할을 합니다.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어휘 매핑: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A8 플랫폼의 다운스트림 요구사항을 위해 설계된 A8 어휘와 별개로, 고객의 어휘를 추가하는 방식이며 상호 간섭하지 않습니다.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추론 방식: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전통적인 Triple-store 기반의 온톨로지 추론 미사용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en-US" sz="1050" u="sng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A8의 독점적인 멀티모달 에이전트 흐름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을 통해 </a:t>
            </a:r>
            <a:r>
              <a:rPr b="1" lang="en-US" sz="1050" u="sng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추론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합니다.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2. T-Box 편집, 매핑 관리 및 거버넌스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관리 방식: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연합 커넥터(federated connector)를 통해 연결되며,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고객 데이터 저장소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와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A8 간의 데이터 동기화 주기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를 설정할 수 있습니다.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수정 및 반영: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A8 지식 그래프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는 고객이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API, SDK, UI를 통해 직접 편집/확장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할 수 있습니다.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변경 사항 관리: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Git 스타일의 Diff를 통한 증분 델타(incremental delta) 방식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으로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매핑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이 수행되며, 충돌 관리는 고객의 설정에 따릅니다.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안정성: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모든 노드와 엣지는 완전한 멱등성(idempotency)을 자동으로 유지하므로 재실행 시에도 깔끔하게 병합됩니다.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7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· 질의 답변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7"/>
          <p:cNvSpPr txBox="1"/>
          <p:nvPr/>
        </p:nvSpPr>
        <p:spPr>
          <a:xfrm>
            <a:off x="365750" y="719961"/>
            <a:ext cx="8067300" cy="390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3. 검증 및 품질 신뢰성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검증 방식: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SHACL이나 OWL/DL 기반의 형태 검증이 아닌,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지표 기반의 검증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을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수행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합니다. 초기 구축 및 지속적인 실행 과정에서 그래프 지표, 클러스터링 지표, 순회 지표 등이 평가에 활용됩니다.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추적성(Provenance):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모든 노드와 엣지에는 (1) 추출 종류(직접 추출, 추론, 에이전트 발견, 모호함), (2) 신뢰 점수(0~1), (3) 출처 정보(소스 문서, 위치, 실행 세션 등)가 포함되어 완벽한 추적성을 제공합니다.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정확도 확인: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그래프 구축 시점에는 노드/엣지 품질 지표를 확인하고, 질의 시점에는 답변의 신뢰성(Faithfulness, Groundedness 등)을 다차원적으로 평가하여 고객이 신뢰할 수 있는 구조인지 확인할 수 있습니다.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4. 그래프 모델, 이식성 및 온프레미스화(In-housing)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그래프 모델: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RDF를 사용하지 않으며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노드와 엣지, 매니페스트로 구성된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Labeled Property Graph(LPG)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형태를 출력합니다.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데이터 내보내기: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JSON/JSONL 형식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으로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내보내기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가 가능하며, 이는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Neo4j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와 같은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LPG 저장소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와 자연스럽게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매핑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됩니다.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독립성: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고객은 내보낸 그래프를 독립적으로 소유하고 운영할 수 있습니다. 다만, Articul8 플랫폼은 외부 소스에서 직접 운영되지 않으므로, 이식 후에는 고객 환경에서 독자적인 추론이 가능합니다.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5. 라이선스 및 비용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기본 기능: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지식 그래프 내보내기 기능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은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기본 구독료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에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포함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되어 제공됩니다.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추가 비용: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사용자 정의 포맷 지원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이나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특정 데이터 저장소 연동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등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맞춤화 작업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은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사례별로 비용과 일정이 산정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됩니다. 또한, 사용자 정의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T-Box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연계 기능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사용 시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별도의 애드온 모듈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이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필요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하며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비용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은 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커스터마이징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범위에 따라</a:t>
            </a:r>
            <a:r>
              <a:rPr lang="en-US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달라집니다.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8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· 질의 답변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9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9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· 질의 답변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9"/>
          <p:cNvSpPr txBox="1"/>
          <p:nvPr/>
        </p:nvSpPr>
        <p:spPr>
          <a:xfrm>
            <a:off x="365750" y="1862011"/>
            <a:ext cx="8067300" cy="35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rabicPeriod"/>
            </a:pPr>
            <a:r>
              <a:rPr lang="en-US" sz="11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사용자 정의 T-Box(Enterprise Ontology)를 연계하여 A-Box(GraphDB) 생성 및 추론에 활용할 수 있는지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9"/>
          <p:cNvSpPr txBox="1"/>
          <p:nvPr/>
        </p:nvSpPr>
        <p:spPr>
          <a:xfrm>
            <a:off x="365750" y="2411211"/>
            <a:ext cx="8067300" cy="509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A8은 고객이 정의한 지식 체계(T-Box)를 존중하면서도 플랫폼 고유의 강력한 추출 기능을 결합합니다. GraphDB에 바로 쓸 수 있는 깔끔한 표준 데이터(A-Box)를 제공하는 상호운용성(Interoperability) 중심의 아키텍처를 가지고 있습니다.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1. 온톨로지 수집 (Ontology Ingestion)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A8은 기본적으로 정형/비정형 데이터를 위한 다양한 포맷을 지원하며, 시멘틱 웹 표준 형식에 대해서는 유연한 대응 방식을 취하고 있습니다.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기본 지원 포맷: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JSON/JSONL</a:t>
            </a:r>
            <a:r>
              <a:rPr lang="en-US" sz="1100">
                <a:solidFill>
                  <a:schemeClr val="dk1"/>
                </a:solidFill>
              </a:rPr>
              <a:t>,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XML</a:t>
            </a:r>
            <a:r>
              <a:rPr lang="en-US" sz="1100">
                <a:solidFill>
                  <a:schemeClr val="dk1"/>
                </a:solidFill>
              </a:rPr>
              <a:t>,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Parquet</a:t>
            </a:r>
            <a:r>
              <a:rPr lang="en-US" sz="1100">
                <a:solidFill>
                  <a:schemeClr val="dk1"/>
                </a:solidFill>
              </a:rPr>
              <a:t>,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CSV</a:t>
            </a:r>
            <a:r>
              <a:rPr lang="en-US" sz="1100">
                <a:solidFill>
                  <a:schemeClr val="dk1"/>
                </a:solidFill>
              </a:rPr>
              <a:t>,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텍스트</a:t>
            </a:r>
            <a:r>
              <a:rPr lang="en-US" sz="1100">
                <a:solidFill>
                  <a:schemeClr val="dk1"/>
                </a:solidFill>
              </a:rPr>
              <a:t>,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gzip/tar</a:t>
            </a:r>
            <a:r>
              <a:rPr lang="en-US" sz="1100">
                <a:solidFill>
                  <a:schemeClr val="dk1"/>
                </a:solidFill>
              </a:rPr>
              <a:t> (압축 형식)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시멘틱 표준 포맷 (OWL / RDFS / SKOS):</a:t>
            </a:r>
            <a:r>
              <a:rPr lang="en-US" sz="1100">
                <a:solidFill>
                  <a:schemeClr val="dk1"/>
                </a:solidFill>
              </a:rPr>
              <a:t> 기본(Out-of-the-box) 지원보다는 </a:t>
            </a:r>
            <a:r>
              <a:rPr b="1" lang="en-US" sz="1100">
                <a:solidFill>
                  <a:schemeClr val="dk1"/>
                </a:solidFill>
              </a:rPr>
              <a:t>사례별(Case-by-case) 협의 및 커스텀 지원</a:t>
            </a:r>
            <a:r>
              <a:rPr lang="en-US" sz="1100">
                <a:solidFill>
                  <a:schemeClr val="dk1"/>
                </a:solidFill>
              </a:rPr>
              <a:t> 방식으로 대응합니다.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2. 추출 조건화 (Extraction Conditioning)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A8의 지식 추출 메커니즘은 고객의 온톨로지를 가이드라인으로 삼는 </a:t>
            </a:r>
            <a:r>
              <a:rPr b="1" lang="en-US" sz="1100">
                <a:solidFill>
                  <a:schemeClr val="dk1"/>
                </a:solidFill>
              </a:rPr>
              <a:t>하이브리드 방식</a:t>
            </a:r>
            <a:r>
              <a:rPr lang="en-US" sz="1100">
                <a:solidFill>
                  <a:schemeClr val="dk1"/>
                </a:solidFill>
              </a:rPr>
              <a:t>을 취합니다.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스키마 가이드 추출 (Schema-guided):</a:t>
            </a:r>
            <a:r>
              <a:rPr lang="en-US" sz="1100">
                <a:solidFill>
                  <a:schemeClr val="dk1"/>
                </a:solidFill>
              </a:rPr>
              <a:t> 고객이 제공한 클래스(Class)와 속성(Property) 정의를 추출 규칙에 주입하여, 생성되는 데이터가 고객의 도메인 지식 구조를 따르도록 제약합니다.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창발적 추출 및 사후 정렬 (Emergent &amp; Post-alignment):</a:t>
            </a:r>
            <a:r>
              <a:rPr lang="en-US" sz="1100">
                <a:solidFill>
                  <a:schemeClr val="dk1"/>
                </a:solidFill>
              </a:rPr>
              <a:t> A8 자체의 범용 지식 추출 모델이 실시간으로 새로운 관계나 개체를 포착(창발적 추출)한 후, 이를 고객의 온톨로지 스키마에 맞춰 정렬 및 매핑합니다.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3. 출력 준수 및 어휘 공존 (Output Conformance)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가장 중요한 부분은 </a:t>
            </a:r>
            <a:r>
              <a:rPr b="1" lang="en-US" sz="1100">
                <a:solidFill>
                  <a:schemeClr val="dk1"/>
                </a:solidFill>
              </a:rPr>
              <a:t>"고객의 T-Box"와 "A8 자체 T-Box"가 충돌 없이 공존하는 구조</a:t>
            </a:r>
            <a:r>
              <a:rPr lang="en-US" sz="1100">
                <a:solidFill>
                  <a:schemeClr val="dk1"/>
                </a:solidFill>
              </a:rPr>
              <a:t>라는 점입니다. 생성된 결과물(A-Box)은 GraphDB에 즉시 로드될 수 있도록 정합성을 유지합니다.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29"/>
          <p:cNvSpPr txBox="1"/>
          <p:nvPr/>
        </p:nvSpPr>
        <p:spPr>
          <a:xfrm>
            <a:off x="365750" y="633470"/>
            <a:ext cx="8067300" cy="110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(요약정리 )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고객이 자체 온톨로지 및/또는 용어를 제공하고, 저희가 이를 지식 그래프에 수용하고 준수할 수 있는 기능을 제공합니다. 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또한 고객이 자신의 지식 그래프를 JSON/JSONL 형식으로 내보낼 수 있도록 지원합니다.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0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· 질의 답변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0"/>
          <p:cNvSpPr txBox="1"/>
          <p:nvPr/>
        </p:nvSpPr>
        <p:spPr>
          <a:xfrm>
            <a:off x="365750" y="820311"/>
            <a:ext cx="8067300" cy="144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깔끔한 Load (No-Mapping):</a:t>
            </a:r>
            <a:r>
              <a:rPr lang="en-US" sz="1100">
                <a:solidFill>
                  <a:schemeClr val="dk1"/>
                </a:solidFill>
              </a:rPr>
              <a:t> 생성된 A-Box는 고객의 고유 IRI 및 어휘(T-Box)를 그대로 반영하여 출력되므로, 별도의 복잡한 사후 매핑 과정 없이 </a:t>
            </a:r>
            <a:r>
              <a:rPr b="1" lang="en-US" sz="1100">
                <a:solidFill>
                  <a:schemeClr val="dk1"/>
                </a:solidFill>
              </a:rPr>
              <a:t>GraphDB에 바로 적재(Ingestion)가 가능</a:t>
            </a:r>
            <a:r>
              <a:rPr lang="en-US" sz="1100">
                <a:solidFill>
                  <a:schemeClr val="dk1"/>
                </a:solidFill>
              </a:rPr>
              <a:t>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이중 구조(Dual-Vocabulary) 지원:</a:t>
            </a:r>
            <a:r>
              <a:rPr lang="en-US" sz="1100">
                <a:solidFill>
                  <a:schemeClr val="dk1"/>
                </a:solidFill>
              </a:rPr>
              <a:t> * </a:t>
            </a:r>
            <a:r>
              <a:rPr b="1" lang="en-US" sz="1100">
                <a:solidFill>
                  <a:schemeClr val="dk1"/>
                </a:solidFill>
              </a:rPr>
              <a:t>고객 어휘:</a:t>
            </a:r>
            <a:r>
              <a:rPr lang="en-US" sz="1100">
                <a:solidFill>
                  <a:schemeClr val="dk1"/>
                </a:solidFill>
              </a:rPr>
              <a:t> 고객의 비즈니스 로직과 분석을 위해 손상 없이 온전하게 유지됩니다.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A8 자체 어휘:</a:t>
            </a:r>
            <a:r>
              <a:rPr lang="en-US" sz="1100">
                <a:solidFill>
                  <a:schemeClr val="dk1"/>
                </a:solidFill>
              </a:rPr>
              <a:t> A8 플랫폼 내부의 다운스트림 기능(시각화, 검색, 권장 등)을 원활하게 수행하기 위해 백그라운드에 추가(Additive)되는 형태로 결합됩니다. 두 어휘 체계는 서로 간섭하지 않습니다.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30"/>
          <p:cNvSpPr/>
          <p:nvPr/>
        </p:nvSpPr>
        <p:spPr>
          <a:xfrm>
            <a:off x="1681650" y="2947680"/>
            <a:ext cx="5217000" cy="153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0"/>
          <p:cNvSpPr/>
          <p:nvPr/>
        </p:nvSpPr>
        <p:spPr>
          <a:xfrm>
            <a:off x="2484275" y="3463630"/>
            <a:ext cx="3654600" cy="35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고객 어휘(T-Box)</a:t>
            </a:r>
            <a:endParaRPr/>
          </a:p>
        </p:txBody>
      </p:sp>
      <p:sp>
        <p:nvSpPr>
          <p:cNvPr id="257" name="Google Shape;257;p30"/>
          <p:cNvSpPr/>
          <p:nvPr/>
        </p:nvSpPr>
        <p:spPr>
          <a:xfrm>
            <a:off x="2484275" y="3821830"/>
            <a:ext cx="3654600" cy="35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A8 자체 어휘(T-Box)</a:t>
            </a:r>
            <a:endParaRPr/>
          </a:p>
        </p:txBody>
      </p:sp>
      <p:sp>
        <p:nvSpPr>
          <p:cNvPr id="258" name="Google Shape;258;p30"/>
          <p:cNvSpPr/>
          <p:nvPr/>
        </p:nvSpPr>
        <p:spPr>
          <a:xfrm>
            <a:off x="2713577" y="2431700"/>
            <a:ext cx="2321700" cy="25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입력 데이터 및 고객 온톨로지</a:t>
            </a:r>
            <a:endParaRPr/>
          </a:p>
        </p:txBody>
      </p:sp>
      <p:sp>
        <p:nvSpPr>
          <p:cNvPr id="259" name="Google Shape;259;p30"/>
          <p:cNvSpPr/>
          <p:nvPr/>
        </p:nvSpPr>
        <p:spPr>
          <a:xfrm>
            <a:off x="2226294" y="4712508"/>
            <a:ext cx="3769200" cy="25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생성된 A-Box (GraphDB에 즉시 로드 가능)</a:t>
            </a:r>
            <a:endParaRPr/>
          </a:p>
        </p:txBody>
      </p:sp>
      <p:sp>
        <p:nvSpPr>
          <p:cNvPr id="260" name="Google Shape;260;p30"/>
          <p:cNvSpPr txBox="1"/>
          <p:nvPr/>
        </p:nvSpPr>
        <p:spPr>
          <a:xfrm>
            <a:off x="6406550" y="3464622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고객의 IRI/클래스/속성 유지</a:t>
            </a:r>
            <a:endParaRPr/>
          </a:p>
        </p:txBody>
      </p:sp>
      <p:sp>
        <p:nvSpPr>
          <p:cNvPr id="261" name="Google Shape;261;p30"/>
          <p:cNvSpPr txBox="1"/>
          <p:nvPr/>
        </p:nvSpPr>
        <p:spPr>
          <a:xfrm>
            <a:off x="6420861" y="3929816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플랫폼 기능용 (서로 간섭 없음)</a:t>
            </a:r>
            <a:endParaRPr/>
          </a:p>
        </p:txBody>
      </p:sp>
      <p:cxnSp>
        <p:nvCxnSpPr>
          <p:cNvPr id="262" name="Google Shape;262;p30"/>
          <p:cNvCxnSpPr>
            <a:endCxn id="256" idx="3"/>
          </p:cNvCxnSpPr>
          <p:nvPr/>
        </p:nvCxnSpPr>
        <p:spPr>
          <a:xfrm flipH="1">
            <a:off x="6138875" y="3636130"/>
            <a:ext cx="2676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" name="Google Shape;263;p30"/>
          <p:cNvCxnSpPr/>
          <p:nvPr/>
        </p:nvCxnSpPr>
        <p:spPr>
          <a:xfrm flipH="1">
            <a:off x="6153250" y="4126630"/>
            <a:ext cx="2676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4" name="Google Shape;264;p30"/>
          <p:cNvSpPr txBox="1"/>
          <p:nvPr/>
        </p:nvSpPr>
        <p:spPr>
          <a:xfrm>
            <a:off x="3601697" y="3054611"/>
            <a:ext cx="97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A8 엔진</a:t>
            </a:r>
            <a:endParaRPr/>
          </a:p>
        </p:txBody>
      </p:sp>
      <p:cxnSp>
        <p:nvCxnSpPr>
          <p:cNvPr id="265" name="Google Shape;265;p30"/>
          <p:cNvCxnSpPr/>
          <p:nvPr/>
        </p:nvCxnSpPr>
        <p:spPr>
          <a:xfrm flipH="1">
            <a:off x="3860177" y="2709038"/>
            <a:ext cx="28500" cy="21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solidFill>
            <a:srgbClr val="00A8B5"/>
          </a:solidFill>
          <a:ln cap="flat" cmpd="sng" w="12700">
            <a:solidFill>
              <a:srgbClr val="00A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1"/>
          <p:cNvSpPr/>
          <p:nvPr/>
        </p:nvSpPr>
        <p:spPr>
          <a:xfrm>
            <a:off x="365760" y="228600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· 질의 답변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1"/>
          <p:cNvSpPr txBox="1"/>
          <p:nvPr/>
        </p:nvSpPr>
        <p:spPr>
          <a:xfrm>
            <a:off x="365750" y="1862011"/>
            <a:ext cx="8067300" cy="3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2. (1)이 가능하다면, T-Box가 변경될 때 그래프와 매핑이 어떻게 반영되고 관리됩니까(거버넌스 지원 범위)?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1"/>
          <p:cNvSpPr txBox="1"/>
          <p:nvPr/>
        </p:nvSpPr>
        <p:spPr>
          <a:xfrm>
            <a:off x="365750" y="2411211"/>
            <a:ext cx="8067300" cy="583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1. T-Box의 소유권 및 편집 권한 (Ownership &amp; Editing)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T-Box의 주체:</a:t>
            </a:r>
            <a:r>
              <a:rPr lang="en-US" sz="1100">
                <a:solidFill>
                  <a:schemeClr val="dk1"/>
                </a:solidFill>
              </a:rPr>
              <a:t> T-Box는 A8이 임의로 생성하는 것이 아니라 </a:t>
            </a:r>
            <a:r>
              <a:rPr b="1" lang="en-US" sz="1100">
                <a:solidFill>
                  <a:schemeClr val="dk1"/>
                </a:solidFill>
              </a:rPr>
              <a:t>고객 고유의 온톨로지 스키마</a:t>
            </a:r>
            <a:r>
              <a:rPr lang="en-US" sz="1100">
                <a:solidFill>
                  <a:schemeClr val="dk1"/>
                </a:solidFill>
              </a:rPr>
              <a:t>입니다.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제공되는 편집 수단:</a:t>
            </a:r>
            <a:r>
              <a:rPr lang="en-US" sz="1100">
                <a:solidFill>
                  <a:schemeClr val="dk1"/>
                </a:solidFill>
              </a:rPr>
              <a:t> 고객은 시스템에 종속되지 않고 </a:t>
            </a:r>
            <a:r>
              <a:rPr b="1" lang="en-US" sz="1100">
                <a:solidFill>
                  <a:schemeClr val="dk1"/>
                </a:solidFill>
              </a:rPr>
              <a:t>UI, API, SDK</a:t>
            </a:r>
            <a:r>
              <a:rPr lang="en-US" sz="1100">
                <a:solidFill>
                  <a:schemeClr val="dk1"/>
                </a:solidFill>
              </a:rPr>
              <a:t> 등 다양한 인터페이스를 통해 지식 그래프를 자유롭게 편집하고 보강할 수 있습니다.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역할 기반 제어:</a:t>
            </a:r>
            <a:r>
              <a:rPr lang="en-US" sz="1100">
                <a:solidFill>
                  <a:schemeClr val="dk1"/>
                </a:solidFill>
              </a:rPr>
              <a:t> 그래프 변경은 클러스터링, 검색 성능 및 감사 가능성(Auditability)에 직접적인 영향을 미치므로, 고객이 요구하는 감사 수준(Audibility Level)에 따라 백엔드 스토리지 요구 사항과 변경 역할 권한이 정의됩니다.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2. 스키마 변경 시 A-Box 동기화 메커니즘 (Schema Evolution &amp; Sync)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T-Box(스키마)가 수정되거나 업데이트될 때, 기존에 추출된 인스턴스(A-Box)들과의 정합성은 다음과 같은 방식으로 관리됩니다.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동기화 방식:</a:t>
            </a:r>
            <a:r>
              <a:rPr lang="en-US" sz="1100">
                <a:solidFill>
                  <a:schemeClr val="dk1"/>
                </a:solidFill>
              </a:rPr>
              <a:t> 데이터 연결은 </a:t>
            </a:r>
            <a:r>
              <a:rPr b="1" lang="en-US" sz="1100">
                <a:solidFill>
                  <a:schemeClr val="dk1"/>
                </a:solidFill>
              </a:rPr>
              <a:t>페더레이티드(Federated) 커넥터</a:t>
            </a:r>
            <a:r>
              <a:rPr lang="en-US" sz="1100">
                <a:solidFill>
                  <a:schemeClr val="dk1"/>
                </a:solidFill>
              </a:rPr>
              <a:t>를 통해 설정됩니다. 고객은 자신의 데이터 저장소와 A8 플랫폼 간의 </a:t>
            </a:r>
            <a:r>
              <a:rPr b="1" lang="en-US" sz="1100">
                <a:solidFill>
                  <a:schemeClr val="dk1"/>
                </a:solidFill>
              </a:rPr>
              <a:t>데이터 동기화 주기</a:t>
            </a:r>
            <a:r>
              <a:rPr lang="en-US" sz="1100">
                <a:solidFill>
                  <a:schemeClr val="dk1"/>
                </a:solidFill>
              </a:rPr>
              <a:t>를 비즈니스 요구사항에 맞게 직접 선택할 수 있습니다.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점진적 델타 매핑 (Incremental Delta via Git-style diff):</a:t>
            </a:r>
            <a:r>
              <a:rPr lang="en-US" sz="1100">
                <a:solidFill>
                  <a:schemeClr val="dk1"/>
                </a:solidFill>
              </a:rPr>
              <a:t> 스키마 변경 시 데이터 전체를 처음부터 다시 생성(전체 재생성)하지 않습니다. </a:t>
            </a:r>
            <a:r>
              <a:rPr b="1" lang="en-US" sz="1100">
                <a:solidFill>
                  <a:schemeClr val="dk1"/>
                </a:solidFill>
              </a:rPr>
              <a:t>Git 스타일의 diff(차이점 분석)</a:t>
            </a:r>
            <a:r>
              <a:rPr lang="en-US" sz="1100">
                <a:solidFill>
                  <a:schemeClr val="dk1"/>
                </a:solidFill>
              </a:rPr>
              <a:t> 메커니즘을 적용하여 변경된 부분(델타)만 찾아내고, </a:t>
            </a:r>
            <a:r>
              <a:rPr b="1" lang="en-US" sz="1100">
                <a:solidFill>
                  <a:schemeClr val="dk1"/>
                </a:solidFill>
              </a:rPr>
              <a:t>점진적 델타 매핑</a:t>
            </a:r>
            <a:r>
              <a:rPr lang="en-US" sz="1100">
                <a:solidFill>
                  <a:schemeClr val="dk1"/>
                </a:solidFill>
              </a:rPr>
              <a:t>을 수행함으로써 시스템 부하를 최소화합니다.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충돌 관리:</a:t>
            </a:r>
            <a:r>
              <a:rPr lang="en-US" sz="1100">
                <a:solidFill>
                  <a:schemeClr val="dk1"/>
                </a:solidFill>
              </a:rPr>
              <a:t> 스키마 변경으로 인해 기존 데이터와 충돌이 발생할 경우, 시스템이 강제 제어하는 것이 아니라 </a:t>
            </a:r>
            <a:r>
              <a:rPr b="1" lang="en-US" sz="1100">
                <a:solidFill>
                  <a:schemeClr val="dk1"/>
                </a:solidFill>
              </a:rPr>
              <a:t>고객이 설정한 선호도(Preference) 지침에 따라 충돌이 관리</a:t>
            </a:r>
            <a:r>
              <a:rPr lang="en-US" sz="1100">
                <a:solidFill>
                  <a:schemeClr val="dk1"/>
                </a:solidFill>
              </a:rPr>
              <a:t>됩니다.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3. 식별자 안정성 및 자가 진화형 스키마 공존 (Stability &amp; Coexistence)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식별자(IRI)의 멱등성 유지:</a:t>
            </a:r>
            <a:r>
              <a:rPr lang="en-US" sz="1100">
                <a:solidFill>
                  <a:schemeClr val="dk1"/>
                </a:solidFill>
              </a:rPr>
              <a:t> 델타 매핑이나 재실행이 발생하더라도, 그래프 내의 모든 노드(Node)와 엣지(Edge)에 대해 </a:t>
            </a:r>
            <a:r>
              <a:rPr b="1" lang="en-US" sz="1100">
                <a:solidFill>
                  <a:schemeClr val="dk1"/>
                </a:solidFill>
              </a:rPr>
              <a:t>자동으로 전체 멱등성(Idempotency)이 유지</a:t>
            </a:r>
            <a:r>
              <a:rPr lang="en-US" sz="1100">
                <a:solidFill>
                  <a:schemeClr val="dk1"/>
                </a:solidFill>
              </a:rPr>
              <a:t>됩니다. 따라서 재생성되거나 업데이트된 A-Box 데이터가 기존 GraphDB에 중복이나 깨짐 없이 깔끔하게 병합(Merge)됩니다.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고객 고정 스키마 vs A8 자가 진화 스키마의 공존:</a:t>
            </a:r>
            <a:r>
              <a:rPr lang="en-US" sz="1100">
                <a:solidFill>
                  <a:schemeClr val="dk1"/>
                </a:solidFill>
              </a:rPr>
              <a:t> 고객이 고정(Pinned)해 둔 T-Box 온톨로지 정의와 A8의 자체 자가 진화형(Self-evolving) 스키마는 분리되어 충돌하지 않습니다. 고객 온톨로지의 노드/엣지 정의는 내부 A8 어휘와 동일한 선상에서 </a:t>
            </a:r>
            <a:r>
              <a:rPr b="1" lang="en-US" sz="1100">
                <a:solidFill>
                  <a:schemeClr val="dk1"/>
                </a:solidFill>
              </a:rPr>
              <a:t>지속적으로 진화하는 엔터티(Entity)에 유연하게 매핑</a:t>
            </a:r>
            <a:r>
              <a:rPr lang="en-US" sz="1100">
                <a:solidFill>
                  <a:schemeClr val="dk1"/>
                </a:solidFill>
              </a:rPr>
              <a:t>되어 공존합니다.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31"/>
          <p:cNvSpPr txBox="1"/>
          <p:nvPr/>
        </p:nvSpPr>
        <p:spPr>
          <a:xfrm>
            <a:off x="365750" y="633470"/>
            <a:ext cx="8067300" cy="110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(요약정리 )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A8은 </a:t>
            </a:r>
            <a:r>
              <a:rPr b="1" lang="en-US" sz="1100">
                <a:solidFill>
                  <a:schemeClr val="dk1"/>
                </a:solidFill>
              </a:rPr>
              <a:t>고객 중심의 온톨로지 거버넌스</a:t>
            </a:r>
            <a:r>
              <a:rPr lang="en-US" sz="1100">
                <a:solidFill>
                  <a:schemeClr val="dk1"/>
                </a:solidFill>
              </a:rPr>
              <a:t>를 지원합니다. 스키마가 변경되더라도 </a:t>
            </a:r>
            <a:r>
              <a:rPr b="1" lang="en-US" sz="1100">
                <a:solidFill>
                  <a:schemeClr val="dk1"/>
                </a:solidFill>
              </a:rPr>
              <a:t>① 페더레이티드 커넥터 기반의 주기적 동기화, ② Git 스타일의 점진적 델타 매핑, ③ 완전한 멱등성 보장</a:t>
            </a:r>
            <a:r>
              <a:rPr lang="en-US" sz="1100">
                <a:solidFill>
                  <a:schemeClr val="dk1"/>
                </a:solidFill>
              </a:rPr>
              <a:t>을 통해 기존 데이터 분석 환경(GraphDB)을 해치지 않고 안정적이며 효율적으로 자산을 유지 관리할 수 있습니다.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