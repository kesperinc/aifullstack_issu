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3" r:id="rId4"/>
    <p:sldId id="264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73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232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434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4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산업별 활용 사례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자산 성능 관리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Performance Management in Construction Industry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743200" cy="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건설업 (Construction)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13403F5-6964-B94B-82FC-5330E68744B3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OVERVIEW · 한눈에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2727C6-FBB2-CC4B-95BB-8A037846716C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건설 자산 성능 관리: 전체 흐름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38AF16-82FD-A346-A3BF-66F04162AD8E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0CCB5E-EC2C-BA49-A8A7-D89EFD0D6B03}"/>
              </a:ext>
            </a:extLst>
          </p:cNvPr>
          <p:cNvSpPr/>
          <p:nvPr/>
        </p:nvSpPr>
        <p:spPr>
          <a:xfrm>
            <a:off x="508000" y="1270000"/>
            <a:ext cx="31496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5BCDFC-52FE-F54F-901F-B551294DF671}"/>
              </a:ext>
            </a:extLst>
          </p:cNvPr>
          <p:cNvSpPr/>
          <p:nvPr/>
        </p:nvSpPr>
        <p:spPr>
          <a:xfrm>
            <a:off x="4013200" y="1270000"/>
            <a:ext cx="39370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C47B5-24B5-F143-A27E-02208FBA54F5}"/>
              </a:ext>
            </a:extLst>
          </p:cNvPr>
          <p:cNvSpPr/>
          <p:nvPr/>
        </p:nvSpPr>
        <p:spPr>
          <a:xfrm>
            <a:off x="508000" y="1270000"/>
            <a:ext cx="3149600" cy="4572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/>
                <a:ea typeface="맑은 고딕"/>
              </a:rPr>
              <a:t>건설 자산 관리의 과제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3514325-B234-2945-991C-89FB286E3B3C}"/>
              </a:ext>
            </a:extLst>
          </p:cNvPr>
          <p:cNvSpPr/>
          <p:nvPr/>
        </p:nvSpPr>
        <p:spPr>
          <a:xfrm>
            <a:off x="4013200" y="1270000"/>
            <a:ext cx="3937000" cy="457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" altLang="ko-KR" sz="1500" b="1">
                <a:solidFill>
                  <a:srgbClr val="FFFFFF"/>
                </a:solidFill>
                <a:latin typeface="맑은 고딕"/>
                <a:ea typeface="맑은 고딕"/>
              </a:rPr>
              <a:t>Articul8 · AgentMesh</a:t>
            </a:r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AEA9D31E-6955-6346-BC63-E099A3951B6A}"/>
              </a:ext>
            </a:extLst>
          </p:cNvPr>
          <p:cNvSpPr/>
          <p:nvPr/>
        </p:nvSpPr>
        <p:spPr>
          <a:xfrm>
            <a:off x="36830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D4DDA0F0-70C9-7D4F-9934-96FAF609FF30}"/>
              </a:ext>
            </a:extLst>
          </p:cNvPr>
          <p:cNvSpPr/>
          <p:nvPr/>
        </p:nvSpPr>
        <p:spPr>
          <a:xfrm>
            <a:off x="79756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DAC0C2-EF9E-394D-8F6F-F7EAA4846CD3}"/>
              </a:ext>
            </a:extLst>
          </p:cNvPr>
          <p:cNvSpPr txBox="1"/>
          <p:nvPr/>
        </p:nvSpPr>
        <p:spPr>
          <a:xfrm>
            <a:off x="609600" y="1854200"/>
            <a:ext cx="2946400" cy="304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자산 데이터가 작업지시서·검사기록·
     공급업체 문서·이미지 등에 파편화
•  AI 기반 종합 없이는 위험 자산·규정
     격차를 실시간 파악 불가
•  자재관리·프로젝트통제·시공실행
     시스템이 서로 단절된 사일로
•  일정 지연 시 하루 수백만 달러의
     지체상금·매출 손실 발생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07B09E2-F4DC-3748-B030-54646FA4C960}"/>
              </a:ext>
            </a:extLst>
          </p:cNvPr>
          <p:cNvSpPr/>
          <p:nvPr/>
        </p:nvSpPr>
        <p:spPr>
          <a:xfrm>
            <a:off x="4114800" y="18542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0423E0D-57A0-D242-B263-980E28087706}"/>
              </a:ext>
            </a:extLst>
          </p:cNvPr>
          <p:cNvSpPr/>
          <p:nvPr/>
        </p:nvSpPr>
        <p:spPr>
          <a:xfrm>
            <a:off x="4241800" y="21463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F578B4-AD60-0649-BBBE-7C929DFE0286}"/>
              </a:ext>
            </a:extLst>
          </p:cNvPr>
          <p:cNvSpPr txBox="1"/>
          <p:nvPr/>
        </p:nvSpPr>
        <p:spPr>
          <a:xfrm>
            <a:off x="4673600" y="19685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자산 인텔리전스 그래프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F21492-F8EE-0344-84CD-C10A76D2EF3F}"/>
              </a:ext>
            </a:extLst>
          </p:cNvPr>
          <p:cNvSpPr txBox="1"/>
          <p:nvPr/>
        </p:nvSpPr>
        <p:spPr>
          <a:xfrm>
            <a:off x="4673600" y="22479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자산·문서·이미지·작업·공급업체·검사기록을 연결한 실시간 그래프 구축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FAAA913-08FD-9F48-93D1-FB04B93A6883}"/>
              </a:ext>
            </a:extLst>
          </p:cNvPr>
          <p:cNvSpPr/>
          <p:nvPr/>
        </p:nvSpPr>
        <p:spPr>
          <a:xfrm>
            <a:off x="4114800" y="28448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E01B4C9-0B5A-5047-B047-F246F1C3A4CD}"/>
              </a:ext>
            </a:extLst>
          </p:cNvPr>
          <p:cNvSpPr/>
          <p:nvPr/>
        </p:nvSpPr>
        <p:spPr>
          <a:xfrm>
            <a:off x="4241800" y="31369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9695A-AA57-F848-8FC4-91D41A77C28F}"/>
              </a:ext>
            </a:extLst>
          </p:cNvPr>
          <p:cNvSpPr txBox="1"/>
          <p:nvPr/>
        </p:nvSpPr>
        <p:spPr>
          <a:xfrm>
            <a:off x="4673600" y="29591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커넥티드 내비게이션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B27A78-F4FB-6246-AF0E-ECE2A3CF1E70}"/>
              </a:ext>
            </a:extLst>
          </p:cNvPr>
          <p:cNvSpPr txBox="1"/>
          <p:nvPr/>
        </p:nvSpPr>
        <p:spPr>
          <a:xfrm>
            <a:off x="4673600" y="32385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연결된 데이터를 탐색해 누락·위험·근본원인 파악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3E190F-E1FE-DE41-855E-73921208A5B4}"/>
              </a:ext>
            </a:extLst>
          </p:cNvPr>
          <p:cNvSpPr/>
          <p:nvPr/>
        </p:nvSpPr>
        <p:spPr>
          <a:xfrm>
            <a:off x="4114800" y="38354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0A012D0-5AAB-A141-8CF8-16A1CDBCA3A9}"/>
              </a:ext>
            </a:extLst>
          </p:cNvPr>
          <p:cNvSpPr/>
          <p:nvPr/>
        </p:nvSpPr>
        <p:spPr>
          <a:xfrm>
            <a:off x="4241800" y="41275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0BC454-5D10-D14C-981D-82B7E30509BD}"/>
              </a:ext>
            </a:extLst>
          </p:cNvPr>
          <p:cNvSpPr txBox="1"/>
          <p:nvPr/>
        </p:nvSpPr>
        <p:spPr>
          <a:xfrm>
            <a:off x="4673600" y="39497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컴플라이언스 · 리스크 탐지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1F9E0B-E16E-3245-99F5-ED85A7644EC7}"/>
              </a:ext>
            </a:extLst>
          </p:cNvPr>
          <p:cNvSpPr txBox="1"/>
          <p:nvPr/>
        </p:nvSpPr>
        <p:spPr>
          <a:xfrm>
            <a:off x="4673600" y="42291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누락 서류·계측장비 식별로 규정·상업 리스크 사전 파악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19EBB7-ADC8-0B40-A5BB-DB996B24A76A}"/>
              </a:ext>
            </a:extLst>
          </p:cNvPr>
          <p:cNvSpPr txBox="1"/>
          <p:nvPr/>
        </p:nvSpPr>
        <p:spPr>
          <a:xfrm>
            <a:off x="508000" y="50546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16324F"/>
                </a:solidFill>
                <a:latin typeface="맑은 고딕"/>
                <a:ea typeface="맑은 고딕"/>
              </a:rPr>
              <a:t>Articul8 차별점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0E7228F7-7B64-C941-9011-B055216B6272}"/>
              </a:ext>
            </a:extLst>
          </p:cNvPr>
          <p:cNvSpPr/>
          <p:nvPr/>
        </p:nvSpPr>
        <p:spPr>
          <a:xfrm>
            <a:off x="5080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360° 자산 인텔리전스</a:t>
            </a: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70C42031-B678-2442-BD5C-BE8D40E4E742}"/>
              </a:ext>
            </a:extLst>
          </p:cNvPr>
          <p:cNvSpPr/>
          <p:nvPr/>
        </p:nvSpPr>
        <p:spPr>
          <a:xfrm>
            <a:off x="33528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연결된 데이터 탐색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79BAA779-6646-954A-A66D-2E52323E41C5}"/>
              </a:ext>
            </a:extLst>
          </p:cNvPr>
          <p:cNvSpPr/>
          <p:nvPr/>
        </p:nvSpPr>
        <p:spPr>
          <a:xfrm>
            <a:off x="61976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상업·규정 리스크 탐지</a:t>
            </a: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5B104DA1-5C58-524A-83CC-E884B6197714}"/>
              </a:ext>
            </a:extLst>
          </p:cNvPr>
          <p:cNvSpPr/>
          <p:nvPr/>
        </p:nvSpPr>
        <p:spPr>
          <a:xfrm>
            <a:off x="90424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유연한 배포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CCAB46-6440-1C4E-8E1E-5A6B4EDB2273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7 — 건설 자산 성능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775C15-71EC-ACB6-EC27-7126964D5142}"/>
              </a:ext>
            </a:extLst>
          </p:cNvPr>
          <p:cNvSpPr/>
          <p:nvPr/>
        </p:nvSpPr>
        <p:spPr>
          <a:xfrm>
            <a:off x="8331200" y="1271846"/>
            <a:ext cx="3365500" cy="3706553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C42C13-DAE2-F3E8-670A-261FF710D695}"/>
              </a:ext>
            </a:extLst>
          </p:cNvPr>
          <p:cNvSpPr/>
          <p:nvPr/>
        </p:nvSpPr>
        <p:spPr>
          <a:xfrm>
            <a:off x="8331200" y="1271847"/>
            <a:ext cx="3365500" cy="431800"/>
          </a:xfrm>
          <a:prstGeom prst="rect">
            <a:avLst/>
          </a:prstGeom>
          <a:solidFill>
            <a:srgbClr val="2E9E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핵심 성과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8174B-0037-3263-B01B-F47E15B205D2}"/>
              </a:ext>
            </a:extLst>
          </p:cNvPr>
          <p:cNvSpPr txBox="1"/>
          <p:nvPr/>
        </p:nvSpPr>
        <p:spPr>
          <a:xfrm>
            <a:off x="8456428" y="2121592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 dirty="0">
                <a:solidFill>
                  <a:srgbClr val="2E9E5B"/>
                </a:solidFill>
                <a:latin typeface="맑은 고딕"/>
                <a:ea typeface="맑은 고딕"/>
              </a:rPr>
              <a:t>4건 이슈</a:t>
            </a:r>
            <a:endParaRPr lang="ko-KR" altLang="en-US" sz="2400" b="1" dirty="0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987A5-BDE4-7C88-043E-1CC16A067B6F}"/>
              </a:ext>
            </a:extLst>
          </p:cNvPr>
          <p:cNvSpPr txBox="1"/>
          <p:nvPr/>
        </p:nvSpPr>
        <p:spPr>
          <a:xfrm>
            <a:off x="9974816" y="2172392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주의가 필요한 고우선순위 자산 즉시 식별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E1341B-6208-6897-1D90-80F844B18190}"/>
              </a:ext>
            </a:extLst>
          </p:cNvPr>
          <p:cNvSpPr txBox="1"/>
          <p:nvPr/>
        </p:nvSpPr>
        <p:spPr>
          <a:xfrm>
            <a:off x="8456428" y="3082636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>
                <a:solidFill>
                  <a:srgbClr val="2E9E5B"/>
                </a:solidFill>
                <a:latin typeface="맑은 고딕"/>
                <a:ea typeface="맑은 고딕"/>
              </a:rPr>
              <a:t>320개+</a:t>
            </a:r>
            <a:endParaRPr lang="ko-KR" altLang="en-US" sz="2400" b="1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9C64D-9CDC-D0CE-2777-C937696AE98E}"/>
              </a:ext>
            </a:extLst>
          </p:cNvPr>
          <p:cNvSpPr txBox="1"/>
          <p:nvPr/>
        </p:nvSpPr>
        <p:spPr>
          <a:xfrm>
            <a:off x="9974816" y="3133436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자산 인텔리전스 그래프로 연결된 엔티티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DBC24-9C59-6AB7-64EB-95BAF28EC98F}"/>
              </a:ext>
            </a:extLst>
          </p:cNvPr>
          <p:cNvSpPr txBox="1"/>
          <p:nvPr/>
        </p:nvSpPr>
        <p:spPr>
          <a:xfrm>
            <a:off x="8456428" y="4168371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2400" b="1" dirty="0">
                <a:solidFill>
                  <a:srgbClr val="2E9E5B"/>
                </a:solidFill>
                <a:latin typeface="맑은 고딕"/>
                <a:ea typeface="맑은 고딕"/>
              </a:rPr>
              <a:t>일정 우선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084D86-3DF5-7B16-D1BE-E727283D551C}"/>
              </a:ext>
            </a:extLst>
          </p:cNvPr>
          <p:cNvSpPr txBox="1"/>
          <p:nvPr/>
        </p:nvSpPr>
        <p:spPr>
          <a:xfrm>
            <a:off x="9974816" y="4219171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수백만 달러 규모 지체상금·매출손실 예방</a:t>
            </a:r>
          </a:p>
        </p:txBody>
      </p:sp>
    </p:spTree>
    <p:extLst>
      <p:ext uri="{BB962C8B-B14F-4D97-AF65-F5344CB8AC3E}">
        <p14:creationId xmlns:p14="http://schemas.microsoft.com/office/powerpoint/2010/main" val="2845687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7565A6-7C04-D94E-B53B-85C5D720F0DD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2400" b="1">
                <a:solidFill>
                  <a:srgbClr val="1F2A37"/>
                </a:solidFill>
                <a:latin typeface="맑은 고딕"/>
                <a:ea typeface="맑은 고딕"/>
              </a:rPr>
              <a:t>Articul8 솔루션 요약: 에이전트 · 포지셔닝 · 성과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926657-4550-A444-92A4-6DD56FEC7340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1D138-851D-5D49-A2A1-51E6BCA8FD21}"/>
              </a:ext>
            </a:extLst>
          </p:cNvPr>
          <p:cNvSpPr txBox="1"/>
          <p:nvPr/>
        </p:nvSpPr>
        <p:spPr>
          <a:xfrm>
            <a:off x="508000" y="12446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핵심 에이전트 파이프라인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D81286-6DE4-3046-8ECA-0A33F76E4916}"/>
              </a:ext>
            </a:extLst>
          </p:cNvPr>
          <p:cNvSpPr/>
          <p:nvPr/>
        </p:nvSpPr>
        <p:spPr>
          <a:xfrm>
            <a:off x="5080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ED26F5-5366-724A-9182-E5B3F061C69A}"/>
              </a:ext>
            </a:extLst>
          </p:cNvPr>
          <p:cNvSpPr/>
          <p:nvPr/>
        </p:nvSpPr>
        <p:spPr>
          <a:xfrm>
            <a:off x="5080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094C52D-BEE1-5B44-8D7E-1B46E31AAAD2}"/>
              </a:ext>
            </a:extLst>
          </p:cNvPr>
          <p:cNvSpPr/>
          <p:nvPr/>
        </p:nvSpPr>
        <p:spPr>
          <a:xfrm>
            <a:off x="6858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4D0AB-3454-B04A-9BEB-AFF331840824}"/>
              </a:ext>
            </a:extLst>
          </p:cNvPr>
          <p:cNvSpPr txBox="1"/>
          <p:nvPr/>
        </p:nvSpPr>
        <p:spPr>
          <a:xfrm>
            <a:off x="11430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자산 인텔리전스 그래프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466BDB-A279-AF48-A1B9-7D4D32BC8D38}"/>
              </a:ext>
            </a:extLst>
          </p:cNvPr>
          <p:cNvSpPr txBox="1"/>
          <p:nvPr/>
        </p:nvSpPr>
        <p:spPr>
          <a:xfrm>
            <a:off x="11430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Asset Intelligence Graph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26644-2EB5-1145-A0AD-DA81185CAC58}"/>
              </a:ext>
            </a:extLst>
          </p:cNvPr>
          <p:cNvSpPr txBox="1"/>
          <p:nvPr/>
        </p:nvSpPr>
        <p:spPr>
          <a:xfrm>
            <a:off x="7112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핵심 자산에 대한 360° 시야를 제공하고 위험 원인과 필요 조치를 파악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8BDCF0-8366-8E47-AB46-7AE6B7537B17}"/>
              </a:ext>
            </a:extLst>
          </p:cNvPr>
          <p:cNvSpPr/>
          <p:nvPr/>
        </p:nvSpPr>
        <p:spPr>
          <a:xfrm>
            <a:off x="43942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E26EEF-18DC-3C4A-BAA9-3BB4F7FF7CBB}"/>
              </a:ext>
            </a:extLst>
          </p:cNvPr>
          <p:cNvSpPr/>
          <p:nvPr/>
        </p:nvSpPr>
        <p:spPr>
          <a:xfrm>
            <a:off x="43942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7E8AE27-7B5B-EC4C-9A5E-4EE7046A35AC}"/>
              </a:ext>
            </a:extLst>
          </p:cNvPr>
          <p:cNvSpPr/>
          <p:nvPr/>
        </p:nvSpPr>
        <p:spPr>
          <a:xfrm>
            <a:off x="45720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AA37FD-AA91-9748-9884-36A6B517A41F}"/>
              </a:ext>
            </a:extLst>
          </p:cNvPr>
          <p:cNvSpPr txBox="1"/>
          <p:nvPr/>
        </p:nvSpPr>
        <p:spPr>
          <a:xfrm>
            <a:off x="50292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커넥티드 내비게이션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B96F5-B392-7345-97E4-E447E770FF6D}"/>
              </a:ext>
            </a:extLst>
          </p:cNvPr>
          <p:cNvSpPr txBox="1"/>
          <p:nvPr/>
        </p:nvSpPr>
        <p:spPr>
          <a:xfrm>
            <a:off x="50292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Connected Navigation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91A5D-8ADC-1A45-B37D-2D673FF6569A}"/>
              </a:ext>
            </a:extLst>
          </p:cNvPr>
          <p:cNvSpPr txBox="1"/>
          <p:nvPr/>
        </p:nvSpPr>
        <p:spPr>
          <a:xfrm>
            <a:off x="45974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작업지시서·검사기록·이미지를 통합 탐색해 위험·근본원인 파악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4B68D14-7992-6E43-9656-B863A48C88CB}"/>
              </a:ext>
            </a:extLst>
          </p:cNvPr>
          <p:cNvSpPr/>
          <p:nvPr/>
        </p:nvSpPr>
        <p:spPr>
          <a:xfrm>
            <a:off x="82804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904039-4B31-D549-9345-C9F92E309883}"/>
              </a:ext>
            </a:extLst>
          </p:cNvPr>
          <p:cNvSpPr/>
          <p:nvPr/>
        </p:nvSpPr>
        <p:spPr>
          <a:xfrm>
            <a:off x="82804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51FBB03-71D4-3B4D-BDF4-DC4AEEF5927D}"/>
              </a:ext>
            </a:extLst>
          </p:cNvPr>
          <p:cNvSpPr/>
          <p:nvPr/>
        </p:nvSpPr>
        <p:spPr>
          <a:xfrm>
            <a:off x="84582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4F8D71-EF1E-E843-A4EF-28A568371717}"/>
              </a:ext>
            </a:extLst>
          </p:cNvPr>
          <p:cNvSpPr txBox="1"/>
          <p:nvPr/>
        </p:nvSpPr>
        <p:spPr>
          <a:xfrm>
            <a:off x="89154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컴플라이언스 · 상업 리스크 탐지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D4587B-7045-0848-A894-9C8FE8071BA8}"/>
              </a:ext>
            </a:extLst>
          </p:cNvPr>
          <p:cNvSpPr txBox="1"/>
          <p:nvPr/>
        </p:nvSpPr>
        <p:spPr>
          <a:xfrm>
            <a:off x="89154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Compliance &amp; Risk Detection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4BA5D4-6542-7C4F-B3C3-5E494633AB0E}"/>
              </a:ext>
            </a:extLst>
          </p:cNvPr>
          <p:cNvSpPr txBox="1"/>
          <p:nvPr/>
        </p:nvSpPr>
        <p:spPr>
          <a:xfrm>
            <a:off x="84836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누락 서류가 있는 계측장비·구매주문을 식별해 리스크를 사전 파악</a:t>
            </a: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B7B5D4A8-791D-CC49-B5FB-7B7F13BE1FBA}"/>
              </a:ext>
            </a:extLst>
          </p:cNvPr>
          <p:cNvSpPr/>
          <p:nvPr/>
        </p:nvSpPr>
        <p:spPr>
          <a:xfrm>
            <a:off x="39624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2390B8C5-7293-B645-B3CD-531CE6E73892}"/>
              </a:ext>
            </a:extLst>
          </p:cNvPr>
          <p:cNvSpPr/>
          <p:nvPr/>
        </p:nvSpPr>
        <p:spPr>
          <a:xfrm>
            <a:off x="78486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932696C-89E1-3943-B45B-BB53FEC47216}"/>
              </a:ext>
            </a:extLst>
          </p:cNvPr>
          <p:cNvSpPr/>
          <p:nvPr/>
        </p:nvSpPr>
        <p:spPr>
          <a:xfrm>
            <a:off x="508000" y="2997200"/>
            <a:ext cx="11176000" cy="330200"/>
          </a:xfrm>
          <a:prstGeom prst="rect">
            <a:avLst/>
          </a:prstGeom>
          <a:solidFill>
            <a:srgbClr val="EEF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200">
                <a:solidFill>
                  <a:srgbClr val="16324F"/>
                </a:solidFill>
                <a:latin typeface="맑은 고딕"/>
                <a:ea typeface="맑은 고딕"/>
              </a:rPr>
              <a:t>중요 자산 감지 대시보드  —  자산 인텔리전스 그래프 · 실시간 위험 탐지 · 근본 원인 파악 제공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8E6047-236C-0849-99C4-4D1B0B397FE2}"/>
              </a:ext>
            </a:extLst>
          </p:cNvPr>
          <p:cNvSpPr/>
          <p:nvPr/>
        </p:nvSpPr>
        <p:spPr>
          <a:xfrm>
            <a:off x="508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4D5C0A3-B348-A948-9D23-7332344B7F76}"/>
              </a:ext>
            </a:extLst>
          </p:cNvPr>
          <p:cNvSpPr/>
          <p:nvPr/>
        </p:nvSpPr>
        <p:spPr>
          <a:xfrm>
            <a:off x="508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독보적 포지셔닝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E94C1F-2475-BA4E-BC7C-CA3028479198}"/>
              </a:ext>
            </a:extLst>
          </p:cNvPr>
          <p:cNvSpPr txBox="1"/>
          <p:nvPr/>
        </p:nvSpPr>
        <p:spPr>
          <a:xfrm>
            <a:off x="685800" y="4064000"/>
            <a:ext cx="5130800" cy="2184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태그·WBS 코드 등 공유 키로 자재·원가·실행 데이터를 서로 연결
•  자연어로 3개 시스템 전체에 복잡한 질문을 동시에 질의
•  리스크·소요 물자·권장 조치를 하나의 통합 답변으로 종합
•  클라우드·온프레미스 등 유연한 배포 옵션 제공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84AD9C-4B11-934A-828E-553E9FEF0A34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7 — 건설 자산 성능 관리</a:t>
            </a:r>
          </a:p>
        </p:txBody>
      </p:sp>
      <p:sp>
        <p:nvSpPr>
          <p:cNvPr id="39" name="Rectangle RightPanel BG">
            <a:extLst>
              <a:ext uri="{FF2B5EF4-FFF2-40B4-BE49-F238E27FC236}">
                <a16:creationId xmlns:a16="http://schemas.microsoft.com/office/drawing/2014/main" id="{A97A084E-703B-764C-8E68-C3EE1F8C5ED1}"/>
              </a:ext>
            </a:extLst>
          </p:cNvPr>
          <p:cNvSpPr/>
          <p:nvPr/>
        </p:nvSpPr>
        <p:spPr>
          <a:xfrm>
            <a:off x="6223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Rectangle RightPanel Header">
            <a:extLst>
              <a:ext uri="{FF2B5EF4-FFF2-40B4-BE49-F238E27FC236}">
                <a16:creationId xmlns:a16="http://schemas.microsoft.com/office/drawing/2014/main" id="{A097E8A4-CAA5-3B4F-969A-A7DD33F01FDC}"/>
              </a:ext>
            </a:extLst>
          </p:cNvPr>
          <p:cNvSpPr/>
          <p:nvPr/>
        </p:nvSpPr>
        <p:spPr>
          <a:xfrm>
            <a:off x="6223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기대 도입 효과</a:t>
            </a:r>
          </a:p>
        </p:txBody>
      </p:sp>
      <p:sp>
        <p:nvSpPr>
          <p:cNvPr id="41" name="TextBox RightPanel Body">
            <a:extLst>
              <a:ext uri="{FF2B5EF4-FFF2-40B4-BE49-F238E27FC236}">
                <a16:creationId xmlns:a16="http://schemas.microsoft.com/office/drawing/2014/main" id="{0813CE03-395A-F94F-BD47-0F3106FCA296}"/>
              </a:ext>
            </a:extLst>
          </p:cNvPr>
          <p:cNvSpPr txBox="1"/>
          <p:nvPr/>
        </p:nvSpPr>
        <p:spPr>
          <a:xfrm>
            <a:off x="6400800" y="4064000"/>
            <a:ext cx="5130800" cy="2184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일정 준수 — 하루 수백만 달러 규모의 지체상금과 매출 손실 방지
•  리스크 사전 관리 — 작업 패키지 착수 전 자재·비계·인허가·인력 검증
•  규정 준수 — 누락 서류·계측장비를 사전 식별해 상업적 리스크 예방</a:t>
            </a:r>
          </a:p>
        </p:txBody>
      </p:sp>
    </p:spTree>
    <p:extLst>
      <p:ext uri="{BB962C8B-B14F-4D97-AF65-F5344CB8AC3E}">
        <p14:creationId xmlns:p14="http://schemas.microsoft.com/office/powerpoint/2010/main" val="308339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54EC1E-4C33-FD49-B024-5AEC883E3CA4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A8 솔루션 · 에이전트 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ACCC9-57C9-184D-ABC5-9FACF114F585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세 가지 핵심 솔루션 컴포넌트 상세 설명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03A311-B387-5940-B499-DCB29B702CC3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F28D8D-12F9-574B-8637-DF33D61C9D31}"/>
              </a:ext>
            </a:extLst>
          </p:cNvPr>
          <p:cNvSpPr/>
          <p:nvPr/>
        </p:nvSpPr>
        <p:spPr>
          <a:xfrm>
            <a:off x="50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9B84D6-C3B1-BB43-A8DE-F614D34BFD37}"/>
              </a:ext>
            </a:extLst>
          </p:cNvPr>
          <p:cNvSpPr/>
          <p:nvPr/>
        </p:nvSpPr>
        <p:spPr>
          <a:xfrm>
            <a:off x="50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F2B82E6-7FE5-6640-A31D-2965661A64BC}"/>
              </a:ext>
            </a:extLst>
          </p:cNvPr>
          <p:cNvSpPr/>
          <p:nvPr/>
        </p:nvSpPr>
        <p:spPr>
          <a:xfrm>
            <a:off x="68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DEDAE-7F71-3249-A77F-102A5545CDBC}"/>
              </a:ext>
            </a:extLst>
          </p:cNvPr>
          <p:cNvSpPr txBox="1"/>
          <p:nvPr/>
        </p:nvSpPr>
        <p:spPr>
          <a:xfrm>
            <a:off x="116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자산 인텔리전스 그래프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B74A9F-FAF6-AD4A-8960-87809465B7BF}"/>
              </a:ext>
            </a:extLst>
          </p:cNvPr>
          <p:cNvSpPr txBox="1"/>
          <p:nvPr/>
        </p:nvSpPr>
        <p:spPr>
          <a:xfrm>
            <a:off x="116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Asset Intelligence Graph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3EFAC-7ECC-F44D-B09A-D1CBB2A62670}"/>
              </a:ext>
            </a:extLst>
          </p:cNvPr>
          <p:cNvSpPr txBox="1"/>
          <p:nvPr/>
        </p:nvSpPr>
        <p:spPr>
          <a:xfrm>
            <a:off x="71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4962D-AC33-074B-861B-75E20F90E81E}"/>
              </a:ext>
            </a:extLst>
          </p:cNvPr>
          <p:cNvSpPr txBox="1"/>
          <p:nvPr/>
        </p:nvSpPr>
        <p:spPr>
          <a:xfrm>
            <a:off x="71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자산·문서·이미지·작업·공급업체·검사 기록을 연결한 실시간 자산 인텔리전스 그래프 구축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643F42-7096-B040-92BE-6F3927A07E95}"/>
              </a:ext>
            </a:extLst>
          </p:cNvPr>
          <p:cNvSpPr txBox="1"/>
          <p:nvPr/>
        </p:nvSpPr>
        <p:spPr>
          <a:xfrm>
            <a:off x="71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FA338-FF5B-3C4A-8250-B6E32AD94287}"/>
              </a:ext>
            </a:extLst>
          </p:cNvPr>
          <p:cNvSpPr txBox="1"/>
          <p:nvPr/>
        </p:nvSpPr>
        <p:spPr>
          <a:xfrm>
            <a:off x="71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작업지시서·검사문서·이미지·공급업체·부품·일정 데이터 통합
•  각 자산에 대한 360° 시야 제공
•  자산 위험 원인과 영향받는 운영, 필요 조치 파악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212133-DAAC-1B4C-87FA-98A96E254DDE}"/>
              </a:ext>
            </a:extLst>
          </p:cNvPr>
          <p:cNvSpPr txBox="1"/>
          <p:nvPr/>
        </p:nvSpPr>
        <p:spPr>
          <a:xfrm>
            <a:off x="71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AB47E-9757-3E4F-BC90-E331E2300098}"/>
              </a:ext>
            </a:extLst>
          </p:cNvPr>
          <p:cNvSpPr txBox="1"/>
          <p:nvPr/>
        </p:nvSpPr>
        <p:spPr>
          <a:xfrm>
            <a:off x="71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위험 자산과 근본 원인이 연결된 통합 자산 그래프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393FCF-858E-AD4B-9F94-C7BDDF2AFA8C}"/>
              </a:ext>
            </a:extLst>
          </p:cNvPr>
          <p:cNvSpPr/>
          <p:nvPr/>
        </p:nvSpPr>
        <p:spPr>
          <a:xfrm>
            <a:off x="431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B8F692-BC64-FC48-89F9-866871FE9613}"/>
              </a:ext>
            </a:extLst>
          </p:cNvPr>
          <p:cNvSpPr/>
          <p:nvPr/>
        </p:nvSpPr>
        <p:spPr>
          <a:xfrm>
            <a:off x="431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0BC93EA-69F1-444C-8053-577FABC94352}"/>
              </a:ext>
            </a:extLst>
          </p:cNvPr>
          <p:cNvSpPr/>
          <p:nvPr/>
        </p:nvSpPr>
        <p:spPr>
          <a:xfrm>
            <a:off x="449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416BD6-1C42-ED47-8A3F-DF1B3FF9B61F}"/>
              </a:ext>
            </a:extLst>
          </p:cNvPr>
          <p:cNvSpPr txBox="1"/>
          <p:nvPr/>
        </p:nvSpPr>
        <p:spPr>
          <a:xfrm>
            <a:off x="497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커넥티드 내비게이션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367AE8-27B1-5042-B3DC-D07BC9B65AB2}"/>
              </a:ext>
            </a:extLst>
          </p:cNvPr>
          <p:cNvSpPr txBox="1"/>
          <p:nvPr/>
        </p:nvSpPr>
        <p:spPr>
          <a:xfrm>
            <a:off x="497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Connected Navigation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C4BB3E-19A9-8C48-8458-8E59F16AE739}"/>
              </a:ext>
            </a:extLst>
          </p:cNvPr>
          <p:cNvSpPr txBox="1"/>
          <p:nvPr/>
        </p:nvSpPr>
        <p:spPr>
          <a:xfrm>
            <a:off x="452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5AF20D-0B9D-F74A-9764-48D14D70460C}"/>
              </a:ext>
            </a:extLst>
          </p:cNvPr>
          <p:cNvSpPr txBox="1"/>
          <p:nvPr/>
        </p:nvSpPr>
        <p:spPr>
          <a:xfrm>
            <a:off x="452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연결된 데이터를 탐색해 단일 통합 보기에서 누락·위험·근본원인을 파악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FDC5FC-A174-3244-97AF-20FD49CAF355}"/>
              </a:ext>
            </a:extLst>
          </p:cNvPr>
          <p:cNvSpPr txBox="1"/>
          <p:nvPr/>
        </p:nvSpPr>
        <p:spPr>
          <a:xfrm>
            <a:off x="452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F43624-3CD4-564B-B14C-62E05F89AB9E}"/>
              </a:ext>
            </a:extLst>
          </p:cNvPr>
          <p:cNvSpPr txBox="1"/>
          <p:nvPr/>
        </p:nvSpPr>
        <p:spPr>
          <a:xfrm>
            <a:off x="452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작업지시서·누락된 검사기록·관련 이미지 탐색
•  단일 통합 보기에서 데이터 연결 탐색
•  누락 사항과 위험 요소 식별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569C0C-E8DD-5E4D-ACD0-487DA33BE911}"/>
              </a:ext>
            </a:extLst>
          </p:cNvPr>
          <p:cNvSpPr txBox="1"/>
          <p:nvPr/>
        </p:nvSpPr>
        <p:spPr>
          <a:xfrm>
            <a:off x="452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56CF18-1527-1848-85D2-EA8AB12562CD}"/>
              </a:ext>
            </a:extLst>
          </p:cNvPr>
          <p:cNvSpPr txBox="1"/>
          <p:nvPr/>
        </p:nvSpPr>
        <p:spPr>
          <a:xfrm>
            <a:off x="452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근본 원인까지 연결된 통합 데이터 탐색 경로</a:t>
            </a:r>
            <a:endParaRPr lang="ko-KR" altLang="en-US" sz="1200">
              <a:solidFill>
                <a:srgbClr val="1F2A37"/>
              </a:solidFill>
              <a:latin typeface="맑은 고딕"/>
              <a:ea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D0CF6F3-1BA7-B440-998D-BFFA068F184A}"/>
              </a:ext>
            </a:extLst>
          </p:cNvPr>
          <p:cNvSpPr/>
          <p:nvPr/>
        </p:nvSpPr>
        <p:spPr>
          <a:xfrm>
            <a:off x="812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3AC2C20-9C4D-404D-B110-2CEA6FE2187F}"/>
              </a:ext>
            </a:extLst>
          </p:cNvPr>
          <p:cNvSpPr/>
          <p:nvPr/>
        </p:nvSpPr>
        <p:spPr>
          <a:xfrm>
            <a:off x="812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4F99B9B-AE94-7240-87AC-70B2955FFE08}"/>
              </a:ext>
            </a:extLst>
          </p:cNvPr>
          <p:cNvSpPr/>
          <p:nvPr/>
        </p:nvSpPr>
        <p:spPr>
          <a:xfrm>
            <a:off x="830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5ED692-A754-344F-91D9-6B6BE2997A55}"/>
              </a:ext>
            </a:extLst>
          </p:cNvPr>
          <p:cNvSpPr txBox="1"/>
          <p:nvPr/>
        </p:nvSpPr>
        <p:spPr>
          <a:xfrm>
            <a:off x="878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컴플라이언스 · 상업 리스크 탐지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A5259D-CDB8-F14C-8927-244605B9F0A3}"/>
              </a:ext>
            </a:extLst>
          </p:cNvPr>
          <p:cNvSpPr txBox="1"/>
          <p:nvPr/>
        </p:nvSpPr>
        <p:spPr>
          <a:xfrm>
            <a:off x="878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Compliance &amp; Risk Detection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E63359-C938-A848-9C03-ABE0ABE86FE7}"/>
              </a:ext>
            </a:extLst>
          </p:cNvPr>
          <p:cNvSpPr txBox="1"/>
          <p:nvPr/>
        </p:nvSpPr>
        <p:spPr>
          <a:xfrm>
            <a:off x="833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EC1FFF-B113-FF4F-A29E-5AF4AA464E64}"/>
              </a:ext>
            </a:extLst>
          </p:cNvPr>
          <p:cNvSpPr txBox="1"/>
          <p:nvPr/>
        </p:nvSpPr>
        <p:spPr>
          <a:xfrm>
            <a:off x="833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필수 서류가 누락된 자산과 구매 주문을 식별해 규정·상업 리스크를 사전 파악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50716D-20E5-6444-8B06-A4BF74D88952}"/>
              </a:ext>
            </a:extLst>
          </p:cNvPr>
          <p:cNvSpPr txBox="1"/>
          <p:nvPr/>
        </p:nvSpPr>
        <p:spPr>
          <a:xfrm>
            <a:off x="833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E2AA44-253D-904F-B7F2-751C791BB5B8}"/>
              </a:ext>
            </a:extLst>
          </p:cNvPr>
          <p:cNvSpPr txBox="1"/>
          <p:nvPr/>
        </p:nvSpPr>
        <p:spPr>
          <a:xfrm>
            <a:off x="833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계측 장비 품목·구매 주문의 서류 누락 식별
•  상업적·일정·규정 준수 리스크 사전 파악
•  예상치 못한 비용 발생 방지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1C31B2-C1A2-974D-A1D2-6CD601DE5972}"/>
              </a:ext>
            </a:extLst>
          </p:cNvPr>
          <p:cNvSpPr txBox="1"/>
          <p:nvPr/>
        </p:nvSpPr>
        <p:spPr>
          <a:xfrm>
            <a:off x="833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EC22AD-26AB-684D-98FD-6E65CAF37817}"/>
              </a:ext>
            </a:extLst>
          </p:cNvPr>
          <p:cNvSpPr txBox="1"/>
          <p:nvPr/>
        </p:nvSpPr>
        <p:spPr>
          <a:xfrm>
            <a:off x="833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리스크·소요 물자·권장 조치가 통합된 평가 결과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35437C-0CD5-5B44-9576-B0D21A22C7EE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7 — 건설 자산 성능 관리</a:t>
            </a:r>
          </a:p>
        </p:txBody>
      </p:sp>
    </p:spTree>
    <p:extLst>
      <p:ext uri="{BB962C8B-B14F-4D97-AF65-F5344CB8AC3E}">
        <p14:creationId xmlns:p14="http://schemas.microsoft.com/office/powerpoint/2010/main" val="1839666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A8 솔루션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 자산 감지 대시보드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72684" y="1481328"/>
            <a:ext cx="6240780" cy="4718304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52400" dist="38100" dir="5400000" algn="bl" rotWithShape="0">
              <a:srgbClr val="1B2456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48640" y="165506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152704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위험 자산 감지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87452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분석으로 주의가 필요한 고우선순위 자산을 즉시 식별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1810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822960" y="299008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자산 인텔리전스 그래프 시각화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333756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자산·이벤트·문서·작업·리스크·비용을 연결한 그래프로 전체 구조 파악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58114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445312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노드 검색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80060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자연어로 그래프 노드를 검색하고 상세 정보를 즉시 확인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ARTICUL8  |  Use Case 7 — 건설 자산 성능 관리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pic>
        <p:nvPicPr>
          <p:cNvPr id="17" name="Picture 16" descr="slide4render-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836" y="2126623"/>
            <a:ext cx="6094476" cy="34277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파편화된 건설 자산 데이터를 하나의 살아있는 인텔리전스 그래프로 전환합니다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43EDC7-6B64-3341-B9AD-8A561A6FDEE5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68655e05-f342-45ec-8ec7-f5cedb54c2a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638</Words>
  <Application>Microsoft Macintosh PowerPoint</Application>
  <PresentationFormat>와이드스크린</PresentationFormat>
  <Paragraphs>99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신준용</cp:lastModifiedBy>
  <cp:revision>3</cp:revision>
  <dcterms:created xsi:type="dcterms:W3CDTF">2026-07-22T15:42:35Z</dcterms:created>
  <dcterms:modified xsi:type="dcterms:W3CDTF">2026-07-23T00:33:03Z</dcterms:modified>
</cp:coreProperties>
</file>